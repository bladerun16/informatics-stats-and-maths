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0"/>
  </p:notesMasterIdLst>
  <p:sldIdLst>
    <p:sldId id="256" r:id="rId2"/>
    <p:sldId id="257" r:id="rId3"/>
    <p:sldId id="258" r:id="rId4"/>
    <p:sldId id="259" r:id="rId5"/>
    <p:sldId id="260" r:id="rId6"/>
    <p:sldId id="331" r:id="rId7"/>
    <p:sldId id="332" r:id="rId8"/>
    <p:sldId id="333"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329" r:id="rId28"/>
    <p:sldId id="330"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354325-42E2-0CC0-1717-7CA1898B95AF}" v="4" dt="2025-02-11T10:06:00.0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854"/>
    <p:restoredTop sz="82313"/>
  </p:normalViewPr>
  <p:slideViewPr>
    <p:cSldViewPr snapToGrid="0" snapToObjects="1">
      <p:cViewPr varScale="1">
        <p:scale>
          <a:sx n="104" d="100"/>
          <a:sy n="104" d="100"/>
        </p:scale>
        <p:origin x="2432" y="200"/>
      </p:cViewPr>
      <p:guideLst/>
    </p:cSldViewPr>
  </p:slideViewPr>
  <p:notesTextViewPr>
    <p:cViewPr>
      <p:scale>
        <a:sx n="1" d="1"/>
        <a:sy n="1" d="1"/>
      </p:scale>
      <p:origin x="0" y="0"/>
    </p:cViewPr>
  </p:notesTextViewPr>
  <p:notesViewPr>
    <p:cSldViewPr snapToGrid="0" snapToObjects="1">
      <p:cViewPr varScale="1">
        <p:scale>
          <a:sx n="107" d="100"/>
          <a:sy n="107" d="100"/>
        </p:scale>
        <p:origin x="4088" y="16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udio Sartori" userId="d285a647-44b1-4408-9e08-0602e566fa11" providerId="ADAL" clId="{6703F398-FC35-A840-9E77-111316E2F795}"/>
    <pc:docChg chg="modSld">
      <pc:chgData name="Claudio Sartori" userId="d285a647-44b1-4408-9e08-0602e566fa11" providerId="ADAL" clId="{6703F398-FC35-A840-9E77-111316E2F795}" dt="2021-02-17T09:35:36.479" v="1" actId="20577"/>
      <pc:docMkLst>
        <pc:docMk/>
      </pc:docMkLst>
      <pc:sldChg chg="modSp mod">
        <pc:chgData name="Claudio Sartori" userId="d285a647-44b1-4408-9e08-0602e566fa11" providerId="ADAL" clId="{6703F398-FC35-A840-9E77-111316E2F795}" dt="2021-02-17T09:35:36.479" v="1" actId="20577"/>
        <pc:sldMkLst>
          <pc:docMk/>
          <pc:sldMk cId="0" sldId="258"/>
        </pc:sldMkLst>
        <pc:spChg chg="mod">
          <ac:chgData name="Claudio Sartori" userId="d285a647-44b1-4408-9e08-0602e566fa11" providerId="ADAL" clId="{6703F398-FC35-A840-9E77-111316E2F795}" dt="2021-02-17T09:35:36.479" v="1" actId="20577"/>
          <ac:spMkLst>
            <pc:docMk/>
            <pc:sldMk cId="0" sldId="258"/>
            <ac:spMk id="7171" creationId="{00000000-0000-0000-0000-000000000000}"/>
          </ac:spMkLst>
        </pc:spChg>
      </pc:sldChg>
    </pc:docChg>
  </pc:docChgLst>
  <pc:docChgLst>
    <pc:chgData name="Claudio Sartori" userId="d285a647-44b1-4408-9e08-0602e566fa11" providerId="ADAL" clId="{84C9430F-4B69-4849-8281-7ADEBF66AB8D}"/>
    <pc:docChg chg="undo custSel addSld modSld">
      <pc:chgData name="Claudio Sartori" userId="d285a647-44b1-4408-9e08-0602e566fa11" providerId="ADAL" clId="{84C9430F-4B69-4849-8281-7ADEBF66AB8D}" dt="2022-04-05T09:10:43.504" v="569" actId="1076"/>
      <pc:docMkLst>
        <pc:docMk/>
      </pc:docMkLst>
      <pc:sldChg chg="modSp mod">
        <pc:chgData name="Claudio Sartori" userId="d285a647-44b1-4408-9e08-0602e566fa11" providerId="ADAL" clId="{84C9430F-4B69-4849-8281-7ADEBF66AB8D}" dt="2022-03-09T10:51:21.891" v="3" actId="20577"/>
        <pc:sldMkLst>
          <pc:docMk/>
          <pc:sldMk cId="0" sldId="273"/>
        </pc:sldMkLst>
        <pc:spChg chg="mod">
          <ac:chgData name="Claudio Sartori" userId="d285a647-44b1-4408-9e08-0602e566fa11" providerId="ADAL" clId="{84C9430F-4B69-4849-8281-7ADEBF66AB8D}" dt="2022-03-09T10:51:21.891" v="3" actId="20577"/>
          <ac:spMkLst>
            <pc:docMk/>
            <pc:sldMk cId="0" sldId="273"/>
            <ac:spMk id="157" creationId="{00000000-0000-0000-0000-000000000000}"/>
          </ac:spMkLst>
        </pc:spChg>
      </pc:sldChg>
      <pc:sldChg chg="modSp mod">
        <pc:chgData name="Claudio Sartori" userId="d285a647-44b1-4408-9e08-0602e566fa11" providerId="ADAL" clId="{84C9430F-4B69-4849-8281-7ADEBF66AB8D}" dt="2022-04-05T09:06:13.058" v="342" actId="20577"/>
        <pc:sldMkLst>
          <pc:docMk/>
          <pc:sldMk cId="0" sldId="278"/>
        </pc:sldMkLst>
        <pc:spChg chg="mod">
          <ac:chgData name="Claudio Sartori" userId="d285a647-44b1-4408-9e08-0602e566fa11" providerId="ADAL" clId="{84C9430F-4B69-4849-8281-7ADEBF66AB8D}" dt="2022-04-05T09:06:13.058" v="342" actId="20577"/>
          <ac:spMkLst>
            <pc:docMk/>
            <pc:sldMk cId="0" sldId="278"/>
            <ac:spMk id="48131" creationId="{00000000-0000-0000-0000-000000000000}"/>
          </ac:spMkLst>
        </pc:spChg>
      </pc:sldChg>
      <pc:sldChg chg="modSp mod">
        <pc:chgData name="Claudio Sartori" userId="d285a647-44b1-4408-9e08-0602e566fa11" providerId="ADAL" clId="{84C9430F-4B69-4849-8281-7ADEBF66AB8D}" dt="2022-03-09T10:51:26.560" v="7" actId="20577"/>
        <pc:sldMkLst>
          <pc:docMk/>
          <pc:sldMk cId="0" sldId="282"/>
        </pc:sldMkLst>
        <pc:spChg chg="mod">
          <ac:chgData name="Claudio Sartori" userId="d285a647-44b1-4408-9e08-0602e566fa11" providerId="ADAL" clId="{84C9430F-4B69-4849-8281-7ADEBF66AB8D}" dt="2022-03-09T10:51:26.560" v="7" actId="20577"/>
          <ac:spMkLst>
            <pc:docMk/>
            <pc:sldMk cId="0" sldId="282"/>
            <ac:spMk id="56323" creationId="{00000000-0000-0000-0000-000000000000}"/>
          </ac:spMkLst>
        </pc:spChg>
      </pc:sldChg>
      <pc:sldChg chg="modSp mod">
        <pc:chgData name="Claudio Sartori" userId="d285a647-44b1-4408-9e08-0602e566fa11" providerId="ADAL" clId="{84C9430F-4B69-4849-8281-7ADEBF66AB8D}" dt="2022-03-09T10:51:54.122" v="13" actId="20577"/>
        <pc:sldMkLst>
          <pc:docMk/>
          <pc:sldMk cId="0" sldId="297"/>
        </pc:sldMkLst>
        <pc:spChg chg="mod">
          <ac:chgData name="Claudio Sartori" userId="d285a647-44b1-4408-9e08-0602e566fa11" providerId="ADAL" clId="{84C9430F-4B69-4849-8281-7ADEBF66AB8D}" dt="2022-03-09T10:51:54.122" v="13" actId="20577"/>
          <ac:spMkLst>
            <pc:docMk/>
            <pc:sldMk cId="0" sldId="297"/>
            <ac:spMk id="87043" creationId="{00000000-0000-0000-0000-000000000000}"/>
          </ac:spMkLst>
        </pc:spChg>
      </pc:sldChg>
      <pc:sldChg chg="modSp mod">
        <pc:chgData name="Claudio Sartori" userId="d285a647-44b1-4408-9e08-0602e566fa11" providerId="ADAL" clId="{84C9430F-4B69-4849-8281-7ADEBF66AB8D}" dt="2022-03-09T10:52:34.680" v="25" actId="20577"/>
        <pc:sldMkLst>
          <pc:docMk/>
          <pc:sldMk cId="0" sldId="302"/>
        </pc:sldMkLst>
        <pc:spChg chg="mod">
          <ac:chgData name="Claudio Sartori" userId="d285a647-44b1-4408-9e08-0602e566fa11" providerId="ADAL" clId="{84C9430F-4B69-4849-8281-7ADEBF66AB8D}" dt="2022-03-09T10:52:34.680" v="25" actId="20577"/>
          <ac:spMkLst>
            <pc:docMk/>
            <pc:sldMk cId="0" sldId="302"/>
            <ac:spMk id="97283" creationId="{00000000-0000-0000-0000-000000000000}"/>
          </ac:spMkLst>
        </pc:spChg>
      </pc:sldChg>
      <pc:sldChg chg="modSp mod">
        <pc:chgData name="Claudio Sartori" userId="d285a647-44b1-4408-9e08-0602e566fa11" providerId="ADAL" clId="{84C9430F-4B69-4849-8281-7ADEBF66AB8D}" dt="2022-03-09T10:53:14.481" v="36" actId="6549"/>
        <pc:sldMkLst>
          <pc:docMk/>
          <pc:sldMk cId="0" sldId="303"/>
        </pc:sldMkLst>
        <pc:spChg chg="mod">
          <ac:chgData name="Claudio Sartori" userId="d285a647-44b1-4408-9e08-0602e566fa11" providerId="ADAL" clId="{84C9430F-4B69-4849-8281-7ADEBF66AB8D}" dt="2022-03-09T10:53:14.481" v="36" actId="6549"/>
          <ac:spMkLst>
            <pc:docMk/>
            <pc:sldMk cId="0" sldId="303"/>
            <ac:spMk id="99331" creationId="{00000000-0000-0000-0000-000000000000}"/>
          </ac:spMkLst>
        </pc:spChg>
      </pc:sldChg>
      <pc:sldChg chg="modSp mod">
        <pc:chgData name="Claudio Sartori" userId="d285a647-44b1-4408-9e08-0602e566fa11" providerId="ADAL" clId="{84C9430F-4B69-4849-8281-7ADEBF66AB8D}" dt="2022-03-09T10:52:24.896" v="21" actId="20577"/>
        <pc:sldMkLst>
          <pc:docMk/>
          <pc:sldMk cId="0" sldId="313"/>
        </pc:sldMkLst>
        <pc:spChg chg="mod">
          <ac:chgData name="Claudio Sartori" userId="d285a647-44b1-4408-9e08-0602e566fa11" providerId="ADAL" clId="{84C9430F-4B69-4849-8281-7ADEBF66AB8D}" dt="2022-03-09T10:52:24.896" v="21" actId="20577"/>
          <ac:spMkLst>
            <pc:docMk/>
            <pc:sldMk cId="0" sldId="313"/>
            <ac:spMk id="119811" creationId="{00000000-0000-0000-0000-000000000000}"/>
          </ac:spMkLst>
        </pc:spChg>
      </pc:sldChg>
      <pc:sldChg chg="modSp new mod">
        <pc:chgData name="Claudio Sartori" userId="d285a647-44b1-4408-9e08-0602e566fa11" providerId="ADAL" clId="{84C9430F-4B69-4849-8281-7ADEBF66AB8D}" dt="2022-04-05T09:08:20.886" v="540" actId="6549"/>
        <pc:sldMkLst>
          <pc:docMk/>
          <pc:sldMk cId="3087814590" sldId="329"/>
        </pc:sldMkLst>
        <pc:spChg chg="mod">
          <ac:chgData name="Claudio Sartori" userId="d285a647-44b1-4408-9e08-0602e566fa11" providerId="ADAL" clId="{84C9430F-4B69-4849-8281-7ADEBF66AB8D}" dt="2022-04-05T09:06:36.278" v="377" actId="113"/>
          <ac:spMkLst>
            <pc:docMk/>
            <pc:sldMk cId="3087814590" sldId="329"/>
            <ac:spMk id="2" creationId="{6C686CAE-B977-CA8D-7EDE-7963F8B68284}"/>
          </ac:spMkLst>
        </pc:spChg>
        <pc:spChg chg="mod">
          <ac:chgData name="Claudio Sartori" userId="d285a647-44b1-4408-9e08-0602e566fa11" providerId="ADAL" clId="{84C9430F-4B69-4849-8281-7ADEBF66AB8D}" dt="2022-04-05T09:08:20.886" v="540" actId="6549"/>
          <ac:spMkLst>
            <pc:docMk/>
            <pc:sldMk cId="3087814590" sldId="329"/>
            <ac:spMk id="3" creationId="{BA637EA7-AB52-A2C7-B1CE-2BC438927EA9}"/>
          </ac:spMkLst>
        </pc:spChg>
      </pc:sldChg>
      <pc:sldChg chg="addSp delSp modSp add mod modClrScheme chgLayout">
        <pc:chgData name="Claudio Sartori" userId="d285a647-44b1-4408-9e08-0602e566fa11" providerId="ADAL" clId="{84C9430F-4B69-4849-8281-7ADEBF66AB8D}" dt="2022-04-05T09:10:43.504" v="569" actId="1076"/>
        <pc:sldMkLst>
          <pc:docMk/>
          <pc:sldMk cId="961754733" sldId="330"/>
        </pc:sldMkLst>
        <pc:spChg chg="mod ord">
          <ac:chgData name="Claudio Sartori" userId="d285a647-44b1-4408-9e08-0602e566fa11" providerId="ADAL" clId="{84C9430F-4B69-4849-8281-7ADEBF66AB8D}" dt="2022-04-05T09:08:55.488" v="543" actId="700"/>
          <ac:spMkLst>
            <pc:docMk/>
            <pc:sldMk cId="961754733" sldId="330"/>
            <ac:spMk id="2" creationId="{6C686CAE-B977-CA8D-7EDE-7963F8B68284}"/>
          </ac:spMkLst>
        </pc:spChg>
        <pc:spChg chg="del mod">
          <ac:chgData name="Claudio Sartori" userId="d285a647-44b1-4408-9e08-0602e566fa11" providerId="ADAL" clId="{84C9430F-4B69-4849-8281-7ADEBF66AB8D}" dt="2022-04-05T09:08:55.488" v="543" actId="700"/>
          <ac:spMkLst>
            <pc:docMk/>
            <pc:sldMk cId="961754733" sldId="330"/>
            <ac:spMk id="3" creationId="{BA637EA7-AB52-A2C7-B1CE-2BC438927EA9}"/>
          </ac:spMkLst>
        </pc:spChg>
        <pc:spChg chg="mod ord">
          <ac:chgData name="Claudio Sartori" userId="d285a647-44b1-4408-9e08-0602e566fa11" providerId="ADAL" clId="{84C9430F-4B69-4849-8281-7ADEBF66AB8D}" dt="2022-04-05T09:08:55.488" v="543" actId="700"/>
          <ac:spMkLst>
            <pc:docMk/>
            <pc:sldMk cId="961754733" sldId="330"/>
            <ac:spMk id="4" creationId="{8B66FCE7-F2ED-932C-9633-DA82A2F603C0}"/>
          </ac:spMkLst>
        </pc:spChg>
        <pc:spChg chg="mod ord">
          <ac:chgData name="Claudio Sartori" userId="d285a647-44b1-4408-9e08-0602e566fa11" providerId="ADAL" clId="{84C9430F-4B69-4849-8281-7ADEBF66AB8D}" dt="2022-04-05T09:08:55.488" v="543" actId="700"/>
          <ac:spMkLst>
            <pc:docMk/>
            <pc:sldMk cId="961754733" sldId="330"/>
            <ac:spMk id="5" creationId="{FD7C3F60-483A-20AB-5EC2-312C38868148}"/>
          </ac:spMkLst>
        </pc:spChg>
        <pc:spChg chg="add del">
          <ac:chgData name="Claudio Sartori" userId="d285a647-44b1-4408-9e08-0602e566fa11" providerId="ADAL" clId="{84C9430F-4B69-4849-8281-7ADEBF66AB8D}" dt="2022-04-05T09:09:10.210" v="545" actId="22"/>
          <ac:spMkLst>
            <pc:docMk/>
            <pc:sldMk cId="961754733" sldId="330"/>
            <ac:spMk id="7" creationId="{EF5EE1FC-46F1-524D-1B26-A0809985262F}"/>
          </ac:spMkLst>
        </pc:spChg>
        <pc:spChg chg="add mod">
          <ac:chgData name="Claudio Sartori" userId="d285a647-44b1-4408-9e08-0602e566fa11" providerId="ADAL" clId="{84C9430F-4B69-4849-8281-7ADEBF66AB8D}" dt="2022-04-05T09:10:43.504" v="569" actId="1076"/>
          <ac:spMkLst>
            <pc:docMk/>
            <pc:sldMk cId="961754733" sldId="330"/>
            <ac:spMk id="10" creationId="{63DE8AAF-553E-1076-B1B2-EDB002D17C14}"/>
          </ac:spMkLst>
        </pc:spChg>
        <pc:picChg chg="add mod">
          <ac:chgData name="Claudio Sartori" userId="d285a647-44b1-4408-9e08-0602e566fa11" providerId="ADAL" clId="{84C9430F-4B69-4849-8281-7ADEBF66AB8D}" dt="2022-04-05T09:10:02.511" v="548" actId="1076"/>
          <ac:picMkLst>
            <pc:docMk/>
            <pc:sldMk cId="961754733" sldId="330"/>
            <ac:picMk id="9" creationId="{1068CFA4-3CEF-5881-8D6A-BB6A1B15ED27}"/>
          </ac:picMkLst>
        </pc:picChg>
      </pc:sldChg>
    </pc:docChg>
  </pc:docChgLst>
  <pc:docChgLst>
    <pc:chgData name="Claudio Sartori" userId="S::claudio.sartori@unibo.it::d285a647-44b1-4408-9e08-0602e566fa11" providerId="AD" clId="Web-{DB354325-42E2-0CC0-1717-7CA1898B95AF}"/>
    <pc:docChg chg="modSld">
      <pc:chgData name="Claudio Sartori" userId="S::claudio.sartori@unibo.it::d285a647-44b1-4408-9e08-0602e566fa11" providerId="AD" clId="Web-{DB354325-42E2-0CC0-1717-7CA1898B95AF}" dt="2025-02-11T10:05:57.882" v="2" actId="20577"/>
      <pc:docMkLst>
        <pc:docMk/>
      </pc:docMkLst>
      <pc:sldChg chg="modSp">
        <pc:chgData name="Claudio Sartori" userId="S::claudio.sartori@unibo.it::d285a647-44b1-4408-9e08-0602e566fa11" providerId="AD" clId="Web-{DB354325-42E2-0CC0-1717-7CA1898B95AF}" dt="2025-02-11T10:05:57.882" v="2" actId="20577"/>
        <pc:sldMkLst>
          <pc:docMk/>
          <pc:sldMk cId="38198425" sldId="256"/>
        </pc:sldMkLst>
        <pc:spChg chg="mod">
          <ac:chgData name="Claudio Sartori" userId="S::claudio.sartori@unibo.it::d285a647-44b1-4408-9e08-0602e566fa11" providerId="AD" clId="Web-{DB354325-42E2-0CC0-1717-7CA1898B95AF}" dt="2025-02-11T10:05:57.882" v="2" actId="20577"/>
          <ac:spMkLst>
            <pc:docMk/>
            <pc:sldMk cId="38198425" sldId="256"/>
            <ac:spMk id="307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C39E32-A57E-BE41-865A-B84418AC8ECD}" type="datetimeFigureOut">
              <a:t>2/11/2025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DF862-A445-3043-ACC2-C5B17166A0A6}" type="slidenum">
              <a:t>‹#›</a:t>
            </a:fld>
            <a:endParaRPr lang="it-IT"/>
          </a:p>
        </p:txBody>
      </p:sp>
    </p:spTree>
    <p:extLst>
      <p:ext uri="{BB962C8B-B14F-4D97-AF65-F5344CB8AC3E}">
        <p14:creationId xmlns:p14="http://schemas.microsoft.com/office/powerpoint/2010/main" val="1361595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7" name="Shape 5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eaLnBrk="1" hangingPunct="1">
              <a:spcBef>
                <a:spcPct val="0"/>
              </a:spcBef>
            </a:pPr>
            <a:endParaRPr lang="it-IT" altLang="it-IT"/>
          </a:p>
        </p:txBody>
      </p:sp>
      <p:sp>
        <p:nvSpPr>
          <p:cNvPr id="4098" name="Shape 53"/>
          <p:cNvSpPr>
            <a:spLocks noGrp="1" noRot="1" noChangeAspect="1" noTextEdit="1"/>
          </p:cNvSpPr>
          <p:nvPr>
            <p:ph type="sldImg" idx="2"/>
          </p:nvPr>
        </p:nvSpPr>
        <p:spPr>
          <a:noFill/>
        </p:spPr>
      </p:sp>
    </p:spTree>
    <p:extLst>
      <p:ext uri="{BB962C8B-B14F-4D97-AF65-F5344CB8AC3E}">
        <p14:creationId xmlns:p14="http://schemas.microsoft.com/office/powerpoint/2010/main" val="2050802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Shape 6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6147" name="Shape 63"/>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849900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194" name="Shape 68"/>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8195" name="Shape 69"/>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3601521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42" name="Shape 74"/>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0243" name="Shape 75"/>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13157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2290" name="Shape 80"/>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lgn="l"/>
            <a:r>
              <a:rPr lang="it-IT" b="0" i="0">
                <a:effectLst/>
                <a:latin typeface="Söhne"/>
              </a:rPr>
              <a:t>Broadcast and multicast are both methods of transmitting data across a network, but they are used in different ways.</a:t>
            </a:r>
          </a:p>
          <a:p>
            <a:pPr algn="l"/>
            <a:r>
              <a:rPr lang="it-IT" b="0" i="0">
                <a:effectLst/>
                <a:latin typeface="Söhne"/>
              </a:rPr>
              <a:t>Broadcasting involves sending a message to all devices on a network simultaneously. The message is sent to a broadcast address, which is a special address that is reserved for this purpose. All devices on the network will receive the message, regardless of whether they are the intended recipient or not. Broadcasting can be useful for tasks such as network discovery or sending messages to all devices on the network.</a:t>
            </a:r>
          </a:p>
          <a:p>
            <a:pPr algn="l"/>
            <a:r>
              <a:rPr lang="it-IT" b="0" i="0">
                <a:effectLst/>
                <a:latin typeface="Söhne"/>
              </a:rPr>
              <a:t>Multicasting, on the other hand, involves sending a message to a specific group of devices on a network. The message is sent to a multicast address, which is a special address that represents a group of devices. Only devices that have joined the multicast group will receive the message. Multicasting can be useful for tasks such as streaming multimedia content or sending updates to a group of devices.</a:t>
            </a:r>
          </a:p>
          <a:p>
            <a:pPr algn="l"/>
            <a:r>
              <a:rPr lang="it-IT" b="0" i="0">
                <a:effectLst/>
                <a:latin typeface="Söhne"/>
              </a:rPr>
              <a:t>The main difference between broadcast and multicast is that broadcast sends a message to all devices on the network, while multicast sends a message to a specific group of devices. As a result, broadcast can generate more network traffic, while multicast is more efficient and targeted.</a:t>
            </a:r>
          </a:p>
          <a:p>
            <a:br>
              <a:rPr lang="it-IT"/>
            </a:br>
            <a:endParaRPr lang="it-IT" altLang="it-IT"/>
          </a:p>
        </p:txBody>
      </p:sp>
      <p:sp>
        <p:nvSpPr>
          <p:cNvPr id="12291" name="Shape 81"/>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318150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4338" name="Shape 86"/>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4339" name="Shape 87"/>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715596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6386" name="Shape 9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6387" name="Shape 93"/>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1211119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8434" name="Shape 98"/>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8435" name="Shape 99"/>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5070248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0482" name="Shape 104"/>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20483" name="Shape 105"/>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351912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2530" name="Shape 110"/>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22531" name="Shape 111"/>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4218774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4578" name="Shape 116"/>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24579" name="Shape 117"/>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650245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6626" name="Shape 12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26627" name="Shape 123"/>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9261452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8674" name="Shape 128"/>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28675" name="Shape 129"/>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7617096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722" name="Shape 134"/>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30723" name="Shape 135"/>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904571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770" name="Shape 140"/>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32771" name="Shape 141"/>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1047492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Shape 146"/>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34819" name="Shape 147"/>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3768311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6866" name="Shape 152"/>
          <p:cNvSpPr>
            <a:spLocks noGrp="1" noRot="1" noChangeAspect="1" noTextEdit="1"/>
          </p:cNvSpPr>
          <p:nvPr>
            <p:ph type="sldImg" idx="2"/>
          </p:nvPr>
        </p:nvSpPr>
        <p:spPr>
          <a:noFill/>
          <a:ln w="9525" cap="flat">
            <a:round/>
          </a:ln>
        </p:spPr>
      </p:sp>
      <p:sp>
        <p:nvSpPr>
          <p:cNvPr id="36867" name="Shape 153"/>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54" name="Shape 154"/>
          <p:cNvSpPr>
            <a:spLocks noGrp="1"/>
          </p:cNvSpPr>
          <p:nvPr>
            <p:ph type="sldNum" sz="quarter" idx="12"/>
          </p:nvPr>
        </p:nvSpPr>
        <p:spPr>
          <a:xfrm>
            <a:off x="3884612" y="8685211"/>
            <a:ext cx="2971799" cy="457200"/>
          </a:xfrm>
        </p:spPr>
        <p:txBody>
          <a:bodyPr/>
          <a:lstStyle/>
          <a:p>
            <a:pPr indent="0" fontAlgn="auto">
              <a:spcBef>
                <a:spcPts val="0"/>
              </a:spcBef>
              <a:spcAft>
                <a:spcPts val="0"/>
              </a:spcAft>
              <a:buFont typeface="Arial"/>
              <a:buNone/>
              <a:defRPr/>
            </a:pPr>
            <a:endParaRPr kern="0">
              <a:latin typeface="Arial"/>
              <a:ea typeface="Arial"/>
              <a:cs typeface="Arial"/>
              <a:sym typeface="Arial"/>
              <a:rtl val="0"/>
            </a:endParaRPr>
          </a:p>
          <a:p>
            <a:pPr marL="0" lvl="1" indent="0" fontAlgn="auto">
              <a:spcBef>
                <a:spcPts val="0"/>
              </a:spcBef>
              <a:spcAft>
                <a:spcPts val="0"/>
              </a:spcAft>
              <a:buFont typeface="Arial"/>
              <a:buNone/>
              <a:defRPr/>
            </a:pPr>
            <a:endParaRPr kern="0">
              <a:latin typeface="Arial"/>
              <a:ea typeface="Arial"/>
              <a:cs typeface="Arial"/>
              <a:sym typeface="Arial"/>
              <a:rtl val="0"/>
            </a:endParaRPr>
          </a:p>
          <a:p>
            <a:pPr marL="0" lvl="2" indent="0" fontAlgn="auto">
              <a:spcBef>
                <a:spcPts val="0"/>
              </a:spcBef>
              <a:spcAft>
                <a:spcPts val="0"/>
              </a:spcAft>
              <a:buFont typeface="Arial"/>
              <a:buNone/>
              <a:defRPr/>
            </a:pPr>
            <a:endParaRPr kern="0">
              <a:latin typeface="Arial"/>
              <a:ea typeface="Arial"/>
              <a:cs typeface="Arial"/>
              <a:sym typeface="Arial"/>
              <a:rtl val="0"/>
            </a:endParaRPr>
          </a:p>
          <a:p>
            <a:pPr marL="0" lvl="3" indent="0" fontAlgn="auto">
              <a:spcBef>
                <a:spcPts val="0"/>
              </a:spcBef>
              <a:spcAft>
                <a:spcPts val="0"/>
              </a:spcAft>
              <a:buFont typeface="Arial"/>
              <a:buNone/>
              <a:defRPr/>
            </a:pPr>
            <a:endParaRPr kern="0">
              <a:latin typeface="Arial"/>
              <a:ea typeface="Arial"/>
              <a:cs typeface="Arial"/>
              <a:sym typeface="Arial"/>
              <a:rtl val="0"/>
            </a:endParaRPr>
          </a:p>
          <a:p>
            <a:pPr marL="0" lvl="4" indent="0" fontAlgn="auto">
              <a:spcBef>
                <a:spcPts val="0"/>
              </a:spcBef>
              <a:spcAft>
                <a:spcPts val="0"/>
              </a:spcAft>
              <a:buFont typeface="Arial"/>
              <a:buNone/>
              <a:defRPr/>
            </a:pPr>
            <a:endParaRPr kern="0">
              <a:latin typeface="Arial"/>
              <a:ea typeface="Arial"/>
              <a:cs typeface="Arial"/>
              <a:sym typeface="Arial"/>
              <a:rtl val="0"/>
            </a:endParaRPr>
          </a:p>
          <a:p>
            <a:pPr marL="0" lvl="5">
              <a:buClr>
                <a:srgbClr val="000000"/>
              </a:buClr>
              <a:buFont typeface="Arial"/>
              <a:buNone/>
              <a:defRPr/>
            </a:pPr>
            <a:endParaRPr kern="0">
              <a:latin typeface="Arial"/>
              <a:ea typeface="Arial"/>
              <a:cs typeface="Arial"/>
              <a:sym typeface="Arial"/>
              <a:rtl val="0"/>
            </a:endParaRPr>
          </a:p>
          <a:p>
            <a:pPr marL="0" lvl="6">
              <a:buClr>
                <a:srgbClr val="000000"/>
              </a:buClr>
              <a:buFont typeface="Arial"/>
              <a:buNone/>
              <a:defRPr/>
            </a:pPr>
            <a:endParaRPr kern="0">
              <a:latin typeface="Arial"/>
              <a:ea typeface="Arial"/>
              <a:cs typeface="Arial"/>
              <a:sym typeface="Arial"/>
              <a:rtl val="0"/>
            </a:endParaRPr>
          </a:p>
          <a:p>
            <a:pPr marL="0" lvl="7">
              <a:buClr>
                <a:srgbClr val="000000"/>
              </a:buClr>
              <a:buFont typeface="Arial"/>
              <a:buNone/>
              <a:defRPr/>
            </a:pPr>
            <a:endParaRPr kern="0">
              <a:latin typeface="Arial"/>
              <a:ea typeface="Arial"/>
              <a:cs typeface="Arial"/>
              <a:sym typeface="Arial"/>
              <a:rtl val="0"/>
            </a:endParaRPr>
          </a:p>
          <a:p>
            <a:pPr marL="0" lvl="8">
              <a:buClr>
                <a:srgbClr val="000000"/>
              </a:buClr>
              <a:buFont typeface="Arial"/>
              <a:buNone/>
              <a:defRPr/>
            </a:pPr>
            <a:endParaRPr kern="0">
              <a:latin typeface="Arial"/>
              <a:ea typeface="Arial"/>
              <a:cs typeface="Arial"/>
              <a:sym typeface="Arial"/>
              <a:rtl val="0"/>
            </a:endParaRPr>
          </a:p>
        </p:txBody>
      </p:sp>
    </p:spTree>
    <p:extLst>
      <p:ext uri="{BB962C8B-B14F-4D97-AF65-F5344CB8AC3E}">
        <p14:creationId xmlns:p14="http://schemas.microsoft.com/office/powerpoint/2010/main" val="4710899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8914" name="Shape 159"/>
          <p:cNvSpPr>
            <a:spLocks noGrp="1" noRot="1" noChangeAspect="1" noTextEdit="1"/>
          </p:cNvSpPr>
          <p:nvPr>
            <p:ph type="sldImg" idx="2"/>
          </p:nvPr>
        </p:nvSpPr>
        <p:spPr>
          <a:noFill/>
          <a:ln w="9525" cap="flat">
            <a:round/>
          </a:ln>
        </p:spPr>
      </p:sp>
      <p:sp>
        <p:nvSpPr>
          <p:cNvPr id="38915" name="Shape 160"/>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61" name="Shape 161"/>
          <p:cNvSpPr>
            <a:spLocks noGrp="1"/>
          </p:cNvSpPr>
          <p:nvPr>
            <p:ph type="sldNum" sz="quarter" idx="12"/>
          </p:nvPr>
        </p:nvSpPr>
        <p:spPr>
          <a:xfrm>
            <a:off x="3884612" y="8685211"/>
            <a:ext cx="2971799" cy="457200"/>
          </a:xfrm>
        </p:spPr>
        <p:txBody>
          <a:bodyPr/>
          <a:lstStyle/>
          <a:p>
            <a:pPr indent="0" fontAlgn="auto">
              <a:spcBef>
                <a:spcPts val="0"/>
              </a:spcBef>
              <a:spcAft>
                <a:spcPts val="0"/>
              </a:spcAft>
              <a:buFont typeface="Arial"/>
              <a:buNone/>
              <a:defRPr/>
            </a:pPr>
            <a:endParaRPr kern="0">
              <a:latin typeface="Arial"/>
              <a:ea typeface="Arial"/>
              <a:cs typeface="Arial"/>
              <a:sym typeface="Arial"/>
              <a:rtl val="0"/>
            </a:endParaRPr>
          </a:p>
          <a:p>
            <a:pPr marL="0" lvl="1" indent="0" fontAlgn="auto">
              <a:spcBef>
                <a:spcPts val="0"/>
              </a:spcBef>
              <a:spcAft>
                <a:spcPts val="0"/>
              </a:spcAft>
              <a:buFont typeface="Arial"/>
              <a:buNone/>
              <a:defRPr/>
            </a:pPr>
            <a:endParaRPr kern="0">
              <a:latin typeface="Arial"/>
              <a:ea typeface="Arial"/>
              <a:cs typeface="Arial"/>
              <a:sym typeface="Arial"/>
              <a:rtl val="0"/>
            </a:endParaRPr>
          </a:p>
          <a:p>
            <a:pPr marL="0" lvl="2" indent="0" fontAlgn="auto">
              <a:spcBef>
                <a:spcPts val="0"/>
              </a:spcBef>
              <a:spcAft>
                <a:spcPts val="0"/>
              </a:spcAft>
              <a:buFont typeface="Arial"/>
              <a:buNone/>
              <a:defRPr/>
            </a:pPr>
            <a:endParaRPr kern="0">
              <a:latin typeface="Arial"/>
              <a:ea typeface="Arial"/>
              <a:cs typeface="Arial"/>
              <a:sym typeface="Arial"/>
              <a:rtl val="0"/>
            </a:endParaRPr>
          </a:p>
          <a:p>
            <a:pPr marL="0" lvl="3" indent="0" fontAlgn="auto">
              <a:spcBef>
                <a:spcPts val="0"/>
              </a:spcBef>
              <a:spcAft>
                <a:spcPts val="0"/>
              </a:spcAft>
              <a:buFont typeface="Arial"/>
              <a:buNone/>
              <a:defRPr/>
            </a:pPr>
            <a:endParaRPr kern="0">
              <a:latin typeface="Arial"/>
              <a:ea typeface="Arial"/>
              <a:cs typeface="Arial"/>
              <a:sym typeface="Arial"/>
              <a:rtl val="0"/>
            </a:endParaRPr>
          </a:p>
          <a:p>
            <a:pPr marL="0" lvl="4" indent="0" fontAlgn="auto">
              <a:spcBef>
                <a:spcPts val="0"/>
              </a:spcBef>
              <a:spcAft>
                <a:spcPts val="0"/>
              </a:spcAft>
              <a:buFont typeface="Arial"/>
              <a:buNone/>
              <a:defRPr/>
            </a:pPr>
            <a:endParaRPr kern="0">
              <a:latin typeface="Arial"/>
              <a:ea typeface="Arial"/>
              <a:cs typeface="Arial"/>
              <a:sym typeface="Arial"/>
              <a:rtl val="0"/>
            </a:endParaRPr>
          </a:p>
          <a:p>
            <a:pPr marL="0" lvl="5">
              <a:buClr>
                <a:srgbClr val="000000"/>
              </a:buClr>
              <a:buFont typeface="Arial"/>
              <a:buNone/>
              <a:defRPr/>
            </a:pPr>
            <a:endParaRPr kern="0">
              <a:latin typeface="Arial"/>
              <a:ea typeface="Arial"/>
              <a:cs typeface="Arial"/>
              <a:sym typeface="Arial"/>
              <a:rtl val="0"/>
            </a:endParaRPr>
          </a:p>
          <a:p>
            <a:pPr marL="0" lvl="6">
              <a:buClr>
                <a:srgbClr val="000000"/>
              </a:buClr>
              <a:buFont typeface="Arial"/>
              <a:buNone/>
              <a:defRPr/>
            </a:pPr>
            <a:endParaRPr kern="0">
              <a:latin typeface="Arial"/>
              <a:ea typeface="Arial"/>
              <a:cs typeface="Arial"/>
              <a:sym typeface="Arial"/>
              <a:rtl val="0"/>
            </a:endParaRPr>
          </a:p>
          <a:p>
            <a:pPr marL="0" lvl="7">
              <a:buClr>
                <a:srgbClr val="000000"/>
              </a:buClr>
              <a:buFont typeface="Arial"/>
              <a:buNone/>
              <a:defRPr/>
            </a:pPr>
            <a:endParaRPr kern="0">
              <a:latin typeface="Arial"/>
              <a:ea typeface="Arial"/>
              <a:cs typeface="Arial"/>
              <a:sym typeface="Arial"/>
              <a:rtl val="0"/>
            </a:endParaRPr>
          </a:p>
          <a:p>
            <a:pPr marL="0" lvl="8">
              <a:buClr>
                <a:srgbClr val="000000"/>
              </a:buClr>
              <a:buFont typeface="Arial"/>
              <a:buNone/>
              <a:defRPr/>
            </a:pPr>
            <a:endParaRPr kern="0">
              <a:latin typeface="Arial"/>
              <a:ea typeface="Arial"/>
              <a:cs typeface="Arial"/>
              <a:sym typeface="Arial"/>
              <a:rtl val="0"/>
            </a:endParaRPr>
          </a:p>
        </p:txBody>
      </p:sp>
    </p:spTree>
    <p:extLst>
      <p:ext uri="{BB962C8B-B14F-4D97-AF65-F5344CB8AC3E}">
        <p14:creationId xmlns:p14="http://schemas.microsoft.com/office/powerpoint/2010/main" val="1983646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62" name="Shape 166"/>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40963" name="Shape 167"/>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612824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3010" name="Shape 17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43011" name="Shape 173"/>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2078715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5058" name="Shape 178"/>
          <p:cNvSpPr>
            <a:spLocks noGrp="1" noRot="1" noChangeAspect="1" noTextEdit="1"/>
          </p:cNvSpPr>
          <p:nvPr>
            <p:ph type="sldImg" idx="2"/>
          </p:nvPr>
        </p:nvSpPr>
        <p:spPr>
          <a:noFill/>
          <a:ln w="9525" cap="flat">
            <a:round/>
          </a:ln>
        </p:spPr>
      </p:sp>
      <p:sp>
        <p:nvSpPr>
          <p:cNvPr id="45059" name="Shape 179"/>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80" name="Shape 180"/>
          <p:cNvSpPr>
            <a:spLocks noGrp="1"/>
          </p:cNvSpPr>
          <p:nvPr>
            <p:ph type="sldNum" sz="quarter" idx="12"/>
          </p:nvPr>
        </p:nvSpPr>
        <p:spPr>
          <a:xfrm>
            <a:off x="3884612" y="8685211"/>
            <a:ext cx="2971799" cy="457200"/>
          </a:xfrm>
        </p:spPr>
        <p:txBody>
          <a:bodyPr/>
          <a:lstStyle/>
          <a:p>
            <a:pPr indent="0" fontAlgn="auto">
              <a:spcBef>
                <a:spcPts val="0"/>
              </a:spcBef>
              <a:spcAft>
                <a:spcPts val="0"/>
              </a:spcAft>
              <a:buFont typeface="Arial"/>
              <a:buNone/>
              <a:defRPr/>
            </a:pPr>
            <a:endParaRPr kern="0">
              <a:latin typeface="Arial"/>
              <a:ea typeface="Arial"/>
              <a:cs typeface="Arial"/>
              <a:sym typeface="Arial"/>
              <a:rtl val="0"/>
            </a:endParaRPr>
          </a:p>
          <a:p>
            <a:pPr marL="0" lvl="1" indent="0" fontAlgn="auto">
              <a:spcBef>
                <a:spcPts val="0"/>
              </a:spcBef>
              <a:spcAft>
                <a:spcPts val="0"/>
              </a:spcAft>
              <a:buFont typeface="Arial"/>
              <a:buNone/>
              <a:defRPr/>
            </a:pPr>
            <a:endParaRPr kern="0">
              <a:latin typeface="Arial"/>
              <a:ea typeface="Arial"/>
              <a:cs typeface="Arial"/>
              <a:sym typeface="Arial"/>
              <a:rtl val="0"/>
            </a:endParaRPr>
          </a:p>
          <a:p>
            <a:pPr marL="0" lvl="2" indent="0" fontAlgn="auto">
              <a:spcBef>
                <a:spcPts val="0"/>
              </a:spcBef>
              <a:spcAft>
                <a:spcPts val="0"/>
              </a:spcAft>
              <a:buFont typeface="Arial"/>
              <a:buNone/>
              <a:defRPr/>
            </a:pPr>
            <a:endParaRPr kern="0">
              <a:latin typeface="Arial"/>
              <a:ea typeface="Arial"/>
              <a:cs typeface="Arial"/>
              <a:sym typeface="Arial"/>
              <a:rtl val="0"/>
            </a:endParaRPr>
          </a:p>
          <a:p>
            <a:pPr marL="0" lvl="3" indent="0" fontAlgn="auto">
              <a:spcBef>
                <a:spcPts val="0"/>
              </a:spcBef>
              <a:spcAft>
                <a:spcPts val="0"/>
              </a:spcAft>
              <a:buFont typeface="Arial"/>
              <a:buNone/>
              <a:defRPr/>
            </a:pPr>
            <a:endParaRPr kern="0">
              <a:latin typeface="Arial"/>
              <a:ea typeface="Arial"/>
              <a:cs typeface="Arial"/>
              <a:sym typeface="Arial"/>
              <a:rtl val="0"/>
            </a:endParaRPr>
          </a:p>
          <a:p>
            <a:pPr marL="0" lvl="4" indent="0" fontAlgn="auto">
              <a:spcBef>
                <a:spcPts val="0"/>
              </a:spcBef>
              <a:spcAft>
                <a:spcPts val="0"/>
              </a:spcAft>
              <a:buFont typeface="Arial"/>
              <a:buNone/>
              <a:defRPr/>
            </a:pPr>
            <a:endParaRPr kern="0">
              <a:latin typeface="Arial"/>
              <a:ea typeface="Arial"/>
              <a:cs typeface="Arial"/>
              <a:sym typeface="Arial"/>
              <a:rtl val="0"/>
            </a:endParaRPr>
          </a:p>
          <a:p>
            <a:pPr marL="0" lvl="5">
              <a:buClr>
                <a:srgbClr val="000000"/>
              </a:buClr>
              <a:buFont typeface="Arial"/>
              <a:buNone/>
              <a:defRPr/>
            </a:pPr>
            <a:endParaRPr kern="0">
              <a:latin typeface="Arial"/>
              <a:ea typeface="Arial"/>
              <a:cs typeface="Arial"/>
              <a:sym typeface="Arial"/>
              <a:rtl val="0"/>
            </a:endParaRPr>
          </a:p>
          <a:p>
            <a:pPr marL="0" lvl="6">
              <a:buClr>
                <a:srgbClr val="000000"/>
              </a:buClr>
              <a:buFont typeface="Arial"/>
              <a:buNone/>
              <a:defRPr/>
            </a:pPr>
            <a:endParaRPr kern="0">
              <a:latin typeface="Arial"/>
              <a:ea typeface="Arial"/>
              <a:cs typeface="Arial"/>
              <a:sym typeface="Arial"/>
              <a:rtl val="0"/>
            </a:endParaRPr>
          </a:p>
          <a:p>
            <a:pPr marL="0" lvl="7">
              <a:buClr>
                <a:srgbClr val="000000"/>
              </a:buClr>
              <a:buFont typeface="Arial"/>
              <a:buNone/>
              <a:defRPr/>
            </a:pPr>
            <a:endParaRPr kern="0">
              <a:latin typeface="Arial"/>
              <a:ea typeface="Arial"/>
              <a:cs typeface="Arial"/>
              <a:sym typeface="Arial"/>
              <a:rtl val="0"/>
            </a:endParaRPr>
          </a:p>
          <a:p>
            <a:pPr marL="0" lvl="8">
              <a:buClr>
                <a:srgbClr val="000000"/>
              </a:buClr>
              <a:buFont typeface="Arial"/>
              <a:buNone/>
              <a:defRPr/>
            </a:pPr>
            <a:endParaRPr kern="0">
              <a:latin typeface="Arial"/>
              <a:ea typeface="Arial"/>
              <a:cs typeface="Arial"/>
              <a:sym typeface="Arial"/>
              <a:rtl val="0"/>
            </a:endParaRPr>
          </a:p>
        </p:txBody>
      </p:sp>
    </p:spTree>
    <p:extLst>
      <p:ext uri="{BB962C8B-B14F-4D97-AF65-F5344CB8AC3E}">
        <p14:creationId xmlns:p14="http://schemas.microsoft.com/office/powerpoint/2010/main" val="5348476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7106" name="Shape 185"/>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47107" name="Shape 186"/>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9648530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9154" name="Shape 191"/>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49155" name="Shape 192"/>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4288520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a:t>https://www.khanacademy.org/computing/computers-and-internet/xcae6f4a7ff015e7d:the-internet/xcae6f4a7ff015e7d:routing-with-redundancy/a/internet-routing</a:t>
            </a:r>
          </a:p>
        </p:txBody>
      </p:sp>
      <p:sp>
        <p:nvSpPr>
          <p:cNvPr id="4" name="Segnaposto numero diapositiva 3"/>
          <p:cNvSpPr>
            <a:spLocks noGrp="1"/>
          </p:cNvSpPr>
          <p:nvPr>
            <p:ph type="sldNum" sz="quarter" idx="5"/>
          </p:nvPr>
        </p:nvSpPr>
        <p:spPr/>
        <p:txBody>
          <a:bodyPr/>
          <a:lstStyle/>
          <a:p>
            <a:fld id="{933DF862-A445-3043-ACC2-C5B17166A0A6}" type="slidenum">
              <a:rPr lang="it-IT"/>
              <a:t>28</a:t>
            </a:fld>
            <a:endParaRPr lang="it-IT"/>
          </a:p>
        </p:txBody>
      </p:sp>
    </p:spTree>
    <p:extLst>
      <p:ext uri="{BB962C8B-B14F-4D97-AF65-F5344CB8AC3E}">
        <p14:creationId xmlns:p14="http://schemas.microsoft.com/office/powerpoint/2010/main" val="35761369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1202" name="Shape 197"/>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51203" name="Shape 198"/>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5550703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3250" name="Shape 203"/>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53251" name="Shape 204"/>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191085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8" name="Shape 209"/>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55299" name="Shape 210"/>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8862190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7346" name="Shape 215"/>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57347" name="Shape 216"/>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5299931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9394" name="Shape 221"/>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59395" name="Shape 222"/>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9800702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42" name="Shape 227"/>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61443" name="Shape 228"/>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6348037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3490" name="Shape 238"/>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63491" name="Shape 239"/>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2405440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5538" name="Shape 244"/>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65539" name="Shape 245"/>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20518637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7586" name="Shape 250"/>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67587" name="Shape 251"/>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3819116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9634" name="Shape 256"/>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69635" name="Shape 257"/>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7532239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682" name="Shape 26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71683" name="Shape 263"/>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87781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3730" name="Shape 268"/>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73731" name="Shape 269"/>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20719898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5778" name="Shape 274"/>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75779" name="Shape 275"/>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3391942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7826" name="Shape 279"/>
          <p:cNvSpPr>
            <a:spLocks noGrp="1" noRot="1" noChangeAspect="1" noTextEdit="1"/>
          </p:cNvSpPr>
          <p:nvPr>
            <p:ph type="sldImg" idx="2"/>
          </p:nvPr>
        </p:nvSpPr>
        <p:spPr>
          <a:noFill/>
          <a:ln w="9525" cap="flat">
            <a:round/>
          </a:ln>
        </p:spPr>
      </p:sp>
      <p:sp>
        <p:nvSpPr>
          <p:cNvPr id="77827" name="Shape 280"/>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281" name="Shape 281"/>
          <p:cNvSpPr>
            <a:spLocks noGrp="1"/>
          </p:cNvSpPr>
          <p:nvPr>
            <p:ph type="sldNum" sz="quarter" idx="12"/>
          </p:nvPr>
        </p:nvSpPr>
        <p:spPr>
          <a:xfrm>
            <a:off x="3884612" y="8685211"/>
            <a:ext cx="2971799" cy="457200"/>
          </a:xfrm>
        </p:spPr>
        <p:txBody>
          <a:bodyPr/>
          <a:lstStyle/>
          <a:p>
            <a:pPr indent="0" fontAlgn="auto">
              <a:spcBef>
                <a:spcPts val="0"/>
              </a:spcBef>
              <a:spcAft>
                <a:spcPts val="0"/>
              </a:spcAft>
              <a:buFont typeface="Arial"/>
              <a:buNone/>
              <a:defRPr/>
            </a:pPr>
            <a:endParaRPr kern="0">
              <a:latin typeface="Arial"/>
              <a:ea typeface="Arial"/>
              <a:cs typeface="Arial"/>
              <a:sym typeface="Arial"/>
              <a:rtl val="0"/>
            </a:endParaRPr>
          </a:p>
          <a:p>
            <a:pPr marL="0" lvl="1" indent="0" fontAlgn="auto">
              <a:spcBef>
                <a:spcPts val="0"/>
              </a:spcBef>
              <a:spcAft>
                <a:spcPts val="0"/>
              </a:spcAft>
              <a:buFont typeface="Arial"/>
              <a:buNone/>
              <a:defRPr/>
            </a:pPr>
            <a:endParaRPr kern="0">
              <a:latin typeface="Arial"/>
              <a:ea typeface="Arial"/>
              <a:cs typeface="Arial"/>
              <a:sym typeface="Arial"/>
              <a:rtl val="0"/>
            </a:endParaRPr>
          </a:p>
          <a:p>
            <a:pPr marL="0" lvl="2" indent="0" fontAlgn="auto">
              <a:spcBef>
                <a:spcPts val="0"/>
              </a:spcBef>
              <a:spcAft>
                <a:spcPts val="0"/>
              </a:spcAft>
              <a:buFont typeface="Arial"/>
              <a:buNone/>
              <a:defRPr/>
            </a:pPr>
            <a:endParaRPr kern="0">
              <a:latin typeface="Arial"/>
              <a:ea typeface="Arial"/>
              <a:cs typeface="Arial"/>
              <a:sym typeface="Arial"/>
              <a:rtl val="0"/>
            </a:endParaRPr>
          </a:p>
          <a:p>
            <a:pPr marL="0" lvl="3" indent="0" fontAlgn="auto">
              <a:spcBef>
                <a:spcPts val="0"/>
              </a:spcBef>
              <a:spcAft>
                <a:spcPts val="0"/>
              </a:spcAft>
              <a:buFont typeface="Arial"/>
              <a:buNone/>
              <a:defRPr/>
            </a:pPr>
            <a:endParaRPr kern="0">
              <a:latin typeface="Arial"/>
              <a:ea typeface="Arial"/>
              <a:cs typeface="Arial"/>
              <a:sym typeface="Arial"/>
              <a:rtl val="0"/>
            </a:endParaRPr>
          </a:p>
          <a:p>
            <a:pPr marL="0" lvl="4" indent="0" fontAlgn="auto">
              <a:spcBef>
                <a:spcPts val="0"/>
              </a:spcBef>
              <a:spcAft>
                <a:spcPts val="0"/>
              </a:spcAft>
              <a:buFont typeface="Arial"/>
              <a:buNone/>
              <a:defRPr/>
            </a:pPr>
            <a:endParaRPr kern="0">
              <a:latin typeface="Arial"/>
              <a:ea typeface="Arial"/>
              <a:cs typeface="Arial"/>
              <a:sym typeface="Arial"/>
              <a:rtl val="0"/>
            </a:endParaRPr>
          </a:p>
          <a:p>
            <a:pPr marL="0" lvl="5">
              <a:buClr>
                <a:srgbClr val="000000"/>
              </a:buClr>
              <a:buFont typeface="Arial"/>
              <a:buNone/>
              <a:defRPr/>
            </a:pPr>
            <a:endParaRPr kern="0">
              <a:latin typeface="Arial"/>
              <a:ea typeface="Arial"/>
              <a:cs typeface="Arial"/>
              <a:sym typeface="Arial"/>
              <a:rtl val="0"/>
            </a:endParaRPr>
          </a:p>
          <a:p>
            <a:pPr marL="0" lvl="6">
              <a:buClr>
                <a:srgbClr val="000000"/>
              </a:buClr>
              <a:buFont typeface="Arial"/>
              <a:buNone/>
              <a:defRPr/>
            </a:pPr>
            <a:endParaRPr kern="0">
              <a:latin typeface="Arial"/>
              <a:ea typeface="Arial"/>
              <a:cs typeface="Arial"/>
              <a:sym typeface="Arial"/>
              <a:rtl val="0"/>
            </a:endParaRPr>
          </a:p>
          <a:p>
            <a:pPr marL="0" lvl="7">
              <a:buClr>
                <a:srgbClr val="000000"/>
              </a:buClr>
              <a:buFont typeface="Arial"/>
              <a:buNone/>
              <a:defRPr/>
            </a:pPr>
            <a:endParaRPr kern="0">
              <a:latin typeface="Arial"/>
              <a:ea typeface="Arial"/>
              <a:cs typeface="Arial"/>
              <a:sym typeface="Arial"/>
              <a:rtl val="0"/>
            </a:endParaRPr>
          </a:p>
          <a:p>
            <a:pPr marL="0" lvl="8">
              <a:buClr>
                <a:srgbClr val="000000"/>
              </a:buClr>
              <a:buFont typeface="Arial"/>
              <a:buNone/>
              <a:defRPr/>
            </a:pPr>
            <a:endParaRPr kern="0">
              <a:latin typeface="Arial"/>
              <a:ea typeface="Arial"/>
              <a:cs typeface="Arial"/>
              <a:sym typeface="Arial"/>
              <a:rtl val="0"/>
            </a:endParaRPr>
          </a:p>
        </p:txBody>
      </p:sp>
    </p:spTree>
    <p:extLst>
      <p:ext uri="{BB962C8B-B14F-4D97-AF65-F5344CB8AC3E}">
        <p14:creationId xmlns:p14="http://schemas.microsoft.com/office/powerpoint/2010/main" val="14161606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9874" name="Shape 286"/>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79875" name="Shape 287"/>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8501461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1922" name="Shape 29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81923" name="Shape 293"/>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1981941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3970" name="Shape 297"/>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83971" name="Shape 298"/>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0955934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6018" name="Shape 303"/>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86019" name="Shape 304"/>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1136692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8066" name="Shape 309"/>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88067" name="Shape 310"/>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21199246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0114" name="Shape 315"/>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90115" name="Shape 316"/>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6730438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2162" name="Shape 323"/>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92163" name="Shape 324"/>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0514333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4210" name="Shape 331"/>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94211" name="Shape 332"/>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9444289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6258" name="Shape 337"/>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96259" name="Shape 338"/>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7587398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8306" name="Shape 343"/>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98307" name="Shape 344"/>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1759937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0354" name="Shape 349"/>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00355" name="Shape 350"/>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6349024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402" name="Shape 355"/>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02403" name="Shape 356"/>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7528524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4450" name="Shape 361"/>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04451" name="Shape 362"/>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2174958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6498" name="Shape 367"/>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06499" name="Shape 368"/>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43529803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8546" name="Shape 373"/>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08547" name="Shape 374"/>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72480617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0594" name="Shape 380"/>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10595" name="Shape 381"/>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20831496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2642" name="Shape 387"/>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12643" name="Shape 388"/>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06998479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4690" name="Shape 393"/>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14691" name="Shape 394"/>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20630555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6738" name="Shape 399"/>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16739" name="Shape 400"/>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3388062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8786" name="Shape 405"/>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18787" name="Shape 406"/>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212973462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20834" name="Shape 411"/>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20835" name="Shape 412"/>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9238056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22882" name="Shape 417"/>
          <p:cNvSpPr>
            <a:spLocks noGrp="1" noRot="1" noChangeAspect="1" noTextEdit="1"/>
          </p:cNvSpPr>
          <p:nvPr>
            <p:ph type="sldImg" idx="2"/>
          </p:nvPr>
        </p:nvSpPr>
        <p:spPr>
          <a:noFill/>
          <a:ln w="9525" cap="flat">
            <a:round/>
          </a:ln>
        </p:spPr>
      </p:sp>
      <p:sp>
        <p:nvSpPr>
          <p:cNvPr id="122883" name="Shape 418"/>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419" name="Shape 419"/>
          <p:cNvSpPr>
            <a:spLocks noGrp="1"/>
          </p:cNvSpPr>
          <p:nvPr>
            <p:ph type="sldNum" sz="quarter" idx="12"/>
          </p:nvPr>
        </p:nvSpPr>
        <p:spPr>
          <a:xfrm>
            <a:off x="3884612" y="8685211"/>
            <a:ext cx="2971799" cy="457200"/>
          </a:xfrm>
        </p:spPr>
        <p:txBody>
          <a:bodyPr/>
          <a:lstStyle/>
          <a:p>
            <a:pPr indent="0" fontAlgn="auto">
              <a:spcBef>
                <a:spcPts val="0"/>
              </a:spcBef>
              <a:spcAft>
                <a:spcPts val="0"/>
              </a:spcAft>
              <a:buFont typeface="Arial"/>
              <a:buNone/>
              <a:defRPr/>
            </a:pPr>
            <a:endParaRPr kern="0">
              <a:latin typeface="Arial"/>
              <a:ea typeface="Arial"/>
              <a:cs typeface="Arial"/>
              <a:sym typeface="Arial"/>
              <a:rtl val="0"/>
            </a:endParaRPr>
          </a:p>
          <a:p>
            <a:pPr marL="0" lvl="1" indent="0" fontAlgn="auto">
              <a:spcBef>
                <a:spcPts val="0"/>
              </a:spcBef>
              <a:spcAft>
                <a:spcPts val="0"/>
              </a:spcAft>
              <a:buFont typeface="Arial"/>
              <a:buNone/>
              <a:defRPr/>
            </a:pPr>
            <a:endParaRPr kern="0">
              <a:latin typeface="Arial"/>
              <a:ea typeface="Arial"/>
              <a:cs typeface="Arial"/>
              <a:sym typeface="Arial"/>
              <a:rtl val="0"/>
            </a:endParaRPr>
          </a:p>
          <a:p>
            <a:pPr marL="0" lvl="2" indent="0" fontAlgn="auto">
              <a:spcBef>
                <a:spcPts val="0"/>
              </a:spcBef>
              <a:spcAft>
                <a:spcPts val="0"/>
              </a:spcAft>
              <a:buFont typeface="Arial"/>
              <a:buNone/>
              <a:defRPr/>
            </a:pPr>
            <a:endParaRPr kern="0">
              <a:latin typeface="Arial"/>
              <a:ea typeface="Arial"/>
              <a:cs typeface="Arial"/>
              <a:sym typeface="Arial"/>
              <a:rtl val="0"/>
            </a:endParaRPr>
          </a:p>
          <a:p>
            <a:pPr marL="0" lvl="3" indent="0" fontAlgn="auto">
              <a:spcBef>
                <a:spcPts val="0"/>
              </a:spcBef>
              <a:spcAft>
                <a:spcPts val="0"/>
              </a:spcAft>
              <a:buFont typeface="Arial"/>
              <a:buNone/>
              <a:defRPr/>
            </a:pPr>
            <a:endParaRPr kern="0">
              <a:latin typeface="Arial"/>
              <a:ea typeface="Arial"/>
              <a:cs typeface="Arial"/>
              <a:sym typeface="Arial"/>
              <a:rtl val="0"/>
            </a:endParaRPr>
          </a:p>
          <a:p>
            <a:pPr marL="0" lvl="4" indent="0" fontAlgn="auto">
              <a:spcBef>
                <a:spcPts val="0"/>
              </a:spcBef>
              <a:spcAft>
                <a:spcPts val="0"/>
              </a:spcAft>
              <a:buFont typeface="Arial"/>
              <a:buNone/>
              <a:defRPr/>
            </a:pPr>
            <a:endParaRPr kern="0">
              <a:latin typeface="Arial"/>
              <a:ea typeface="Arial"/>
              <a:cs typeface="Arial"/>
              <a:sym typeface="Arial"/>
              <a:rtl val="0"/>
            </a:endParaRPr>
          </a:p>
          <a:p>
            <a:pPr marL="0" lvl="5">
              <a:buClr>
                <a:srgbClr val="000000"/>
              </a:buClr>
              <a:buFont typeface="Arial"/>
              <a:buNone/>
              <a:defRPr/>
            </a:pPr>
            <a:endParaRPr kern="0">
              <a:latin typeface="Arial"/>
              <a:ea typeface="Arial"/>
              <a:cs typeface="Arial"/>
              <a:sym typeface="Arial"/>
              <a:rtl val="0"/>
            </a:endParaRPr>
          </a:p>
          <a:p>
            <a:pPr marL="0" lvl="6">
              <a:buClr>
                <a:srgbClr val="000000"/>
              </a:buClr>
              <a:buFont typeface="Arial"/>
              <a:buNone/>
              <a:defRPr/>
            </a:pPr>
            <a:endParaRPr kern="0">
              <a:latin typeface="Arial"/>
              <a:ea typeface="Arial"/>
              <a:cs typeface="Arial"/>
              <a:sym typeface="Arial"/>
              <a:rtl val="0"/>
            </a:endParaRPr>
          </a:p>
          <a:p>
            <a:pPr marL="0" lvl="7">
              <a:buClr>
                <a:srgbClr val="000000"/>
              </a:buClr>
              <a:buFont typeface="Arial"/>
              <a:buNone/>
              <a:defRPr/>
            </a:pPr>
            <a:endParaRPr kern="0">
              <a:latin typeface="Arial"/>
              <a:ea typeface="Arial"/>
              <a:cs typeface="Arial"/>
              <a:sym typeface="Arial"/>
              <a:rtl val="0"/>
            </a:endParaRPr>
          </a:p>
          <a:p>
            <a:pPr marL="0" lvl="8">
              <a:buClr>
                <a:srgbClr val="000000"/>
              </a:buClr>
              <a:buFont typeface="Arial"/>
              <a:buNone/>
              <a:defRPr/>
            </a:pPr>
            <a:endParaRPr kern="0">
              <a:latin typeface="Arial"/>
              <a:ea typeface="Arial"/>
              <a:cs typeface="Arial"/>
              <a:sym typeface="Arial"/>
              <a:rtl val="0"/>
            </a:endParaRPr>
          </a:p>
        </p:txBody>
      </p:sp>
    </p:spTree>
    <p:extLst>
      <p:ext uri="{BB962C8B-B14F-4D97-AF65-F5344CB8AC3E}">
        <p14:creationId xmlns:p14="http://schemas.microsoft.com/office/powerpoint/2010/main" val="13772672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24930" name="Shape 424"/>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24931" name="Shape 425"/>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39355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26978" name="Shape 430"/>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26979" name="Shape 431"/>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71989287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29026" name="Shape 436"/>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29027" name="Shape 437"/>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1097287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1074" name="Shape 44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31075" name="Shape 443"/>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31534133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3122" name="Shape 448"/>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33123" name="Shape 449"/>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209967700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5170" name="Shape 454"/>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35171" name="Shape 455"/>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82010191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7218" name="Shape 460"/>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37219" name="Shape 461"/>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69585115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9266" name="Shape 466"/>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39267" name="Shape 467"/>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76733187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41314" name="Shape 47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41315" name="Shape 473"/>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90748927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43362" name="Shape 477"/>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43363" name="Shape 478"/>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74340073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45410" name="Shape 483"/>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45411" name="Shape 484"/>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27634532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47458" name="Shape 489"/>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47459" name="Shape 490"/>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67614842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49506" name="Shape 495"/>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49507" name="Shape 496"/>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33611443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51554" name="Shape 501"/>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numCol="1" compatLnSpc="1">
            <a:prstTxWarp prst="textNoShape">
              <a:avLst/>
            </a:prstTxWarp>
          </a:bodyPr>
          <a:lstStyle/>
          <a:p>
            <a:pPr>
              <a:spcBef>
                <a:spcPct val="0"/>
              </a:spcBef>
            </a:pPr>
            <a:endParaRPr lang="it-IT" altLang="it-IT"/>
          </a:p>
        </p:txBody>
      </p:sp>
      <p:sp>
        <p:nvSpPr>
          <p:cNvPr id="151555" name="Shape 502"/>
          <p:cNvSpPr>
            <a:spLocks noGrp="1" noRot="1" noChangeAspect="1" noTextEdit="1"/>
          </p:cNvSpPr>
          <p:nvPr>
            <p:ph type="sldImg" idx="2"/>
          </p:nvPr>
        </p:nvSpPr>
        <p:spPr>
          <a:noFill/>
          <a:ln>
            <a:noFill/>
          </a:ln>
          <a:extLst>
            <a:ext uri="{91240B29-F687-4F45-9708-019B960494DF}">
              <a14:hiddenLine xmlns:a14="http://schemas.microsoft.com/office/drawing/2010/main" w="12700">
                <a:solidFill>
                  <a:srgbClr val="000000"/>
                </a:solidFill>
                <a:round/>
                <a:headEnd/>
                <a:tailEnd/>
              </a14:hiddenLine>
            </a:ext>
          </a:extLst>
        </p:spPr>
      </p:sp>
    </p:spTree>
    <p:extLst>
      <p:ext uri="{BB962C8B-B14F-4D97-AF65-F5344CB8AC3E}">
        <p14:creationId xmlns:p14="http://schemas.microsoft.com/office/powerpoint/2010/main" val="1193334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a:t>Fare clic per modificare stile</a:t>
            </a:r>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Tree>
    <p:extLst>
      <p:ext uri="{BB962C8B-B14F-4D97-AF65-F5344CB8AC3E}">
        <p14:creationId xmlns:p14="http://schemas.microsoft.com/office/powerpoint/2010/main" val="1817990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contenuto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piè di pagina 4"/>
          <p:cNvSpPr>
            <a:spLocks noGrp="1"/>
          </p:cNvSpPr>
          <p:nvPr>
            <p:ph type="ftr" sz="quarter" idx="11"/>
          </p:nvPr>
        </p:nvSpPr>
        <p:spPr>
          <a:xfrm>
            <a:off x="838200" y="6356350"/>
            <a:ext cx="7315200" cy="365125"/>
          </a:xfrm>
        </p:spPr>
        <p:txBody>
          <a:bodyPr/>
          <a:lstStyle>
            <a:lvl1pPr algn="l">
              <a:defRPr/>
            </a:lvl1pPr>
          </a:lstStyle>
          <a:p>
            <a:r>
              <a:rPr lang="it-IT"/>
              <a:t>Claudio Sartori - Informatics - Networking</a:t>
            </a:r>
          </a:p>
        </p:txBody>
      </p:sp>
      <p:sp>
        <p:nvSpPr>
          <p:cNvPr id="6" name="Segnaposto numero diapositiva 5"/>
          <p:cNvSpPr>
            <a:spLocks noGrp="1"/>
          </p:cNvSpPr>
          <p:nvPr>
            <p:ph type="sldNum" sz="quarter" idx="12"/>
          </p:nvPr>
        </p:nvSpPr>
        <p:spPr/>
        <p:txBody>
          <a:bodyPr/>
          <a:lstStyle/>
          <a:p>
            <a:fld id="{EC6182FC-1C34-DE4A-9EAC-E24BE6D1E839}" type="slidenum">
              <a:t>‹#›</a:t>
            </a:fld>
            <a:endParaRPr lang="it-IT"/>
          </a:p>
        </p:txBody>
      </p:sp>
    </p:spTree>
    <p:extLst>
      <p:ext uri="{BB962C8B-B14F-4D97-AF65-F5344CB8AC3E}">
        <p14:creationId xmlns:p14="http://schemas.microsoft.com/office/powerpoint/2010/main" val="766857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a:t>Fare clic per modificare stile</a:t>
            </a:r>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Tree>
    <p:extLst>
      <p:ext uri="{BB962C8B-B14F-4D97-AF65-F5344CB8AC3E}">
        <p14:creationId xmlns:p14="http://schemas.microsoft.com/office/powerpoint/2010/main" val="762832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nuto 2">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contenuto 2"/>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a:xfrm>
            <a:off x="838200" y="6356350"/>
            <a:ext cx="2743200" cy="365125"/>
          </a:xfrm>
          <a:prstGeom prst="rect">
            <a:avLst/>
          </a:prstGeom>
        </p:spPr>
        <p:txBody>
          <a:bodyPr/>
          <a:lstStyle/>
          <a:p>
            <a:endParaRPr lang="it-IT"/>
          </a:p>
        </p:txBody>
      </p:sp>
      <p:sp>
        <p:nvSpPr>
          <p:cNvPr id="6" name="Segnaposto piè di pagina 5"/>
          <p:cNvSpPr>
            <a:spLocks noGrp="1"/>
          </p:cNvSpPr>
          <p:nvPr>
            <p:ph type="ftr" sz="quarter" idx="11"/>
          </p:nvPr>
        </p:nvSpPr>
        <p:spPr/>
        <p:txBody>
          <a:bodyPr/>
          <a:lstStyle/>
          <a:p>
            <a:r>
              <a:rPr lang="it-IT"/>
              <a:t>Claudio Sartori - Informatics - Networking</a:t>
            </a:r>
          </a:p>
        </p:txBody>
      </p:sp>
      <p:sp>
        <p:nvSpPr>
          <p:cNvPr id="7" name="Segnaposto numero diapositiva 6"/>
          <p:cNvSpPr>
            <a:spLocks noGrp="1"/>
          </p:cNvSpPr>
          <p:nvPr>
            <p:ph type="sldNum" sz="quarter" idx="12"/>
          </p:nvPr>
        </p:nvSpPr>
        <p:spPr/>
        <p:txBody>
          <a:bodyPr/>
          <a:lstStyle/>
          <a:p>
            <a:fld id="{EC6182FC-1C34-DE4A-9EAC-E24BE6D1E839}" type="slidenum">
              <a:t>‹#›</a:t>
            </a:fld>
            <a:endParaRPr lang="it-IT"/>
          </a:p>
        </p:txBody>
      </p:sp>
    </p:spTree>
    <p:extLst>
      <p:ext uri="{BB962C8B-B14F-4D97-AF65-F5344CB8AC3E}">
        <p14:creationId xmlns:p14="http://schemas.microsoft.com/office/powerpoint/2010/main" val="451009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a:t>Fare clic per modificare stile</a:t>
            </a:r>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a:xfrm>
            <a:off x="838200" y="6356350"/>
            <a:ext cx="2743200" cy="365125"/>
          </a:xfrm>
          <a:prstGeom prst="rect">
            <a:avLst/>
          </a:prstGeom>
        </p:spPr>
        <p:txBody>
          <a:bodyPr/>
          <a:lstStyle/>
          <a:p>
            <a:endParaRPr lang="it-IT"/>
          </a:p>
        </p:txBody>
      </p:sp>
      <p:sp>
        <p:nvSpPr>
          <p:cNvPr id="8" name="Segnaposto piè di pagina 7"/>
          <p:cNvSpPr>
            <a:spLocks noGrp="1"/>
          </p:cNvSpPr>
          <p:nvPr>
            <p:ph type="ftr" sz="quarter" idx="11"/>
          </p:nvPr>
        </p:nvSpPr>
        <p:spPr/>
        <p:txBody>
          <a:bodyPr/>
          <a:lstStyle/>
          <a:p>
            <a:r>
              <a:rPr lang="it-IT"/>
              <a:t>Claudio Sartori - Informatics - Networking</a:t>
            </a:r>
          </a:p>
        </p:txBody>
      </p:sp>
      <p:sp>
        <p:nvSpPr>
          <p:cNvPr id="9" name="Segnaposto numero diapositiva 8"/>
          <p:cNvSpPr>
            <a:spLocks noGrp="1"/>
          </p:cNvSpPr>
          <p:nvPr>
            <p:ph type="sldNum" sz="quarter" idx="12"/>
          </p:nvPr>
        </p:nvSpPr>
        <p:spPr/>
        <p:txBody>
          <a:bodyPr/>
          <a:lstStyle/>
          <a:p>
            <a:fld id="{EC6182FC-1C34-DE4A-9EAC-E24BE6D1E839}" type="slidenum">
              <a:t>‹#›</a:t>
            </a:fld>
            <a:endParaRPr lang="it-IT"/>
          </a:p>
        </p:txBody>
      </p:sp>
    </p:spTree>
    <p:extLst>
      <p:ext uri="{BB962C8B-B14F-4D97-AF65-F5344CB8AC3E}">
        <p14:creationId xmlns:p14="http://schemas.microsoft.com/office/powerpoint/2010/main" val="1648119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data 2"/>
          <p:cNvSpPr>
            <a:spLocks noGrp="1"/>
          </p:cNvSpPr>
          <p:nvPr>
            <p:ph type="dt" sz="half" idx="10"/>
          </p:nvPr>
        </p:nvSpPr>
        <p:spPr>
          <a:xfrm>
            <a:off x="838200" y="6356350"/>
            <a:ext cx="2743200" cy="365125"/>
          </a:xfrm>
          <a:prstGeom prst="rect">
            <a:avLst/>
          </a:prstGeom>
        </p:spPr>
        <p:txBody>
          <a:bodyPr/>
          <a:lstStyle/>
          <a:p>
            <a:endParaRPr lang="it-IT"/>
          </a:p>
        </p:txBody>
      </p:sp>
      <p:sp>
        <p:nvSpPr>
          <p:cNvPr id="4" name="Segnaposto piè di pagina 3"/>
          <p:cNvSpPr>
            <a:spLocks noGrp="1"/>
          </p:cNvSpPr>
          <p:nvPr>
            <p:ph type="ftr" sz="quarter" idx="11"/>
          </p:nvPr>
        </p:nvSpPr>
        <p:spPr/>
        <p:txBody>
          <a:bodyPr/>
          <a:lstStyle/>
          <a:p>
            <a:r>
              <a:rPr lang="it-IT"/>
              <a:t>Claudio Sartori - Informatics - Networking</a:t>
            </a:r>
          </a:p>
        </p:txBody>
      </p:sp>
      <p:sp>
        <p:nvSpPr>
          <p:cNvPr id="5" name="Segnaposto numero diapositiva 4"/>
          <p:cNvSpPr>
            <a:spLocks noGrp="1"/>
          </p:cNvSpPr>
          <p:nvPr>
            <p:ph type="sldNum" sz="quarter" idx="12"/>
          </p:nvPr>
        </p:nvSpPr>
        <p:spPr/>
        <p:txBody>
          <a:bodyPr/>
          <a:lstStyle/>
          <a:p>
            <a:fld id="{EC6182FC-1C34-DE4A-9EAC-E24BE6D1E839}" type="slidenum">
              <a:t>‹#›</a:t>
            </a:fld>
            <a:endParaRPr lang="it-IT"/>
          </a:p>
        </p:txBody>
      </p:sp>
    </p:spTree>
    <p:extLst>
      <p:ext uri="{BB962C8B-B14F-4D97-AF65-F5344CB8AC3E}">
        <p14:creationId xmlns:p14="http://schemas.microsoft.com/office/powerpoint/2010/main" val="1708004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3" name="Segnaposto piè di pagina 2"/>
          <p:cNvSpPr>
            <a:spLocks noGrp="1"/>
          </p:cNvSpPr>
          <p:nvPr>
            <p:ph type="ftr" sz="quarter" idx="11"/>
          </p:nvPr>
        </p:nvSpPr>
        <p:spPr>
          <a:xfrm>
            <a:off x="705678" y="6356350"/>
            <a:ext cx="7447722" cy="365125"/>
          </a:xfrm>
        </p:spPr>
        <p:txBody>
          <a:bodyPr/>
          <a:lstStyle>
            <a:lvl1pPr algn="l">
              <a:defRPr/>
            </a:lvl1pPr>
          </a:lstStyle>
          <a:p>
            <a:r>
              <a:rPr lang="it-IT"/>
              <a:t>Claudio Sartori - Informatics - Networking</a:t>
            </a:r>
          </a:p>
        </p:txBody>
      </p:sp>
      <p:sp>
        <p:nvSpPr>
          <p:cNvPr id="4" name="Segnaposto numero diapositiva 3"/>
          <p:cNvSpPr>
            <a:spLocks noGrp="1"/>
          </p:cNvSpPr>
          <p:nvPr>
            <p:ph type="sldNum" sz="quarter" idx="12"/>
          </p:nvPr>
        </p:nvSpPr>
        <p:spPr/>
        <p:txBody>
          <a:bodyPr/>
          <a:lstStyle/>
          <a:p>
            <a:fld id="{EC6182FC-1C34-DE4A-9EAC-E24BE6D1E839}" type="slidenum">
              <a:t>‹#›</a:t>
            </a:fld>
            <a:endParaRPr lang="it-IT"/>
          </a:p>
        </p:txBody>
      </p:sp>
    </p:spTree>
    <p:extLst>
      <p:ext uri="{BB962C8B-B14F-4D97-AF65-F5344CB8AC3E}">
        <p14:creationId xmlns:p14="http://schemas.microsoft.com/office/powerpoint/2010/main" val="1020730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stile</a:t>
            </a:r>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p:cNvSpPr>
            <a:spLocks noGrp="1"/>
          </p:cNvSpPr>
          <p:nvPr>
            <p:ph type="dt" sz="half" idx="10"/>
          </p:nvPr>
        </p:nvSpPr>
        <p:spPr>
          <a:xfrm>
            <a:off x="838200" y="6356350"/>
            <a:ext cx="2743200" cy="365125"/>
          </a:xfrm>
          <a:prstGeom prst="rect">
            <a:avLst/>
          </a:prstGeom>
        </p:spPr>
        <p:txBody>
          <a:bodyPr/>
          <a:lstStyle/>
          <a:p>
            <a:endParaRPr lang="it-IT"/>
          </a:p>
        </p:txBody>
      </p:sp>
      <p:sp>
        <p:nvSpPr>
          <p:cNvPr id="6" name="Segnaposto piè di pagina 5"/>
          <p:cNvSpPr>
            <a:spLocks noGrp="1"/>
          </p:cNvSpPr>
          <p:nvPr>
            <p:ph type="ftr" sz="quarter" idx="11"/>
          </p:nvPr>
        </p:nvSpPr>
        <p:spPr/>
        <p:txBody>
          <a:bodyPr/>
          <a:lstStyle/>
          <a:p>
            <a:r>
              <a:rPr lang="it-IT"/>
              <a:t>Claudio Sartori - Informatics - Networking</a:t>
            </a:r>
          </a:p>
        </p:txBody>
      </p:sp>
      <p:sp>
        <p:nvSpPr>
          <p:cNvPr id="7" name="Segnaposto numero diapositiva 6"/>
          <p:cNvSpPr>
            <a:spLocks noGrp="1"/>
          </p:cNvSpPr>
          <p:nvPr>
            <p:ph type="sldNum" sz="quarter" idx="12"/>
          </p:nvPr>
        </p:nvSpPr>
        <p:spPr/>
        <p:txBody>
          <a:bodyPr/>
          <a:lstStyle/>
          <a:p>
            <a:fld id="{EC6182FC-1C34-DE4A-9EAC-E24BE6D1E839}" type="slidenum">
              <a:t>‹#›</a:t>
            </a:fld>
            <a:endParaRPr lang="it-IT"/>
          </a:p>
        </p:txBody>
      </p:sp>
    </p:spTree>
    <p:extLst>
      <p:ext uri="{BB962C8B-B14F-4D97-AF65-F5344CB8AC3E}">
        <p14:creationId xmlns:p14="http://schemas.microsoft.com/office/powerpoint/2010/main" val="1318208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stile</a:t>
            </a:r>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p:cNvSpPr>
            <a:spLocks noGrp="1"/>
          </p:cNvSpPr>
          <p:nvPr>
            <p:ph type="dt" sz="half" idx="10"/>
          </p:nvPr>
        </p:nvSpPr>
        <p:spPr>
          <a:xfrm>
            <a:off x="838200" y="6356350"/>
            <a:ext cx="2743200" cy="365125"/>
          </a:xfrm>
          <a:prstGeom prst="rect">
            <a:avLst/>
          </a:prstGeom>
        </p:spPr>
        <p:txBody>
          <a:bodyPr/>
          <a:lstStyle/>
          <a:p>
            <a:endParaRPr lang="it-IT"/>
          </a:p>
        </p:txBody>
      </p:sp>
      <p:sp>
        <p:nvSpPr>
          <p:cNvPr id="6" name="Segnaposto piè di pagina 5"/>
          <p:cNvSpPr>
            <a:spLocks noGrp="1"/>
          </p:cNvSpPr>
          <p:nvPr>
            <p:ph type="ftr" sz="quarter" idx="11"/>
          </p:nvPr>
        </p:nvSpPr>
        <p:spPr/>
        <p:txBody>
          <a:bodyPr/>
          <a:lstStyle/>
          <a:p>
            <a:r>
              <a:rPr lang="it-IT"/>
              <a:t>Claudio Sartori - Informatics - Networking</a:t>
            </a:r>
          </a:p>
        </p:txBody>
      </p:sp>
      <p:sp>
        <p:nvSpPr>
          <p:cNvPr id="7" name="Segnaposto numero diapositiva 6"/>
          <p:cNvSpPr>
            <a:spLocks noGrp="1"/>
          </p:cNvSpPr>
          <p:nvPr>
            <p:ph type="sldNum" sz="quarter" idx="12"/>
          </p:nvPr>
        </p:nvSpPr>
        <p:spPr/>
        <p:txBody>
          <a:bodyPr/>
          <a:lstStyle/>
          <a:p>
            <a:fld id="{EC6182FC-1C34-DE4A-9EAC-E24BE6D1E839}" type="slidenum">
              <a:t>‹#›</a:t>
            </a:fld>
            <a:endParaRPr lang="it-IT"/>
          </a:p>
        </p:txBody>
      </p:sp>
    </p:spTree>
    <p:extLst>
      <p:ext uri="{BB962C8B-B14F-4D97-AF65-F5344CB8AC3E}">
        <p14:creationId xmlns:p14="http://schemas.microsoft.com/office/powerpoint/2010/main" val="1688822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testo verticale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a:xfrm>
            <a:off x="838200" y="6356350"/>
            <a:ext cx="2743200" cy="365125"/>
          </a:xfrm>
          <a:prstGeom prst="rect">
            <a:avLst/>
          </a:prstGeom>
        </p:spPr>
        <p:txBody>
          <a:bodyPr/>
          <a:lstStyle/>
          <a:p>
            <a:endParaRPr lang="it-IT"/>
          </a:p>
        </p:txBody>
      </p:sp>
      <p:sp>
        <p:nvSpPr>
          <p:cNvPr id="5" name="Segnaposto piè di pagina 4"/>
          <p:cNvSpPr>
            <a:spLocks noGrp="1"/>
          </p:cNvSpPr>
          <p:nvPr>
            <p:ph type="ftr" sz="quarter" idx="11"/>
          </p:nvPr>
        </p:nvSpPr>
        <p:spPr/>
        <p:txBody>
          <a:bodyPr/>
          <a:lstStyle/>
          <a:p>
            <a:r>
              <a:rPr lang="it-IT"/>
              <a:t>Claudio Sartori - Informatics - Networking</a:t>
            </a:r>
          </a:p>
        </p:txBody>
      </p:sp>
      <p:sp>
        <p:nvSpPr>
          <p:cNvPr id="6" name="Segnaposto numero diapositiva 5"/>
          <p:cNvSpPr>
            <a:spLocks noGrp="1"/>
          </p:cNvSpPr>
          <p:nvPr>
            <p:ph type="sldNum" sz="quarter" idx="12"/>
          </p:nvPr>
        </p:nvSpPr>
        <p:spPr/>
        <p:txBody>
          <a:bodyPr/>
          <a:lstStyle/>
          <a:p>
            <a:fld id="{EC6182FC-1C34-DE4A-9EAC-E24BE6D1E839}" type="slidenum">
              <a:t>‹#›</a:t>
            </a:fld>
            <a:endParaRPr lang="it-IT"/>
          </a:p>
        </p:txBody>
      </p:sp>
    </p:spTree>
    <p:extLst>
      <p:ext uri="{BB962C8B-B14F-4D97-AF65-F5344CB8AC3E}">
        <p14:creationId xmlns:p14="http://schemas.microsoft.com/office/powerpoint/2010/main" val="749941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a:t>Fare clic per modificare stile</a:t>
            </a:r>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a:xfrm>
            <a:off x="838200" y="6356350"/>
            <a:ext cx="2743200" cy="365125"/>
          </a:xfrm>
          <a:prstGeom prst="rect">
            <a:avLst/>
          </a:prstGeom>
        </p:spPr>
        <p:txBody>
          <a:bodyPr/>
          <a:lstStyle/>
          <a:p>
            <a:endParaRPr lang="it-IT"/>
          </a:p>
        </p:txBody>
      </p:sp>
      <p:sp>
        <p:nvSpPr>
          <p:cNvPr id="5" name="Segnaposto piè di pagina 4"/>
          <p:cNvSpPr>
            <a:spLocks noGrp="1"/>
          </p:cNvSpPr>
          <p:nvPr>
            <p:ph type="ftr" sz="quarter" idx="11"/>
          </p:nvPr>
        </p:nvSpPr>
        <p:spPr/>
        <p:txBody>
          <a:bodyPr/>
          <a:lstStyle/>
          <a:p>
            <a:r>
              <a:rPr lang="it-IT"/>
              <a:t>Claudio Sartori - Informatics - Networking</a:t>
            </a:r>
          </a:p>
        </p:txBody>
      </p:sp>
      <p:sp>
        <p:nvSpPr>
          <p:cNvPr id="6" name="Segnaposto numero diapositiva 5"/>
          <p:cNvSpPr>
            <a:spLocks noGrp="1"/>
          </p:cNvSpPr>
          <p:nvPr>
            <p:ph type="sldNum" sz="quarter" idx="12"/>
          </p:nvPr>
        </p:nvSpPr>
        <p:spPr/>
        <p:txBody>
          <a:bodyPr/>
          <a:lstStyle/>
          <a:p>
            <a:fld id="{EC6182FC-1C34-DE4A-9EAC-E24BE6D1E839}" type="slidenum">
              <a:t>‹#›</a:t>
            </a:fld>
            <a:endParaRPr lang="it-IT"/>
          </a:p>
        </p:txBody>
      </p:sp>
    </p:spTree>
    <p:extLst>
      <p:ext uri="{BB962C8B-B14F-4D97-AF65-F5344CB8AC3E}">
        <p14:creationId xmlns:p14="http://schemas.microsoft.com/office/powerpoint/2010/main" val="682661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49"/>
        <p:cNvGrpSpPr/>
        <p:nvPr/>
      </p:nvGrpSpPr>
      <p:grpSpPr>
        <a:xfrm>
          <a:off x="0" y="0"/>
          <a:ext cx="0" cy="0"/>
          <a:chOff x="0" y="0"/>
          <a:chExt cx="0" cy="0"/>
        </a:xfrm>
      </p:grpSpPr>
    </p:spTree>
    <p:extLst>
      <p:ext uri="{BB962C8B-B14F-4D97-AF65-F5344CB8AC3E}">
        <p14:creationId xmlns:p14="http://schemas.microsoft.com/office/powerpoint/2010/main" val="1939601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stile</a:t>
            </a:r>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noProof="0" dirty="0"/>
              <a:t>Fare </a:t>
            </a:r>
            <a:r>
              <a:rPr lang="en-GB" noProof="0" dirty="0" err="1"/>
              <a:t>clic</a:t>
            </a:r>
            <a:r>
              <a:rPr lang="en-GB" noProof="0" dirty="0"/>
              <a:t> per </a:t>
            </a:r>
            <a:r>
              <a:rPr lang="en-GB" noProof="0" dirty="0" err="1"/>
              <a:t>modificare</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Verdana" charset="0"/>
                <a:ea typeface="Verdana" charset="0"/>
                <a:cs typeface="Verdana" charset="0"/>
              </a:defRPr>
            </a:lvl1pPr>
          </a:lstStyle>
          <a:p>
            <a:r>
              <a:rPr lang="en-GB" dirty="0"/>
              <a:t>Claudio Sartori - Informatics - Networking</a:t>
            </a:r>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Verdana" charset="0"/>
                <a:ea typeface="Verdana" charset="0"/>
                <a:cs typeface="Verdana" charset="0"/>
              </a:defRPr>
            </a:lvl1pPr>
          </a:lstStyle>
          <a:p>
            <a:fld id="{EC6182FC-1C34-DE4A-9EAC-E24BE6D1E839}" type="slidenum">
              <a:rPr lang="it-IT"/>
              <a:pPr/>
              <a:t>‹#›</a:t>
            </a:fld>
            <a:endParaRPr lang="it-IT"/>
          </a:p>
        </p:txBody>
      </p:sp>
    </p:spTree>
    <p:extLst>
      <p:ext uri="{BB962C8B-B14F-4D97-AF65-F5344CB8AC3E}">
        <p14:creationId xmlns:p14="http://schemas.microsoft.com/office/powerpoint/2010/main" val="63228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Verdana" charset="0"/>
          <a:ea typeface="Verdana" charset="0"/>
          <a:cs typeface="Verdana"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Verdana" charset="0"/>
          <a:ea typeface="Verdana" charset="0"/>
          <a:cs typeface="Verdana"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Verdana" charset="0"/>
          <a:ea typeface="Verdana" charset="0"/>
          <a:cs typeface="Verdan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Verdana" charset="0"/>
          <a:ea typeface="Verdana" charset="0"/>
          <a:cs typeface="Verdana"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Verdana" charset="0"/>
          <a:ea typeface="Verdana" charset="0"/>
          <a:cs typeface="Verdana"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Verdana" charset="0"/>
          <a:ea typeface="Verdana" charset="0"/>
          <a:cs typeface="Verdan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6.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www.icann.org/"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Titolo 1"/>
          <p:cNvSpPr txBox="1">
            <a:spLocks noGrp="1"/>
          </p:cNvSpPr>
          <p:nvPr>
            <p:ph type="title"/>
          </p:nvPr>
        </p:nvSpPr>
        <p:spPr>
          <a:xfrm>
            <a:off x="2246313" y="4818063"/>
            <a:ext cx="7772400" cy="1549400"/>
          </a:xfrm>
        </p:spPr>
        <p:txBody>
          <a:bodyPr>
            <a:noAutofit/>
          </a:bodyPr>
          <a:lstStyle/>
          <a:p>
            <a:pPr algn="ctr">
              <a:spcBef>
                <a:spcPct val="0"/>
              </a:spcBef>
            </a:pPr>
            <a:r>
              <a:rPr lang="it-IT" altLang="it-IT" sz="1800" dirty="0">
                <a:latin typeface="Arial"/>
                <a:ea typeface="Arial" charset="0"/>
                <a:cs typeface="Arial"/>
              </a:rPr>
              <a:t>Claudio Sartori </a:t>
            </a:r>
            <a:br>
              <a:rPr lang="it-IT" altLang="it-IT" sz="1800" dirty="0">
                <a:latin typeface="Arial" charset="0"/>
                <a:ea typeface="Arial" charset="0"/>
                <a:cs typeface="Arial" charset="0"/>
              </a:rPr>
            </a:br>
            <a:r>
              <a:rPr lang="it-IT" altLang="it-IT" sz="1800" dirty="0">
                <a:latin typeface="Arial"/>
                <a:ea typeface="Arial" charset="0"/>
                <a:cs typeface="Arial"/>
              </a:rPr>
              <a:t>Department of Computer Science and Engineering</a:t>
            </a:r>
            <a:br>
              <a:rPr lang="it-IT" altLang="it-IT" sz="1800" dirty="0">
                <a:latin typeface="Arial" charset="0"/>
                <a:ea typeface="Arial" charset="0"/>
                <a:cs typeface="Arial" charset="0"/>
              </a:rPr>
            </a:br>
            <a:r>
              <a:rPr lang="it-IT" altLang="it-IT" sz="1800" dirty="0">
                <a:latin typeface="Arial"/>
                <a:ea typeface="Arial" charset="0"/>
                <a:cs typeface="Arial"/>
              </a:rPr>
              <a:t>claudio.sartori@unibo.it</a:t>
            </a:r>
            <a:br>
              <a:rPr lang="it-IT" altLang="it-IT" sz="1800" dirty="0">
                <a:latin typeface="Arial" charset="0"/>
                <a:ea typeface="Arial" charset="0"/>
                <a:cs typeface="Arial" charset="0"/>
              </a:rPr>
            </a:br>
            <a:r>
              <a:rPr lang="it-IT" altLang="it-IT" sz="1800" dirty="0">
                <a:latin typeface="Arial"/>
                <a:ea typeface="Arial" charset="0"/>
                <a:cs typeface="Arial"/>
              </a:rPr>
              <a:t>https://www.unibo.it/sitoweb/claudio.sartori/</a:t>
            </a:r>
            <a:endParaRPr lang="it-IT" altLang="it-IT" sz="1800" dirty="0">
              <a:latin typeface="Arial"/>
              <a:ea typeface="Arial" charset="0"/>
              <a:cs typeface="Arial" charset="0"/>
            </a:endParaRPr>
          </a:p>
        </p:txBody>
      </p:sp>
      <p:sp>
        <p:nvSpPr>
          <p:cNvPr id="3074" name="Segnaposto testo 2"/>
          <p:cNvSpPr txBox="1">
            <a:spLocks noGrp="1"/>
          </p:cNvSpPr>
          <p:nvPr>
            <p:ph type="body" idx="1"/>
          </p:nvPr>
        </p:nvSpPr>
        <p:spPr>
          <a:xfrm>
            <a:off x="2246313" y="1265238"/>
            <a:ext cx="7772400" cy="3141662"/>
          </a:xfrm>
        </p:spPr>
        <p:txBody>
          <a:bodyPr/>
          <a:lstStyle/>
          <a:p>
            <a:pPr algn="ctr">
              <a:spcBef>
                <a:spcPct val="0"/>
              </a:spcBef>
              <a:buFontTx/>
              <a:buNone/>
            </a:pPr>
            <a:r>
              <a:rPr lang="it-IT" altLang="it-IT" sz="6600">
                <a:solidFill>
                  <a:schemeClr val="tx2">
                    <a:lumMod val="50000"/>
                  </a:schemeClr>
                </a:solidFill>
                <a:latin typeface="Arial" charset="0"/>
                <a:ea typeface="Arial" charset="0"/>
                <a:cs typeface="Arial" charset="0"/>
              </a:rPr>
              <a:t>Informatics</a:t>
            </a:r>
            <a:r>
              <a:rPr lang="it-IT" altLang="it-IT" sz="4400">
                <a:solidFill>
                  <a:schemeClr val="tx2">
                    <a:lumMod val="50000"/>
                  </a:schemeClr>
                </a:solidFill>
                <a:latin typeface="Arial" charset="0"/>
                <a:ea typeface="Arial" charset="0"/>
                <a:cs typeface="Arial" charset="0"/>
              </a:rPr>
              <a:t> </a:t>
            </a:r>
            <a:br>
              <a:rPr lang="it-IT" altLang="it-IT" sz="4400">
                <a:solidFill>
                  <a:schemeClr val="tx2">
                    <a:lumMod val="50000"/>
                  </a:schemeClr>
                </a:solidFill>
                <a:latin typeface="Arial" charset="0"/>
                <a:ea typeface="Arial" charset="0"/>
                <a:cs typeface="Arial" charset="0"/>
              </a:rPr>
            </a:br>
            <a:r>
              <a:rPr lang="it-IT" altLang="it-IT" sz="4400">
                <a:solidFill>
                  <a:schemeClr val="tx2">
                    <a:lumMod val="50000"/>
                  </a:schemeClr>
                </a:solidFill>
                <a:latin typeface="Arial" charset="0"/>
                <a:ea typeface="Arial" charset="0"/>
                <a:cs typeface="Arial" charset="0"/>
              </a:rPr>
              <a:t>The basics of</a:t>
            </a:r>
            <a:br>
              <a:rPr lang="it-IT" altLang="it-IT" sz="4400">
                <a:solidFill>
                  <a:schemeClr val="tx2">
                    <a:lumMod val="50000"/>
                  </a:schemeClr>
                </a:solidFill>
                <a:latin typeface="Arial" charset="0"/>
                <a:ea typeface="Arial" charset="0"/>
                <a:cs typeface="Arial" charset="0"/>
              </a:rPr>
            </a:br>
            <a:r>
              <a:rPr lang="it-IT" altLang="it-IT" sz="4400">
                <a:solidFill>
                  <a:schemeClr val="tx2">
                    <a:lumMod val="50000"/>
                  </a:schemeClr>
                </a:solidFill>
                <a:latin typeface="Arial" charset="0"/>
                <a:ea typeface="Arial" charset="0"/>
                <a:cs typeface="Arial" charset="0"/>
              </a:rPr>
              <a:t>Networking</a:t>
            </a:r>
          </a:p>
        </p:txBody>
      </p:sp>
    </p:spTree>
    <p:extLst>
      <p:ext uri="{BB962C8B-B14F-4D97-AF65-F5344CB8AC3E}">
        <p14:creationId xmlns:p14="http://schemas.microsoft.com/office/powerpoint/2010/main" val="38198425"/>
      </p:ext>
    </p:extLst>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hape 59"/>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Learning Objectives</a:t>
            </a:r>
          </a:p>
        </p:txBody>
      </p:sp>
      <p:sp>
        <p:nvSpPr>
          <p:cNvPr id="5123" name="Shape 60"/>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2300">
                <a:latin typeface="Arial" charset="0"/>
                <a:ea typeface="Arial" charset="0"/>
                <a:cs typeface="Arial" charset="0"/>
              </a:rPr>
              <a:t>Tell whether a communication technology (Internet, radio, LAN, etc.) is synchronous or asynchronous; broadcast or point-to-point</a:t>
            </a:r>
          </a:p>
          <a:p>
            <a:pPr indent="-342900">
              <a:spcBef>
                <a:spcPts val="400"/>
              </a:spcBef>
              <a:spcAft>
                <a:spcPct val="0"/>
              </a:spcAft>
              <a:buClr>
                <a:srgbClr val="000000"/>
              </a:buClr>
              <a:buFontTx/>
              <a:buChar char="•"/>
            </a:pPr>
            <a:r>
              <a:rPr lang="en-US" altLang="it-IT" sz="2300">
                <a:latin typeface="Arial" charset="0"/>
                <a:ea typeface="Arial" charset="0"/>
                <a:cs typeface="Arial" charset="0"/>
              </a:rPr>
              <a:t>Explain the roles of Internet addresses, domain names, and DNS servers in networking</a:t>
            </a:r>
          </a:p>
          <a:p>
            <a:pPr indent="-342900">
              <a:spcBef>
                <a:spcPts val="400"/>
              </a:spcBef>
              <a:spcAft>
                <a:spcPct val="0"/>
              </a:spcAft>
              <a:buClr>
                <a:srgbClr val="000000"/>
              </a:buClr>
              <a:buFontTx/>
              <a:buChar char="•"/>
            </a:pPr>
            <a:r>
              <a:rPr lang="en-US" altLang="it-IT" sz="2300">
                <a:latin typeface="Arial" charset="0"/>
                <a:ea typeface="Arial" charset="0"/>
                <a:cs typeface="Arial" charset="0"/>
              </a:rPr>
              <a:t>Distinguish between types of protocols (TCP/IP and Ethernet)</a:t>
            </a:r>
          </a:p>
          <a:p>
            <a:pPr indent="-342900">
              <a:spcBef>
                <a:spcPts val="400"/>
              </a:spcBef>
              <a:spcAft>
                <a:spcPct val="0"/>
              </a:spcAft>
              <a:buClr>
                <a:srgbClr val="000000"/>
              </a:buClr>
              <a:buFontTx/>
              <a:buChar char="•"/>
            </a:pPr>
            <a:r>
              <a:rPr lang="en-US" altLang="it-IT" sz="2300">
                <a:latin typeface="Arial" charset="0"/>
                <a:ea typeface="Arial" charset="0"/>
                <a:cs typeface="Arial" charset="0"/>
              </a:rPr>
              <a:t>Describe how computers are interconnected by an ISP and by a LAN</a:t>
            </a:r>
          </a:p>
          <a:p>
            <a:pPr indent="-342900">
              <a:spcBef>
                <a:spcPts val="400"/>
              </a:spcBef>
              <a:spcAft>
                <a:spcPct val="0"/>
              </a:spcAft>
              <a:buClr>
                <a:srgbClr val="000000"/>
              </a:buClr>
              <a:buFontTx/>
              <a:buChar char="•"/>
            </a:pPr>
            <a:r>
              <a:rPr lang="en-US" altLang="it-IT" sz="2300">
                <a:latin typeface="Arial" charset="0"/>
                <a:ea typeface="Arial" charset="0"/>
                <a:cs typeface="Arial" charset="0"/>
              </a:rPr>
              <a:t>Distinguish between the Internet and the World Wide Web</a:t>
            </a:r>
          </a:p>
          <a:p>
            <a:pPr indent="-342900">
              <a:spcBef>
                <a:spcPts val="400"/>
              </a:spcBef>
              <a:spcAft>
                <a:spcPct val="0"/>
              </a:spcAft>
              <a:buClr>
                <a:srgbClr val="000000"/>
              </a:buClr>
              <a:buFontTx/>
              <a:buChar char="•"/>
            </a:pPr>
            <a:r>
              <a:rPr lang="en-US" altLang="it-IT" sz="2300">
                <a:latin typeface="Arial" charset="0"/>
                <a:ea typeface="Arial" charset="0"/>
                <a:cs typeface="Arial" charset="0"/>
              </a:rPr>
              <a:t>Explain file structure, and how to navigate up and down the hierarchy</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2</a:t>
            </a:fld>
            <a:endParaRPr lang="nb-NO"/>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hape 65"/>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sz="4000">
                <a:latin typeface="Arial" charset="0"/>
                <a:ea typeface="Arial" charset="0"/>
                <a:cs typeface="Arial" charset="0"/>
              </a:rPr>
              <a:t>Comparing Communication Types</a:t>
            </a:r>
          </a:p>
        </p:txBody>
      </p:sp>
      <p:sp>
        <p:nvSpPr>
          <p:cNvPr id="7171" name="Shape 66"/>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dirty="0">
                <a:latin typeface="Arial" charset="0"/>
                <a:ea typeface="Arial" charset="0"/>
                <a:cs typeface="Arial" charset="0"/>
              </a:rPr>
              <a:t>To understand the Internet we need to cover some basic communication vocabulary:</a:t>
            </a:r>
          </a:p>
          <a:p>
            <a:pPr lvl="1" indent="-285750">
              <a:spcAft>
                <a:spcPct val="0"/>
              </a:spcAft>
              <a:buClr>
                <a:srgbClr val="000000"/>
              </a:buClr>
              <a:buFontTx/>
              <a:buChar char="–"/>
            </a:pPr>
            <a:r>
              <a:rPr lang="en-US" altLang="it-IT" sz="2800" dirty="0">
                <a:latin typeface="Arial" charset="0"/>
                <a:ea typeface="Arial" charset="0"/>
                <a:cs typeface="Arial" charset="0"/>
              </a:rPr>
              <a:t>Synchronous Communication</a:t>
            </a:r>
          </a:p>
          <a:p>
            <a:pPr lvl="1" indent="-285750">
              <a:spcAft>
                <a:spcPct val="0"/>
              </a:spcAft>
              <a:buClr>
                <a:srgbClr val="000000"/>
              </a:buClr>
              <a:buFontTx/>
              <a:buChar char="–"/>
            </a:pPr>
            <a:r>
              <a:rPr lang="en-US" altLang="it-IT" sz="2800" dirty="0">
                <a:latin typeface="Arial" charset="0"/>
                <a:ea typeface="Arial" charset="0"/>
                <a:cs typeface="Arial" charset="0"/>
              </a:rPr>
              <a:t>Asynchronous Communication</a:t>
            </a:r>
          </a:p>
          <a:p>
            <a:pPr lvl="1" indent="-285750">
              <a:spcAft>
                <a:spcPct val="0"/>
              </a:spcAft>
              <a:buClr>
                <a:srgbClr val="000000"/>
              </a:buClr>
              <a:buFontTx/>
              <a:buChar char="–"/>
            </a:pPr>
            <a:r>
              <a:rPr lang="en-US" altLang="it-IT" sz="2800" dirty="0">
                <a:latin typeface="Arial" charset="0"/>
                <a:ea typeface="Arial" charset="0"/>
                <a:cs typeface="Arial" charset="0"/>
              </a:rPr>
              <a:t>Broadcast</a:t>
            </a:r>
          </a:p>
          <a:p>
            <a:pPr lvl="1" indent="-285750">
              <a:spcAft>
                <a:spcPct val="0"/>
              </a:spcAft>
              <a:buClr>
                <a:srgbClr val="000000"/>
              </a:buClr>
              <a:buFontTx/>
              <a:buChar char="–"/>
            </a:pPr>
            <a:r>
              <a:rPr lang="en-US" altLang="it-IT" sz="2800" dirty="0">
                <a:latin typeface="Arial" charset="0"/>
                <a:ea typeface="Arial" charset="0"/>
                <a:cs typeface="Arial" charset="0"/>
              </a:rPr>
              <a:t>Communication</a:t>
            </a:r>
          </a:p>
          <a:p>
            <a:pPr lvl="1" indent="-285750">
              <a:spcAft>
                <a:spcPct val="0"/>
              </a:spcAft>
              <a:buClr>
                <a:srgbClr val="000000"/>
              </a:buClr>
              <a:buFontTx/>
              <a:buChar char="–"/>
            </a:pPr>
            <a:r>
              <a:rPr lang="en-US" altLang="it-IT" sz="2800" dirty="0">
                <a:latin typeface="Arial" charset="0"/>
                <a:ea typeface="Arial" charset="0"/>
                <a:cs typeface="Arial" charset="0"/>
              </a:rPr>
              <a:t>Multicast</a:t>
            </a:r>
          </a:p>
          <a:p>
            <a:pPr lvl="1" indent="-285750">
              <a:spcAft>
                <a:spcPct val="0"/>
              </a:spcAft>
              <a:buClr>
                <a:srgbClr val="000000"/>
              </a:buClr>
              <a:buFontTx/>
              <a:buChar char="–"/>
            </a:pPr>
            <a:r>
              <a:rPr lang="en-US" altLang="it-IT" sz="2800" dirty="0">
                <a:latin typeface="Arial" charset="0"/>
                <a:ea typeface="Arial" charset="0"/>
                <a:cs typeface="Arial" charset="0"/>
              </a:rPr>
              <a:t>Point-to-point communication</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3</a:t>
            </a:fld>
            <a:endParaRPr lang="nb-NO"/>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hape 71"/>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General Communication</a:t>
            </a:r>
          </a:p>
        </p:txBody>
      </p:sp>
      <p:sp>
        <p:nvSpPr>
          <p:cNvPr id="72" name="Shape 72"/>
          <p:cNvSpPr txBox="1">
            <a:spLocks noGrp="1"/>
          </p:cNvSpPr>
          <p:nvPr>
            <p:ph idx="1"/>
          </p:nvPr>
        </p:nvSpPr>
        <p:spPr/>
        <p:txBody>
          <a:bodyPr vert="horz" lIns="91440" tIns="45700" rIns="91440" bIns="45700" rtlCol="0">
            <a:noAutofit/>
          </a:bodyPr>
          <a:lstStyle/>
          <a:p>
            <a:pPr indent="-342900">
              <a:spcBef>
                <a:spcPts val="0"/>
              </a:spcBef>
              <a:buClr>
                <a:srgbClr val="000000"/>
              </a:buClr>
              <a:buSzPct val="100000"/>
              <a:defRPr/>
            </a:pPr>
            <a:r>
              <a:rPr lang="en-US" sz="3200" b="1">
                <a:sym typeface="Arial"/>
              </a:rPr>
              <a:t>Synchronous communication: </a:t>
            </a:r>
          </a:p>
          <a:p>
            <a:pPr lvl="1" indent="-285750">
              <a:buClr>
                <a:srgbClr val="000000"/>
              </a:buClr>
              <a:buSzPct val="100000"/>
              <a:defRPr/>
            </a:pPr>
            <a:r>
              <a:rPr lang="en-US" sz="2800">
                <a:sym typeface="Arial"/>
              </a:rPr>
              <a:t>Both the sender and the receiver are active at the same time (think of talking on a telephone)</a:t>
            </a:r>
          </a:p>
          <a:p>
            <a:pPr indent="-165100">
              <a:spcBef>
                <a:spcPts val="600"/>
              </a:spcBef>
              <a:buClr>
                <a:srgbClr val="000000"/>
              </a:buClr>
              <a:buNone/>
              <a:defRPr/>
            </a:pPr>
            <a:endParaRPr>
              <a:sym typeface="Arial"/>
            </a:endParaRPr>
          </a:p>
          <a:p>
            <a:pPr indent="-342900">
              <a:spcBef>
                <a:spcPts val="600"/>
              </a:spcBef>
              <a:buClr>
                <a:srgbClr val="000000"/>
              </a:buClr>
              <a:buSzPct val="100000"/>
              <a:defRPr/>
            </a:pPr>
            <a:r>
              <a:rPr lang="en-US" sz="3200" b="1">
                <a:sym typeface="Arial"/>
              </a:rPr>
              <a:t>Asynchronous communication:</a:t>
            </a:r>
          </a:p>
          <a:p>
            <a:pPr lvl="1" indent="-285750">
              <a:buClr>
                <a:srgbClr val="000000"/>
              </a:buClr>
              <a:buSzPct val="100000"/>
              <a:defRPr/>
            </a:pPr>
            <a:r>
              <a:rPr lang="en-US" sz="2800">
                <a:sym typeface="Arial"/>
              </a:rPr>
              <a:t>The sending and receiving occur at different times (think of email and answering machines)</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4</a:t>
            </a:fld>
            <a:endParaRPr lang="nb-NO"/>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hape 77"/>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General Communication</a:t>
            </a:r>
          </a:p>
        </p:txBody>
      </p:sp>
      <p:sp>
        <p:nvSpPr>
          <p:cNvPr id="11267" name="Shape 78"/>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dirty="0">
                <a:latin typeface="Arial" charset="0"/>
                <a:ea typeface="Arial" charset="0"/>
                <a:cs typeface="Arial" charset="0"/>
              </a:rPr>
              <a:t>Another property of communication concerns the number of receivers</a:t>
            </a:r>
          </a:p>
          <a:p>
            <a:pPr indent="-342900">
              <a:spcBef>
                <a:spcPts val="600"/>
              </a:spcBef>
              <a:spcAft>
                <a:spcPct val="0"/>
              </a:spcAft>
              <a:buClr>
                <a:srgbClr val="000000"/>
              </a:buClr>
              <a:buFontTx/>
              <a:buChar char="•"/>
            </a:pPr>
            <a:r>
              <a:rPr lang="en-US" altLang="it-IT" sz="3200" b="1" dirty="0">
                <a:latin typeface="Arial" charset="0"/>
                <a:ea typeface="Arial" charset="0"/>
                <a:cs typeface="Arial" charset="0"/>
              </a:rPr>
              <a:t>Broadcast communication: </a:t>
            </a:r>
            <a:r>
              <a:rPr lang="en-US" altLang="it-IT" sz="3200" dirty="0">
                <a:latin typeface="Arial" charset="0"/>
                <a:ea typeface="Arial" charset="0"/>
                <a:cs typeface="Arial" charset="0"/>
              </a:rPr>
              <a:t>single sender and many receivers(radio and TV)</a:t>
            </a:r>
          </a:p>
          <a:p>
            <a:pPr indent="-342900">
              <a:spcBef>
                <a:spcPts val="600"/>
              </a:spcBef>
              <a:spcAft>
                <a:spcPct val="0"/>
              </a:spcAft>
              <a:buClr>
                <a:srgbClr val="000000"/>
              </a:buClr>
              <a:buFontTx/>
              <a:buChar char="•"/>
            </a:pPr>
            <a:r>
              <a:rPr lang="en-US" altLang="it-IT" sz="3200" b="1" dirty="0">
                <a:latin typeface="Arial" charset="0"/>
                <a:ea typeface="Arial" charset="0"/>
                <a:cs typeface="Arial" charset="0"/>
              </a:rPr>
              <a:t>Multicast: </a:t>
            </a:r>
            <a:r>
              <a:rPr lang="en-US" altLang="it-IT" sz="3200" dirty="0">
                <a:latin typeface="Arial" charset="0"/>
                <a:ea typeface="Arial" charset="0"/>
                <a:cs typeface="Arial" charset="0"/>
              </a:rPr>
              <a:t>is many receivers, but usually a specific group (specialized topics)</a:t>
            </a:r>
          </a:p>
          <a:p>
            <a:pPr indent="-342900">
              <a:spcBef>
                <a:spcPts val="600"/>
              </a:spcBef>
              <a:spcAft>
                <a:spcPct val="0"/>
              </a:spcAft>
              <a:buClr>
                <a:srgbClr val="000000"/>
              </a:buClr>
              <a:buFontTx/>
              <a:buChar char="•"/>
            </a:pPr>
            <a:r>
              <a:rPr lang="en-US" altLang="it-IT" sz="3200" b="1" dirty="0">
                <a:latin typeface="Arial" charset="0"/>
                <a:ea typeface="Arial" charset="0"/>
                <a:cs typeface="Arial" charset="0"/>
              </a:rPr>
              <a:t>Point-to-point communication:</a:t>
            </a:r>
            <a:r>
              <a:rPr lang="en-US" altLang="it-IT" sz="3200" dirty="0">
                <a:latin typeface="Arial" charset="0"/>
                <a:ea typeface="Arial" charset="0"/>
                <a:cs typeface="Arial" charset="0"/>
              </a:rPr>
              <a:t> one specific sender and one specific receiver (telephone call)</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5</a:t>
            </a:fld>
            <a:endParaRPr lang="nb-NO"/>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5BF712A-37E4-DD48-8DEC-FBE427759178}"/>
              </a:ext>
            </a:extLst>
          </p:cNvPr>
          <p:cNvSpPr>
            <a:spLocks noGrp="1"/>
          </p:cNvSpPr>
          <p:nvPr>
            <p:ph type="title"/>
          </p:nvPr>
        </p:nvSpPr>
        <p:spPr/>
        <p:txBody>
          <a:bodyPr/>
          <a:lstStyle/>
          <a:p>
            <a:r>
              <a:rPr lang="it-IT"/>
              <a:t>Example of broadcast in internet</a:t>
            </a:r>
          </a:p>
        </p:txBody>
      </p:sp>
      <p:sp>
        <p:nvSpPr>
          <p:cNvPr id="3" name="Segnaposto contenuto 2">
            <a:extLst>
              <a:ext uri="{FF2B5EF4-FFF2-40B4-BE49-F238E27FC236}">
                <a16:creationId xmlns:a16="http://schemas.microsoft.com/office/drawing/2014/main" id="{B30A26CF-1194-6F44-849A-011D86EB0184}"/>
              </a:ext>
            </a:extLst>
          </p:cNvPr>
          <p:cNvSpPr>
            <a:spLocks noGrp="1"/>
          </p:cNvSpPr>
          <p:nvPr>
            <p:ph idx="1"/>
          </p:nvPr>
        </p:nvSpPr>
        <p:spPr/>
        <p:txBody>
          <a:bodyPr>
            <a:normAutofit fontScale="92500" lnSpcReduction="20000"/>
          </a:bodyPr>
          <a:lstStyle/>
          <a:p>
            <a:pPr algn="l"/>
            <a:r>
              <a:rPr lang="it-IT" b="0" i="0">
                <a:solidFill>
                  <a:srgbClr val="374151"/>
                </a:solidFill>
                <a:effectLst/>
                <a:latin typeface="Söhne"/>
              </a:rPr>
              <a:t>Address Resolution Protocol (ARP) request. When a device wants to communicate with another device on the same local network (e.g., LAN), it needs to know the MAC address of the destination device. The device sends an ARP request to the broadcast address (FF:FF:FF:FF:FF:FF) asking "Who has the IP address x.x.x.x?".</a:t>
            </a:r>
          </a:p>
          <a:p>
            <a:pPr algn="l"/>
            <a:r>
              <a:rPr lang="it-IT" b="0" i="0">
                <a:solidFill>
                  <a:srgbClr val="374151"/>
                </a:solidFill>
                <a:effectLst/>
                <a:latin typeface="Söhne"/>
              </a:rPr>
              <a:t>All devices on the same local network receive the broadcast message, but only the device that has the requested IP address will respond with its MAC address. The requesting device will then use this MAC address to communicate with the destination device.</a:t>
            </a:r>
          </a:p>
          <a:p>
            <a:pPr algn="l"/>
            <a:r>
              <a:rPr lang="it-IT" b="0" i="0">
                <a:solidFill>
                  <a:srgbClr val="374151"/>
                </a:solidFill>
                <a:effectLst/>
                <a:latin typeface="Söhne"/>
              </a:rPr>
              <a:t>Another example of broadcasting on the internet is when a router sends routing updates to all devices on its directly connected networks. This allows all devices to learn about the network topology and update their routing tables accordingly.</a:t>
            </a:r>
          </a:p>
        </p:txBody>
      </p:sp>
      <p:sp>
        <p:nvSpPr>
          <p:cNvPr id="4" name="Segnaposto piè di pagina 3">
            <a:extLst>
              <a:ext uri="{FF2B5EF4-FFF2-40B4-BE49-F238E27FC236}">
                <a16:creationId xmlns:a16="http://schemas.microsoft.com/office/drawing/2014/main" id="{6DC2F03F-ACB9-3E4B-BEF0-482D58D987F2}"/>
              </a:ext>
            </a:extLst>
          </p:cNvPr>
          <p:cNvSpPr>
            <a:spLocks noGrp="1"/>
          </p:cNvSpPr>
          <p:nvPr>
            <p:ph type="ftr" sz="quarter" idx="11"/>
          </p:nvPr>
        </p:nvSpPr>
        <p:spPr/>
        <p:txBody>
          <a:bodyPr/>
          <a:lstStyle/>
          <a:p>
            <a:r>
              <a:rPr lang="it-IT"/>
              <a:t>Claudio Sartori - Informatics - Networking</a:t>
            </a:r>
          </a:p>
        </p:txBody>
      </p:sp>
      <p:sp>
        <p:nvSpPr>
          <p:cNvPr id="5" name="Segnaposto numero diapositiva 4">
            <a:extLst>
              <a:ext uri="{FF2B5EF4-FFF2-40B4-BE49-F238E27FC236}">
                <a16:creationId xmlns:a16="http://schemas.microsoft.com/office/drawing/2014/main" id="{B8790FF7-1954-1441-98B4-9A148314771D}"/>
              </a:ext>
            </a:extLst>
          </p:cNvPr>
          <p:cNvSpPr>
            <a:spLocks noGrp="1"/>
          </p:cNvSpPr>
          <p:nvPr>
            <p:ph type="sldNum" sz="quarter" idx="12"/>
          </p:nvPr>
        </p:nvSpPr>
        <p:spPr/>
        <p:txBody>
          <a:bodyPr/>
          <a:lstStyle/>
          <a:p>
            <a:fld id="{EC6182FC-1C34-DE4A-9EAC-E24BE6D1E839}" type="slidenum">
              <a:rPr lang="it-IT"/>
              <a:t>6</a:t>
            </a:fld>
            <a:endParaRPr lang="it-IT"/>
          </a:p>
        </p:txBody>
      </p:sp>
    </p:spTree>
    <p:extLst>
      <p:ext uri="{BB962C8B-B14F-4D97-AF65-F5344CB8AC3E}">
        <p14:creationId xmlns:p14="http://schemas.microsoft.com/office/powerpoint/2010/main" val="3029222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E07B90A-E664-6347-BD0A-6632744C4262}"/>
              </a:ext>
            </a:extLst>
          </p:cNvPr>
          <p:cNvSpPr>
            <a:spLocks noGrp="1"/>
          </p:cNvSpPr>
          <p:nvPr>
            <p:ph type="title"/>
          </p:nvPr>
        </p:nvSpPr>
        <p:spPr/>
        <p:txBody>
          <a:bodyPr/>
          <a:lstStyle/>
          <a:p>
            <a:r>
              <a:rPr lang="it-IT"/>
              <a:t>Example of multicast in internet</a:t>
            </a:r>
          </a:p>
        </p:txBody>
      </p:sp>
      <p:sp>
        <p:nvSpPr>
          <p:cNvPr id="3" name="Segnaposto contenuto 2">
            <a:extLst>
              <a:ext uri="{FF2B5EF4-FFF2-40B4-BE49-F238E27FC236}">
                <a16:creationId xmlns:a16="http://schemas.microsoft.com/office/drawing/2014/main" id="{2CDA08DF-D6E4-514D-A48D-74E18AB896AD}"/>
              </a:ext>
            </a:extLst>
          </p:cNvPr>
          <p:cNvSpPr>
            <a:spLocks noGrp="1"/>
          </p:cNvSpPr>
          <p:nvPr>
            <p:ph idx="1"/>
          </p:nvPr>
        </p:nvSpPr>
        <p:spPr/>
        <p:txBody>
          <a:bodyPr>
            <a:normAutofit fontScale="85000" lnSpcReduction="20000"/>
          </a:bodyPr>
          <a:lstStyle/>
          <a:p>
            <a:pPr algn="l"/>
            <a:r>
              <a:rPr lang="it-IT" b="0" i="0">
                <a:solidFill>
                  <a:srgbClr val="374151"/>
                </a:solidFill>
                <a:effectLst/>
                <a:latin typeface="Söhne"/>
              </a:rPr>
              <a:t>Internet Group Management Protocol (IGMP). IGMP is used by devices on a local network to join or leave multicast groups, and by routers to learn which devices are interested in receiving multicast traffic.</a:t>
            </a:r>
          </a:p>
          <a:p>
            <a:pPr algn="l"/>
            <a:r>
              <a:rPr lang="it-IT" b="0" i="0">
                <a:solidFill>
                  <a:srgbClr val="374151"/>
                </a:solidFill>
                <a:effectLst/>
                <a:latin typeface="Söhne"/>
              </a:rPr>
              <a:t>Multicasting is widely used for multimedia streaming applications such as video conferencing, online gaming, and live video broadcasting. For example, a video streamer may send a live video stream to a multicast group address. Users who want to watch the video can join the multicast group by sending an IGMP join message to the local router. The router will then forward the video stream to all devices that have joined the multicast group.</a:t>
            </a:r>
          </a:p>
          <a:p>
            <a:pPr algn="l"/>
            <a:r>
              <a:rPr lang="it-IT" b="0" i="0">
                <a:solidFill>
                  <a:srgbClr val="374151"/>
                </a:solidFill>
                <a:effectLst/>
                <a:latin typeface="Söhne"/>
              </a:rPr>
              <a:t>Another example of multicasting on the internet is the Domain Name System (DNS). DNS queries are typically sent to a unicast IP address, but DNS servers can also respond to queries with a multicast response. This allows multiple devices on the same local network to receive the DNS response simultaneously, reducing network traffic and improving performance.</a:t>
            </a:r>
          </a:p>
        </p:txBody>
      </p:sp>
      <p:sp>
        <p:nvSpPr>
          <p:cNvPr id="4" name="Segnaposto piè di pagina 3">
            <a:extLst>
              <a:ext uri="{FF2B5EF4-FFF2-40B4-BE49-F238E27FC236}">
                <a16:creationId xmlns:a16="http://schemas.microsoft.com/office/drawing/2014/main" id="{B0E08F77-168D-CF42-B8EA-5ACFB5CB1D5E}"/>
              </a:ext>
            </a:extLst>
          </p:cNvPr>
          <p:cNvSpPr>
            <a:spLocks noGrp="1"/>
          </p:cNvSpPr>
          <p:nvPr>
            <p:ph type="ftr" sz="quarter" idx="11"/>
          </p:nvPr>
        </p:nvSpPr>
        <p:spPr/>
        <p:txBody>
          <a:bodyPr/>
          <a:lstStyle/>
          <a:p>
            <a:r>
              <a:rPr lang="it-IT"/>
              <a:t>Claudio Sartori - Informatics - Networking</a:t>
            </a:r>
          </a:p>
        </p:txBody>
      </p:sp>
      <p:sp>
        <p:nvSpPr>
          <p:cNvPr id="5" name="Segnaposto numero diapositiva 4">
            <a:extLst>
              <a:ext uri="{FF2B5EF4-FFF2-40B4-BE49-F238E27FC236}">
                <a16:creationId xmlns:a16="http://schemas.microsoft.com/office/drawing/2014/main" id="{528CCFEC-2C91-A040-AF09-353156AA04C5}"/>
              </a:ext>
            </a:extLst>
          </p:cNvPr>
          <p:cNvSpPr>
            <a:spLocks noGrp="1"/>
          </p:cNvSpPr>
          <p:nvPr>
            <p:ph type="sldNum" sz="quarter" idx="12"/>
          </p:nvPr>
        </p:nvSpPr>
        <p:spPr/>
        <p:txBody>
          <a:bodyPr/>
          <a:lstStyle/>
          <a:p>
            <a:fld id="{EC6182FC-1C34-DE4A-9EAC-E24BE6D1E839}" type="slidenum">
              <a:rPr lang="it-IT"/>
              <a:t>7</a:t>
            </a:fld>
            <a:endParaRPr lang="it-IT"/>
          </a:p>
        </p:txBody>
      </p:sp>
    </p:spTree>
    <p:extLst>
      <p:ext uri="{BB962C8B-B14F-4D97-AF65-F5344CB8AC3E}">
        <p14:creationId xmlns:p14="http://schemas.microsoft.com/office/powerpoint/2010/main" val="1714196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A28E5AA-DAEC-DE46-B4E5-156FA157AE77}"/>
              </a:ext>
            </a:extLst>
          </p:cNvPr>
          <p:cNvSpPr>
            <a:spLocks noGrp="1"/>
          </p:cNvSpPr>
          <p:nvPr>
            <p:ph type="title"/>
          </p:nvPr>
        </p:nvSpPr>
        <p:spPr/>
        <p:txBody>
          <a:bodyPr/>
          <a:lstStyle/>
          <a:p>
            <a:r>
              <a:rPr lang="it-IT"/>
              <a:t>Example of unicast in internet</a:t>
            </a:r>
          </a:p>
        </p:txBody>
      </p:sp>
      <p:sp>
        <p:nvSpPr>
          <p:cNvPr id="3" name="Segnaposto contenuto 2">
            <a:extLst>
              <a:ext uri="{FF2B5EF4-FFF2-40B4-BE49-F238E27FC236}">
                <a16:creationId xmlns:a16="http://schemas.microsoft.com/office/drawing/2014/main" id="{A0440F58-D6D6-AC43-A2C2-20319E509887}"/>
              </a:ext>
            </a:extLst>
          </p:cNvPr>
          <p:cNvSpPr>
            <a:spLocks noGrp="1"/>
          </p:cNvSpPr>
          <p:nvPr>
            <p:ph idx="1"/>
          </p:nvPr>
        </p:nvSpPr>
        <p:spPr/>
        <p:txBody>
          <a:bodyPr>
            <a:normAutofit fontScale="92500" lnSpcReduction="20000"/>
          </a:bodyPr>
          <a:lstStyle/>
          <a:p>
            <a:r>
              <a:rPr lang="it-IT" b="0" i="0">
                <a:solidFill>
                  <a:srgbClr val="374151"/>
                </a:solidFill>
                <a:effectLst/>
                <a:latin typeface="Söhne"/>
              </a:rPr>
              <a:t>When you visit a website, your web browser sends a unicast request to the web server asking for the web page. The web server then sends a unicast response back to your computer with the requested web page.</a:t>
            </a:r>
          </a:p>
          <a:p>
            <a:r>
              <a:rPr lang="it-IT" b="0" i="0">
                <a:solidFill>
                  <a:srgbClr val="374151"/>
                </a:solidFill>
                <a:effectLst/>
                <a:latin typeface="Söhne"/>
              </a:rPr>
              <a:t>When you send an email, your email client sends a unicast message to the email server containing the recipient's email address and the message content. The email server then sends a unicast message to the recipient's email server, which in turn sends a unicast message to the recipient's email client.</a:t>
            </a:r>
          </a:p>
          <a:p>
            <a:r>
              <a:rPr lang="it-IT" b="0" i="0">
                <a:solidFill>
                  <a:srgbClr val="374151"/>
                </a:solidFill>
                <a:effectLst/>
                <a:latin typeface="Söhne"/>
              </a:rPr>
              <a:t>When you make a VoIP (Voice over IP) call, your device sends a unicast stream of voice data to the recipient's device, and the recipient's device sends a unicast stream of voice data back to your device.</a:t>
            </a:r>
          </a:p>
          <a:p>
            <a:pPr algn="l"/>
            <a:r>
              <a:rPr lang="it-IT" b="0" i="0">
                <a:solidFill>
                  <a:srgbClr val="374151"/>
                </a:solidFill>
                <a:effectLst/>
                <a:latin typeface="Söhne"/>
              </a:rPr>
              <a:t>In all of these examples, the data is sent from one sender to one receiver using a unicast communication method.</a:t>
            </a:r>
          </a:p>
        </p:txBody>
      </p:sp>
      <p:sp>
        <p:nvSpPr>
          <p:cNvPr id="4" name="Segnaposto piè di pagina 3">
            <a:extLst>
              <a:ext uri="{FF2B5EF4-FFF2-40B4-BE49-F238E27FC236}">
                <a16:creationId xmlns:a16="http://schemas.microsoft.com/office/drawing/2014/main" id="{C985F289-A805-2E48-849F-DB6A5E42A1FC}"/>
              </a:ext>
            </a:extLst>
          </p:cNvPr>
          <p:cNvSpPr>
            <a:spLocks noGrp="1"/>
          </p:cNvSpPr>
          <p:nvPr>
            <p:ph type="ftr" sz="quarter" idx="11"/>
          </p:nvPr>
        </p:nvSpPr>
        <p:spPr/>
        <p:txBody>
          <a:bodyPr/>
          <a:lstStyle/>
          <a:p>
            <a:r>
              <a:rPr lang="it-IT"/>
              <a:t>Claudio Sartori - Informatics - Networking</a:t>
            </a:r>
          </a:p>
        </p:txBody>
      </p:sp>
      <p:sp>
        <p:nvSpPr>
          <p:cNvPr id="5" name="Segnaposto numero diapositiva 4">
            <a:extLst>
              <a:ext uri="{FF2B5EF4-FFF2-40B4-BE49-F238E27FC236}">
                <a16:creationId xmlns:a16="http://schemas.microsoft.com/office/drawing/2014/main" id="{23F36804-A542-C445-A398-8AF064E654C1}"/>
              </a:ext>
            </a:extLst>
          </p:cNvPr>
          <p:cNvSpPr>
            <a:spLocks noGrp="1"/>
          </p:cNvSpPr>
          <p:nvPr>
            <p:ph type="sldNum" sz="quarter" idx="12"/>
          </p:nvPr>
        </p:nvSpPr>
        <p:spPr/>
        <p:txBody>
          <a:bodyPr/>
          <a:lstStyle/>
          <a:p>
            <a:fld id="{EC6182FC-1C34-DE4A-9EAC-E24BE6D1E839}" type="slidenum">
              <a:rPr lang="it-IT"/>
              <a:t>8</a:t>
            </a:fld>
            <a:endParaRPr lang="it-IT"/>
          </a:p>
        </p:txBody>
      </p:sp>
    </p:spTree>
    <p:extLst>
      <p:ext uri="{BB962C8B-B14F-4D97-AF65-F5344CB8AC3E}">
        <p14:creationId xmlns:p14="http://schemas.microsoft.com/office/powerpoint/2010/main" val="1304971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hape 83"/>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sz="3600">
                <a:latin typeface="Arial" charset="0"/>
                <a:ea typeface="Arial" charset="0"/>
                <a:cs typeface="Arial" charset="0"/>
              </a:rPr>
              <a:t>Internet’s Communication Properties</a:t>
            </a:r>
          </a:p>
        </p:txBody>
      </p:sp>
      <p:sp>
        <p:nvSpPr>
          <p:cNvPr id="13315" name="Shape 84"/>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The Internet supports </a:t>
            </a:r>
            <a:r>
              <a:rPr lang="en-US" altLang="it-IT" sz="3200" i="1">
                <a:latin typeface="Arial" charset="0"/>
                <a:ea typeface="Arial" charset="0"/>
                <a:cs typeface="Arial" charset="0"/>
              </a:rPr>
              <a:t>point-to-point</a:t>
            </a:r>
            <a:r>
              <a:rPr lang="en-US" altLang="it-IT" sz="3200">
                <a:latin typeface="Arial" charset="0"/>
                <a:ea typeface="Arial" charset="0"/>
                <a:cs typeface="Arial" charset="0"/>
              </a:rPr>
              <a:t> </a:t>
            </a:r>
            <a:r>
              <a:rPr lang="en-US" altLang="it-IT" sz="3200" i="1">
                <a:latin typeface="Arial" charset="0"/>
                <a:ea typeface="Arial" charset="0"/>
                <a:cs typeface="Arial" charset="0"/>
              </a:rPr>
              <a:t>asynchronous</a:t>
            </a:r>
            <a:r>
              <a:rPr lang="en-US" altLang="it-IT" sz="3200">
                <a:latin typeface="Arial" charset="0"/>
                <a:ea typeface="Arial" charset="0"/>
                <a:cs typeface="Arial" charset="0"/>
              </a:rPr>
              <a:t> communication</a:t>
            </a:r>
          </a:p>
          <a:p>
            <a:pPr indent="-342900">
              <a:spcBef>
                <a:spcPts val="600"/>
              </a:spcBef>
              <a:spcAft>
                <a:spcPct val="0"/>
              </a:spcAft>
              <a:buClr>
                <a:srgbClr val="000000"/>
              </a:buClr>
              <a:buFontTx/>
              <a:buChar char="•"/>
            </a:pPr>
            <a:r>
              <a:rPr lang="en-US" altLang="it-IT" sz="3200">
                <a:latin typeface="Arial" charset="0"/>
                <a:ea typeface="Arial" charset="0"/>
                <a:cs typeface="Arial" charset="0"/>
              </a:rPr>
              <a:t>The Internet provides a general communication “fabric” linking all computers connected to it</a:t>
            </a:r>
          </a:p>
          <a:p>
            <a:pPr indent="-342900">
              <a:spcBef>
                <a:spcPts val="600"/>
              </a:spcBef>
              <a:spcAft>
                <a:spcPct val="0"/>
              </a:spcAft>
              <a:buClr>
                <a:srgbClr val="000000"/>
              </a:buClr>
              <a:buFontTx/>
              <a:buChar char="•"/>
            </a:pPr>
            <a:r>
              <a:rPr lang="en-US" altLang="it-IT" sz="3200">
                <a:latin typeface="Arial" charset="0"/>
                <a:ea typeface="Arial" charset="0"/>
                <a:cs typeface="Arial" charset="0"/>
              </a:rPr>
              <a:t>Computers and the network become a single medium </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9</a:t>
            </a:fld>
            <a:endParaRPr lang="nb-NO"/>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hape 89"/>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sz="3600">
                <a:latin typeface="Arial" charset="0"/>
                <a:ea typeface="Arial" charset="0"/>
                <a:cs typeface="Arial" charset="0"/>
              </a:rPr>
              <a:t>Internet’s Communication Properties</a:t>
            </a:r>
          </a:p>
        </p:txBody>
      </p:sp>
      <p:sp>
        <p:nvSpPr>
          <p:cNvPr id="15363" name="Shape 90"/>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The Internet is fast enough to mimic </a:t>
            </a:r>
            <a:r>
              <a:rPr lang="en-US" altLang="it-IT" sz="3200" i="1">
                <a:latin typeface="Arial" charset="0"/>
                <a:ea typeface="Arial" charset="0"/>
                <a:cs typeface="Arial" charset="0"/>
              </a:rPr>
              <a:t>synchronous</a:t>
            </a:r>
            <a:r>
              <a:rPr lang="en-US" altLang="it-IT" sz="3200">
                <a:latin typeface="Arial" charset="0"/>
                <a:ea typeface="Arial" charset="0"/>
                <a:cs typeface="Arial" charset="0"/>
              </a:rPr>
              <a:t> communication (like using a phone)</a:t>
            </a:r>
          </a:p>
          <a:p>
            <a:pPr indent="-342900">
              <a:spcBef>
                <a:spcPts val="600"/>
              </a:spcBef>
              <a:spcAft>
                <a:spcPct val="0"/>
              </a:spcAft>
              <a:buClr>
                <a:srgbClr val="000000"/>
              </a:buClr>
              <a:buFontTx/>
              <a:buChar char="•"/>
            </a:pPr>
            <a:r>
              <a:rPr lang="en-US" altLang="it-IT" sz="3200" i="1">
                <a:latin typeface="Arial" charset="0"/>
                <a:ea typeface="Arial" charset="0"/>
                <a:cs typeface="Arial" charset="0"/>
              </a:rPr>
              <a:t>Multicasting</a:t>
            </a:r>
            <a:r>
              <a:rPr lang="en-US" altLang="it-IT" sz="3200">
                <a:latin typeface="Arial" charset="0"/>
                <a:ea typeface="Arial" charset="0"/>
                <a:cs typeface="Arial" charset="0"/>
              </a:rPr>
              <a:t> is also possible, allowing groups to communicate in chat rooms</a:t>
            </a:r>
          </a:p>
          <a:p>
            <a:pPr indent="-342900">
              <a:spcBef>
                <a:spcPts val="600"/>
              </a:spcBef>
              <a:spcAft>
                <a:spcPct val="0"/>
              </a:spcAft>
              <a:buClr>
                <a:srgbClr val="000000"/>
              </a:buClr>
              <a:buFontTx/>
              <a:buChar char="•"/>
            </a:pPr>
            <a:r>
              <a:rPr lang="en-US" altLang="it-IT" sz="3200">
                <a:latin typeface="Arial" charset="0"/>
                <a:ea typeface="Arial" charset="0"/>
                <a:cs typeface="Arial" charset="0"/>
              </a:rPr>
              <a:t>You can post video that can be accessed by anyone, as a form of broadcasting (compares with radio or television)</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10</a:t>
            </a:fld>
            <a:endParaRPr lang="nb-NO"/>
          </a:p>
        </p:txBody>
      </p: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hape 95"/>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sz="3600">
                <a:latin typeface="Arial" charset="0"/>
                <a:ea typeface="Arial" charset="0"/>
                <a:cs typeface="Arial" charset="0"/>
              </a:rPr>
              <a:t>Internet’s Communication Properties</a:t>
            </a:r>
          </a:p>
        </p:txBody>
      </p:sp>
      <p:sp>
        <p:nvSpPr>
          <p:cNvPr id="17411" name="Shape 96"/>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The Internet is a universal communication medium</a:t>
            </a:r>
          </a:p>
          <a:p>
            <a:pPr indent="-342900">
              <a:spcBef>
                <a:spcPts val="600"/>
              </a:spcBef>
              <a:spcAft>
                <a:spcPct val="0"/>
              </a:spcAft>
              <a:buClr>
                <a:srgbClr val="000000"/>
              </a:buClr>
              <a:buFontTx/>
              <a:buChar char="•"/>
            </a:pPr>
            <a:r>
              <a:rPr lang="en-US" altLang="it-IT" sz="3200">
                <a:latin typeface="Arial" charset="0"/>
                <a:ea typeface="Arial" charset="0"/>
                <a:cs typeface="Arial" charset="0"/>
              </a:rPr>
              <a:t>The Internet also becomes more </a:t>
            </a:r>
            <a:r>
              <a:rPr lang="en-US" altLang="it-IT" sz="3200" i="1">
                <a:latin typeface="Arial" charset="0"/>
                <a:ea typeface="Arial" charset="0"/>
                <a:cs typeface="Arial" charset="0"/>
              </a:rPr>
              <a:t>effective</a:t>
            </a:r>
            <a:r>
              <a:rPr lang="en-US" altLang="it-IT" sz="3200">
                <a:latin typeface="Arial" charset="0"/>
                <a:ea typeface="Arial" charset="0"/>
                <a:cs typeface="Arial" charset="0"/>
              </a:rPr>
              <a:t> with each additional computer added</a:t>
            </a:r>
          </a:p>
          <a:p>
            <a:pPr lvl="1" indent="-285750">
              <a:spcAft>
                <a:spcPct val="0"/>
              </a:spcAft>
              <a:buClr>
                <a:srgbClr val="000000"/>
              </a:buClr>
              <a:buFontTx/>
              <a:buChar char="–"/>
            </a:pPr>
            <a:r>
              <a:rPr lang="en-US" altLang="it-IT" sz="2800">
                <a:latin typeface="Arial" charset="0"/>
                <a:ea typeface="Arial" charset="0"/>
                <a:cs typeface="Arial" charset="0"/>
              </a:rPr>
              <a:t>If </a:t>
            </a:r>
            <a:r>
              <a:rPr lang="en-US" altLang="it-IT" sz="2800" i="1">
                <a:latin typeface="Arial" charset="0"/>
                <a:ea typeface="Arial" charset="0"/>
                <a:cs typeface="Arial" charset="0"/>
              </a:rPr>
              <a:t>x </a:t>
            </a:r>
            <a:r>
              <a:rPr lang="en-US" altLang="it-IT" sz="2800">
                <a:latin typeface="Arial" charset="0"/>
                <a:ea typeface="Arial" charset="0"/>
                <a:cs typeface="Arial" charset="0"/>
              </a:rPr>
              <a:t>computers are already attached to the Internet, adding one more results in </a:t>
            </a:r>
            <a:r>
              <a:rPr lang="en-US" altLang="it-IT" sz="2800" i="1">
                <a:latin typeface="Arial" charset="0"/>
                <a:ea typeface="Arial" charset="0"/>
                <a:cs typeface="Arial" charset="0"/>
              </a:rPr>
              <a:t>x </a:t>
            </a:r>
            <a:r>
              <a:rPr lang="en-US" altLang="it-IT" sz="2800">
                <a:latin typeface="Arial" charset="0"/>
                <a:ea typeface="Arial" charset="0"/>
                <a:cs typeface="Arial" charset="0"/>
              </a:rPr>
              <a:t>potential new connections!</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11</a:t>
            </a:fld>
            <a:endParaRPr lang="nb-NO"/>
          </a:p>
        </p:txBody>
      </p:sp>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hape 101"/>
          <p:cNvSpPr txBox="1">
            <a:spLocks noGrp="1"/>
          </p:cNvSpPr>
          <p:nvPr>
            <p:ph type="title"/>
          </p:nvPr>
        </p:nvSpPr>
        <p:spPr>
          <a:xfrm>
            <a:off x="1981200" y="274638"/>
            <a:ext cx="8229600" cy="1143000"/>
          </a:xfrm>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Internet Schematic Diagram</a:t>
            </a:r>
          </a:p>
        </p:txBody>
      </p:sp>
      <p:pic>
        <p:nvPicPr>
          <p:cNvPr id="19459"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24164" y="1952625"/>
            <a:ext cx="6543675"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12</a:t>
            </a:fld>
            <a:endParaRPr lang="nb-NO"/>
          </a:p>
        </p:txBody>
      </p:sp>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hape 107"/>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Client/Server Structure</a:t>
            </a:r>
          </a:p>
        </p:txBody>
      </p:sp>
      <p:sp>
        <p:nvSpPr>
          <p:cNvPr id="21507" name="Shape 108"/>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a:latin typeface="Arial" charset="0"/>
                <a:ea typeface="Arial" charset="0"/>
                <a:cs typeface="Arial" charset="0"/>
              </a:rPr>
              <a:t>Most interactions over the Internet use the </a:t>
            </a:r>
            <a:r>
              <a:rPr lang="en-US" altLang="it-IT" i="1">
                <a:latin typeface="Arial" charset="0"/>
                <a:ea typeface="Arial" charset="0"/>
                <a:cs typeface="Arial" charset="0"/>
              </a:rPr>
              <a:t>client/server interaction </a:t>
            </a:r>
            <a:r>
              <a:rPr lang="en-US" altLang="it-IT">
                <a:latin typeface="Arial" charset="0"/>
                <a:ea typeface="Arial" charset="0"/>
                <a:cs typeface="Arial" charset="0"/>
              </a:rPr>
              <a:t>protocol:</a:t>
            </a:r>
          </a:p>
          <a:p>
            <a:pPr lvl="1" indent="-285750">
              <a:spcBef>
                <a:spcPts val="400"/>
              </a:spcBef>
              <a:spcAft>
                <a:spcPct val="0"/>
              </a:spcAft>
              <a:buClr>
                <a:srgbClr val="000000"/>
              </a:buClr>
              <a:buFontTx/>
              <a:buChar char="–"/>
            </a:pPr>
            <a:r>
              <a:rPr lang="en-US" altLang="it-IT">
                <a:latin typeface="Arial" charset="0"/>
                <a:ea typeface="Arial" charset="0"/>
                <a:cs typeface="Arial" charset="0"/>
              </a:rPr>
              <a:t>When you click a Web link, your computer gets the page for you...beginning the client/server interaction</a:t>
            </a:r>
          </a:p>
          <a:p>
            <a:pPr lvl="2">
              <a:spcBef>
                <a:spcPts val="400"/>
              </a:spcBef>
              <a:spcAft>
                <a:spcPct val="0"/>
              </a:spcAft>
              <a:buClr>
                <a:srgbClr val="000000"/>
              </a:buClr>
              <a:buFontTx/>
              <a:buChar char="•"/>
            </a:pPr>
            <a:r>
              <a:rPr lang="en-US" altLang="it-IT">
                <a:latin typeface="Arial" charset="0"/>
                <a:ea typeface="Arial" charset="0"/>
                <a:cs typeface="Arial" charset="0"/>
              </a:rPr>
              <a:t>Your computer is the </a:t>
            </a:r>
            <a:r>
              <a:rPr lang="en-US" altLang="it-IT" i="1">
                <a:latin typeface="Arial" charset="0"/>
                <a:ea typeface="Arial" charset="0"/>
                <a:cs typeface="Arial" charset="0"/>
              </a:rPr>
              <a:t>client</a:t>
            </a:r>
            <a:r>
              <a:rPr lang="en-US" altLang="it-IT">
                <a:latin typeface="Arial" charset="0"/>
                <a:ea typeface="Arial" charset="0"/>
                <a:cs typeface="Arial" charset="0"/>
              </a:rPr>
              <a:t> computer and the computer with the Web page is the </a:t>
            </a:r>
            <a:r>
              <a:rPr lang="en-US" altLang="it-IT" i="1">
                <a:latin typeface="Arial" charset="0"/>
                <a:ea typeface="Arial" charset="0"/>
                <a:cs typeface="Arial" charset="0"/>
              </a:rPr>
              <a:t>server</a:t>
            </a:r>
            <a:r>
              <a:rPr lang="en-US" altLang="it-IT">
                <a:latin typeface="Arial" charset="0"/>
                <a:ea typeface="Arial" charset="0"/>
                <a:cs typeface="Arial" charset="0"/>
              </a:rPr>
              <a:t> (</a:t>
            </a:r>
            <a:r>
              <a:rPr lang="en-US" altLang="it-IT" b="1">
                <a:latin typeface="Arial" charset="0"/>
                <a:ea typeface="Arial" charset="0"/>
                <a:cs typeface="Arial" charset="0"/>
              </a:rPr>
              <a:t>Web server</a:t>
            </a:r>
            <a:r>
              <a:rPr lang="en-US" altLang="it-IT">
                <a:latin typeface="Arial" charset="0"/>
                <a:ea typeface="Arial" charset="0"/>
                <a:cs typeface="Arial" charset="0"/>
              </a:rPr>
              <a:t>)</a:t>
            </a:r>
          </a:p>
          <a:p>
            <a:pPr lvl="2">
              <a:spcBef>
                <a:spcPts val="400"/>
              </a:spcBef>
              <a:spcAft>
                <a:spcPct val="0"/>
              </a:spcAft>
              <a:buClr>
                <a:srgbClr val="000000"/>
              </a:buClr>
              <a:buFontTx/>
              <a:buChar char="•"/>
            </a:pPr>
            <a:r>
              <a:rPr lang="en-US" altLang="it-IT">
                <a:latin typeface="Arial" charset="0"/>
                <a:ea typeface="Arial" charset="0"/>
                <a:cs typeface="Arial" charset="0"/>
              </a:rPr>
              <a:t>The </a:t>
            </a:r>
            <a:r>
              <a:rPr lang="en-US" altLang="it-IT" i="1">
                <a:latin typeface="Arial" charset="0"/>
                <a:ea typeface="Arial" charset="0"/>
                <a:cs typeface="Arial" charset="0"/>
              </a:rPr>
              <a:t>client, </a:t>
            </a:r>
            <a:r>
              <a:rPr lang="en-US" altLang="it-IT">
                <a:latin typeface="Arial" charset="0"/>
                <a:ea typeface="Arial" charset="0"/>
                <a:cs typeface="Arial" charset="0"/>
              </a:rPr>
              <a:t>gets services from the </a:t>
            </a:r>
            <a:r>
              <a:rPr lang="en-US" altLang="it-IT" i="1">
                <a:latin typeface="Arial" charset="0"/>
                <a:ea typeface="Arial" charset="0"/>
                <a:cs typeface="Arial" charset="0"/>
              </a:rPr>
              <a:t>server</a:t>
            </a:r>
          </a:p>
          <a:p>
            <a:pPr lvl="1" indent="-285750">
              <a:spcBef>
                <a:spcPts val="400"/>
              </a:spcBef>
              <a:spcAft>
                <a:spcPct val="0"/>
              </a:spcAft>
              <a:buClr>
                <a:srgbClr val="000000"/>
              </a:buClr>
              <a:buFontTx/>
              <a:buChar char="–"/>
            </a:pPr>
            <a:r>
              <a:rPr lang="en-US" altLang="it-IT">
                <a:latin typeface="Arial" charset="0"/>
                <a:ea typeface="Arial" charset="0"/>
                <a:cs typeface="Arial" charset="0"/>
              </a:rPr>
              <a:t>When the page is returned, the operation is completed and the client/server relationship ends</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13</a:t>
            </a:fld>
            <a:endParaRPr lang="nb-NO"/>
          </a:p>
        </p:txBody>
      </p:sp>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hape 113"/>
          <p:cNvSpPr txBox="1">
            <a:spLocks noGrp="1"/>
          </p:cNvSpPr>
          <p:nvPr>
            <p:ph type="title"/>
          </p:nvPr>
        </p:nvSpPr>
        <p:spPr>
          <a:xfrm>
            <a:off x="1981200" y="274638"/>
            <a:ext cx="8229600" cy="1143000"/>
          </a:xfrm>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Basic Client/Server Interaction</a:t>
            </a:r>
          </a:p>
        </p:txBody>
      </p:sp>
      <p:pic>
        <p:nvPicPr>
          <p:cNvPr id="23555" name="Shape 114"/>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4513" y="1905000"/>
            <a:ext cx="6324600" cy="3200400"/>
          </a:xfrm>
          <a:prstGeom prst="rect">
            <a:avLst/>
          </a:prstGeom>
          <a:noFill/>
          <a:ln w="9525">
            <a:solidFill>
              <a:srgbClr val="262672"/>
            </a:solidFill>
            <a:miter lim="800000"/>
            <a:headEnd/>
            <a:tailEnd/>
          </a:ln>
          <a:extLst>
            <a:ext uri="{909E8E84-426E-40DD-AFC4-6F175D3DCCD1}">
              <a14:hiddenFill xmlns:a14="http://schemas.microsoft.com/office/drawing/2010/main">
                <a:solidFill>
                  <a:srgbClr val="FFFFFF"/>
                </a:solidFill>
              </a14:hiddenFill>
            </a:ext>
          </a:extLst>
        </p:spPr>
      </p:pic>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14</a:t>
            </a:fld>
            <a:endParaRPr lang="nb-NO"/>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hape 119"/>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Client/Server Structure</a:t>
            </a:r>
          </a:p>
        </p:txBody>
      </p:sp>
      <p:sp>
        <p:nvSpPr>
          <p:cNvPr id="25603" name="Shape 120"/>
          <p:cNvSpPr txBox="1">
            <a:spLocks noGrp="1"/>
          </p:cNvSpPr>
          <p:nvPr>
            <p:ph idx="1"/>
          </p:nvPr>
        </p:nvSpPr>
        <p:spPr/>
        <p:txBody>
          <a:bodyPr vert="horz" lIns="91440" tIns="45700" rIns="91440" bIns="45700" rtlCol="0">
            <a:normAutofit/>
          </a:bodyPr>
          <a:lstStyle/>
          <a:p>
            <a:pPr indent="-355600">
              <a:spcBef>
                <a:spcPct val="0"/>
              </a:spcBef>
              <a:spcAft>
                <a:spcPct val="0"/>
              </a:spcAft>
              <a:buClr>
                <a:srgbClr val="000000"/>
              </a:buClr>
              <a:buFontTx/>
              <a:buChar char="•"/>
            </a:pPr>
            <a:r>
              <a:rPr lang="en-US" altLang="it-IT" sz="3000">
                <a:latin typeface="Arial" charset="0"/>
                <a:ea typeface="Arial" charset="0"/>
                <a:cs typeface="Arial" charset="0"/>
              </a:rPr>
              <a:t>The client/server structure is fundamental to Internet interactions</a:t>
            </a:r>
          </a:p>
          <a:p>
            <a:pPr indent="-355600">
              <a:spcBef>
                <a:spcPts val="500"/>
              </a:spcBef>
              <a:spcAft>
                <a:spcPct val="0"/>
              </a:spcAft>
              <a:buClr>
                <a:srgbClr val="000000"/>
              </a:buClr>
              <a:buFontTx/>
              <a:buChar char="•"/>
            </a:pPr>
            <a:r>
              <a:rPr lang="en-US" altLang="it-IT" sz="3000">
                <a:latin typeface="Arial" charset="0"/>
                <a:ea typeface="Arial" charset="0"/>
                <a:cs typeface="Arial" charset="0"/>
              </a:rPr>
              <a:t>A key aspect is that only a single service request and response are involved</a:t>
            </a:r>
          </a:p>
          <a:p>
            <a:pPr indent="-355600">
              <a:spcBef>
                <a:spcPts val="500"/>
              </a:spcBef>
              <a:spcAft>
                <a:spcPct val="0"/>
              </a:spcAft>
              <a:buClr>
                <a:srgbClr val="000000"/>
              </a:buClr>
              <a:buFontTx/>
              <a:buChar char="•"/>
            </a:pPr>
            <a:r>
              <a:rPr lang="en-US" altLang="it-IT" sz="3000">
                <a:latin typeface="Arial" charset="0"/>
                <a:ea typeface="Arial" charset="0"/>
                <a:cs typeface="Arial" charset="0"/>
              </a:rPr>
              <a:t>The </a:t>
            </a:r>
            <a:r>
              <a:rPr lang="en-US" altLang="it-IT" sz="3000" i="1">
                <a:latin typeface="Arial" charset="0"/>
                <a:ea typeface="Arial" charset="0"/>
                <a:cs typeface="Arial" charset="0"/>
              </a:rPr>
              <a:t>relationship</a:t>
            </a:r>
            <a:r>
              <a:rPr lang="en-US" altLang="it-IT" sz="3000">
                <a:latin typeface="Arial" charset="0"/>
                <a:ea typeface="Arial" charset="0"/>
                <a:cs typeface="Arial" charset="0"/>
              </a:rPr>
              <a:t> is very brief relationship, lasting from the moment the request is sent to the moment the service is received</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15</a:t>
            </a:fld>
            <a:endParaRPr lang="nb-NO"/>
          </a:p>
        </p:txBody>
      </p:sp>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hape 125"/>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Many Brief Relationships</a:t>
            </a:r>
          </a:p>
        </p:txBody>
      </p:sp>
      <p:sp>
        <p:nvSpPr>
          <p:cNvPr id="27651" name="Shape 126"/>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This approach means that the server can handle many clients at a time</a:t>
            </a:r>
          </a:p>
          <a:p>
            <a:pPr indent="-342900">
              <a:spcBef>
                <a:spcPts val="600"/>
              </a:spcBef>
              <a:spcAft>
                <a:spcPct val="0"/>
              </a:spcAft>
              <a:buClr>
                <a:srgbClr val="000000"/>
              </a:buClr>
              <a:buFontTx/>
              <a:buChar char="•"/>
            </a:pPr>
            <a:r>
              <a:rPr lang="en-US" altLang="it-IT" sz="3200">
                <a:latin typeface="Arial" charset="0"/>
                <a:ea typeface="Arial" charset="0"/>
                <a:cs typeface="Arial" charset="0"/>
              </a:rPr>
              <a:t>For example, between two consecutive client requests from your browser (getting a page and asking for another) that server could have serviced hundreds of other clients</a:t>
            </a:r>
          </a:p>
          <a:p>
            <a:pPr indent="-342900">
              <a:spcBef>
                <a:spcPts val="600"/>
              </a:spcBef>
              <a:spcAft>
                <a:spcPct val="0"/>
              </a:spcAft>
              <a:buClr>
                <a:srgbClr val="000000"/>
              </a:buClr>
              <a:buFontTx/>
              <a:buChar char="•"/>
            </a:pPr>
            <a:r>
              <a:rPr lang="en-US" altLang="it-IT" sz="3200">
                <a:latin typeface="Arial" charset="0"/>
                <a:ea typeface="Arial" charset="0"/>
                <a:cs typeface="Arial" charset="0"/>
              </a:rPr>
              <a:t>The server is busy only for as long as it takes to perform your request</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16</a:t>
            </a:fld>
            <a:endParaRPr lang="nb-NO"/>
          </a:p>
        </p:txBody>
      </p: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hape 131"/>
          <p:cNvSpPr txBox="1">
            <a:spLocks noGrp="1"/>
          </p:cNvSpPr>
          <p:nvPr>
            <p:ph type="title"/>
          </p:nvPr>
        </p:nvSpPr>
        <p:spPr>
          <a:xfrm>
            <a:off x="1981200" y="274638"/>
            <a:ext cx="8229600" cy="1143000"/>
          </a:xfrm>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Client/Server Relationships</a:t>
            </a:r>
          </a:p>
        </p:txBody>
      </p:sp>
      <p:pic>
        <p:nvPicPr>
          <p:cNvPr id="29699" name="Shape 132"/>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0638" y="1724026"/>
            <a:ext cx="7040562" cy="4219575"/>
          </a:xfrm>
          <a:prstGeom prst="rect">
            <a:avLst/>
          </a:prstGeom>
          <a:noFill/>
          <a:ln w="9525" cap="rnd">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17</a:t>
            </a:fld>
            <a:endParaRPr lang="nb-NO"/>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hape 137"/>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Getting More Connected</a:t>
            </a:r>
          </a:p>
        </p:txBody>
      </p:sp>
      <p:sp>
        <p:nvSpPr>
          <p:cNvPr id="31747" name="Shape 138"/>
          <p:cNvSpPr txBox="1">
            <a:spLocks noGrp="1"/>
          </p:cNvSpPr>
          <p:nvPr>
            <p:ph idx="1"/>
          </p:nvPr>
        </p:nvSpPr>
        <p:spPr/>
        <p:txBody>
          <a:bodyPr vert="horz" lIns="91440" tIns="45700" rIns="91440" bIns="45700" rtlCol="0">
            <a:normAutofit/>
          </a:bodyPr>
          <a:lstStyle/>
          <a:p>
            <a:pPr marL="457200" indent="-419100">
              <a:spcBef>
                <a:spcPct val="0"/>
              </a:spcBef>
              <a:spcAft>
                <a:spcPct val="0"/>
              </a:spcAft>
              <a:buClr>
                <a:srgbClr val="000000"/>
              </a:buClr>
              <a:buFont typeface="Arial" charset="0"/>
              <a:buChar char="●"/>
            </a:pPr>
            <a:r>
              <a:rPr lang="en-US" altLang="it-IT" sz="3000">
                <a:latin typeface="Arial" charset="0"/>
                <a:cs typeface="Arial" charset="0"/>
              </a:rPr>
              <a:t>The Internet is primarily a point-to-point asynchronous communication system</a:t>
            </a:r>
          </a:p>
          <a:p>
            <a:pPr marL="457200" indent="-419100">
              <a:spcBef>
                <a:spcPct val="0"/>
              </a:spcBef>
              <a:spcAft>
                <a:spcPct val="0"/>
              </a:spcAft>
              <a:buClr>
                <a:srgbClr val="000000"/>
              </a:buClr>
              <a:buFont typeface="Arial" charset="0"/>
              <a:buChar char="●"/>
            </a:pPr>
            <a:r>
              <a:rPr lang="en-US" altLang="it-IT" sz="3000">
                <a:latin typeface="Arial" charset="0"/>
                <a:cs typeface="Arial" charset="0"/>
              </a:rPr>
              <a:t>Software has been built to implement the many forms of communication</a:t>
            </a:r>
          </a:p>
          <a:p>
            <a:pPr marL="457200" indent="-419100">
              <a:spcBef>
                <a:spcPct val="0"/>
              </a:spcBef>
              <a:spcAft>
                <a:spcPct val="0"/>
              </a:spcAft>
              <a:buClr>
                <a:srgbClr val="000000"/>
              </a:buClr>
              <a:buFont typeface="Arial" charset="0"/>
              <a:buChar char="●"/>
            </a:pPr>
            <a:r>
              <a:rPr lang="en-US" altLang="it-IT" sz="3000">
                <a:latin typeface="Arial" charset="0"/>
                <a:cs typeface="Arial" charset="0"/>
              </a:rPr>
              <a:t>A video chat client seems to have a constant connection, but actually “slices up” the computer’s sound and video signals into into chunks, and sends each chunk separately</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18</a:t>
            </a:fld>
            <a:endParaRPr lang="nb-NO"/>
          </a:p>
        </p:txBody>
      </p:sp>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hape 143"/>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Getting More Connected</a:t>
            </a:r>
          </a:p>
        </p:txBody>
      </p:sp>
      <p:sp>
        <p:nvSpPr>
          <p:cNvPr id="33795" name="Shape 144"/>
          <p:cNvSpPr txBox="1">
            <a:spLocks noGrp="1"/>
          </p:cNvSpPr>
          <p:nvPr>
            <p:ph idx="1"/>
          </p:nvPr>
        </p:nvSpPr>
        <p:spPr/>
        <p:txBody>
          <a:bodyPr vert="horz" lIns="91440" tIns="45700" rIns="91440" bIns="45700" rtlCol="0">
            <a:normAutofit/>
          </a:bodyPr>
          <a:lstStyle/>
          <a:p>
            <a:pPr marL="457200" indent="-419100">
              <a:spcBef>
                <a:spcPct val="0"/>
              </a:spcBef>
              <a:spcAft>
                <a:spcPct val="0"/>
              </a:spcAft>
              <a:buClr>
                <a:srgbClr val="000000"/>
              </a:buClr>
              <a:buFont typeface="Arial" charset="0"/>
              <a:buChar char="●"/>
            </a:pPr>
            <a:r>
              <a:rPr lang="en-US" altLang="it-IT" sz="3000">
                <a:latin typeface="Arial" charset="0"/>
                <a:cs typeface="Arial" charset="0"/>
              </a:rPr>
              <a:t>Content is transferred to the other party, whose client reassembles the sound and image for display</a:t>
            </a:r>
          </a:p>
          <a:p>
            <a:pPr marL="457200" indent="-419100">
              <a:spcBef>
                <a:spcPct val="0"/>
              </a:spcBef>
              <a:spcAft>
                <a:spcPct val="0"/>
              </a:spcAft>
              <a:buClr>
                <a:srgbClr val="000000"/>
              </a:buClr>
              <a:buFont typeface="Arial" charset="0"/>
              <a:buChar char="●"/>
            </a:pPr>
            <a:r>
              <a:rPr lang="en-US" altLang="it-IT" sz="3000">
                <a:latin typeface="Arial" charset="0"/>
                <a:cs typeface="Arial" charset="0"/>
              </a:rPr>
              <a:t>This process relies on fast and reliable transmission to simulate a direct connection</a:t>
            </a:r>
          </a:p>
          <a:p>
            <a:pPr marL="457200" indent="-419100">
              <a:spcBef>
                <a:spcPct val="0"/>
              </a:spcBef>
              <a:spcAft>
                <a:spcPct val="0"/>
              </a:spcAft>
              <a:buClr>
                <a:srgbClr val="000000"/>
              </a:buClr>
              <a:buFont typeface="Arial" charset="0"/>
              <a:buChar char="●"/>
            </a:pPr>
            <a:r>
              <a:rPr lang="en-US" altLang="it-IT" sz="3000">
                <a:latin typeface="Arial" charset="0"/>
                <a:cs typeface="Arial" charset="0"/>
              </a:rPr>
              <a:t>The Internet Protocol is generally fast and reliable enough to work</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19</a:t>
            </a:fld>
            <a:endParaRPr lang="nb-NO"/>
          </a:p>
        </p:txBody>
      </p:sp>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hape 149"/>
          <p:cNvSpPr txBox="1">
            <a:spLocks noGrp="1"/>
          </p:cNvSpPr>
          <p:nvPr>
            <p:ph type="title"/>
          </p:nvPr>
        </p:nvSpPr>
        <p:spPr/>
        <p:txBody>
          <a:bodyPr/>
          <a:lstStyle/>
          <a:p>
            <a:pPr eaLnBrk="1" hangingPunct="1">
              <a:spcBef>
                <a:spcPct val="0"/>
              </a:spcBef>
              <a:spcAft>
                <a:spcPct val="0"/>
              </a:spcAft>
              <a:buClr>
                <a:srgbClr val="000000"/>
              </a:buClr>
            </a:pPr>
            <a:r>
              <a:rPr lang="en-US" altLang="it-IT">
                <a:latin typeface="Arial" charset="0"/>
                <a:ea typeface="Arial" charset="0"/>
                <a:cs typeface="Arial" charset="0"/>
              </a:rPr>
              <a:t>Appearing to Stay Connected</a:t>
            </a:r>
          </a:p>
        </p:txBody>
      </p:sp>
      <p:sp>
        <p:nvSpPr>
          <p:cNvPr id="35843" name="Shape 150"/>
          <p:cNvSpPr txBox="1">
            <a:spLocks noGrp="1"/>
          </p:cNvSpPr>
          <p:nvPr>
            <p:ph idx="1"/>
          </p:nvPr>
        </p:nvSpPr>
        <p:spPr/>
        <p:txBody>
          <a:bodyPr/>
          <a:lstStyle/>
          <a:p>
            <a:pPr marL="457200" indent="-419100">
              <a:spcBef>
                <a:spcPct val="0"/>
              </a:spcBef>
              <a:spcAft>
                <a:spcPct val="0"/>
              </a:spcAft>
              <a:buClr>
                <a:srgbClr val="000000"/>
              </a:buClr>
              <a:buFont typeface="Arial" charset="0"/>
              <a:buChar char="●"/>
            </a:pPr>
            <a:r>
              <a:rPr lang="en-US" altLang="it-IT" sz="3000">
                <a:latin typeface="Arial" charset="0"/>
                <a:ea typeface="Arial" charset="0"/>
                <a:cs typeface="Arial" charset="0"/>
              </a:rPr>
              <a:t>Even though users interact with a web site through multiple brief exchanges, many sites must give the appearance that these are part of a longer-lived connection</a:t>
            </a:r>
          </a:p>
          <a:p>
            <a:pPr marL="457200" indent="-419100">
              <a:spcBef>
                <a:spcPct val="0"/>
              </a:spcBef>
              <a:spcAft>
                <a:spcPct val="0"/>
              </a:spcAft>
              <a:buClr>
                <a:srgbClr val="000000"/>
              </a:buClr>
              <a:buFont typeface="Arial" charset="0"/>
              <a:buChar char="●"/>
            </a:pPr>
            <a:r>
              <a:rPr lang="en-US" altLang="it-IT" sz="3000">
                <a:latin typeface="Arial" charset="0"/>
                <a:ea typeface="Arial" charset="0"/>
                <a:cs typeface="Arial" charset="0"/>
              </a:rPr>
              <a:t>When using a bank web site, your login interaction must be associated with your transactions</a:t>
            </a:r>
          </a:p>
          <a:p>
            <a:pPr marL="457200" indent="-419100">
              <a:spcBef>
                <a:spcPct val="0"/>
              </a:spcBef>
              <a:spcAft>
                <a:spcPct val="0"/>
              </a:spcAft>
              <a:buClr>
                <a:srgbClr val="000000"/>
              </a:buClr>
              <a:buFont typeface="Arial" charset="0"/>
              <a:buChar char="●"/>
            </a:pPr>
            <a:r>
              <a:rPr lang="en-US" altLang="it-IT" sz="3000">
                <a:latin typeface="Arial" charset="0"/>
                <a:ea typeface="Arial" charset="0"/>
                <a:cs typeface="Arial" charset="0"/>
              </a:rPr>
              <a:t>When buying on-line, your purchases must be related to your shopping cart</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20</a:t>
            </a:fld>
            <a:endParaRPr lang="nb-NO"/>
          </a:p>
        </p:txBody>
      </p:sp>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hape 156"/>
          <p:cNvSpPr txBox="1">
            <a:spLocks noGrp="1"/>
          </p:cNvSpPr>
          <p:nvPr>
            <p:ph type="title"/>
          </p:nvPr>
        </p:nvSpPr>
        <p:spPr/>
        <p:txBody>
          <a:bodyPr/>
          <a:lstStyle/>
          <a:p>
            <a:pPr eaLnBrk="1" hangingPunct="1">
              <a:spcBef>
                <a:spcPct val="0"/>
              </a:spcBef>
              <a:spcAft>
                <a:spcPct val="0"/>
              </a:spcAft>
              <a:buClr>
                <a:srgbClr val="000000"/>
              </a:buClr>
            </a:pPr>
            <a:r>
              <a:rPr lang="en-US" altLang="it-IT">
                <a:latin typeface="Arial" charset="0"/>
                <a:ea typeface="Arial" charset="0"/>
                <a:cs typeface="Arial" charset="0"/>
              </a:rPr>
              <a:t>Appearing to Stay Connected</a:t>
            </a:r>
          </a:p>
        </p:txBody>
      </p:sp>
      <p:sp>
        <p:nvSpPr>
          <p:cNvPr id="157" name="Shape 157"/>
          <p:cNvSpPr txBox="1">
            <a:spLocks noGrp="1"/>
          </p:cNvSpPr>
          <p:nvPr>
            <p:ph idx="1"/>
          </p:nvPr>
        </p:nvSpPr>
        <p:spPr/>
        <p:txBody>
          <a:bodyPr>
            <a:noAutofit/>
          </a:bodyPr>
          <a:lstStyle/>
          <a:p>
            <a:pPr indent="0">
              <a:spcBef>
                <a:spcPts val="0"/>
              </a:spcBef>
              <a:buSzPct val="100000"/>
              <a:defRPr/>
            </a:pPr>
            <a:r>
              <a:rPr lang="en-US" sz="3200">
                <a:solidFill>
                  <a:schemeClr val="dk1"/>
                </a:solidFill>
                <a:sym typeface="Arial"/>
              </a:rPr>
              <a:t>Cookies</a:t>
            </a:r>
          </a:p>
          <a:p>
            <a:pPr lvl="1" indent="457200">
              <a:buSzPct val="100000"/>
              <a:defRPr/>
            </a:pPr>
            <a:r>
              <a:rPr lang="en-US" sz="2800">
                <a:solidFill>
                  <a:schemeClr val="dk1"/>
                </a:solidFill>
                <a:sym typeface="Arial"/>
              </a:rPr>
              <a:t>Server stores a small file on the client, that is returned with each request</a:t>
            </a:r>
          </a:p>
          <a:p>
            <a:pPr lvl="1" indent="457200">
              <a:buSzPct val="100000"/>
              <a:defRPr/>
            </a:pPr>
            <a:r>
              <a:rPr lang="en-US" sz="2800">
                <a:solidFill>
                  <a:schemeClr val="dk1"/>
                </a:solidFill>
                <a:sym typeface="Arial"/>
              </a:rPr>
              <a:t>Contains enough information to associate the interactions.</a:t>
            </a:r>
          </a:p>
          <a:p>
            <a:pPr indent="12700">
              <a:spcBef>
                <a:spcPts val="500"/>
              </a:spcBef>
              <a:buSzPct val="100000"/>
              <a:defRPr/>
            </a:pPr>
            <a:r>
              <a:rPr lang="en-US" sz="3000">
                <a:solidFill>
                  <a:schemeClr val="dk1"/>
                </a:solidFill>
                <a:sym typeface="Arial"/>
              </a:rPr>
              <a:t>URL Parameters</a:t>
            </a:r>
          </a:p>
          <a:p>
            <a:pPr lvl="1" indent="457200">
              <a:buSzPct val="100000"/>
              <a:defRPr/>
            </a:pPr>
            <a:r>
              <a:rPr lang="en-US" sz="2800">
                <a:solidFill>
                  <a:schemeClr val="dk1"/>
                </a:solidFill>
                <a:sym typeface="Arial"/>
              </a:rPr>
              <a:t>Information is added to the URL</a:t>
            </a:r>
          </a:p>
          <a:p>
            <a:pPr lvl="1" indent="457200">
              <a:buSzPct val="100000"/>
              <a:defRPr/>
            </a:pPr>
            <a:r>
              <a:rPr lang="en-US" sz="2800">
                <a:solidFill>
                  <a:schemeClr val="dk1"/>
                </a:solidFill>
                <a:sym typeface="Arial"/>
              </a:rPr>
              <a:t>You can see this in the URL created by a Google search</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21</a:t>
            </a:fld>
            <a:endParaRPr lang="nb-NO"/>
          </a:p>
        </p:txBody>
      </p:sp>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hape 163"/>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Computer Addresses</a:t>
            </a:r>
          </a:p>
        </p:txBody>
      </p:sp>
      <p:sp>
        <p:nvSpPr>
          <p:cNvPr id="39939" name="Shape 164"/>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IP Addresses</a:t>
            </a:r>
          </a:p>
          <a:p>
            <a:pPr lvl="1" indent="-285750">
              <a:spcAft>
                <a:spcPct val="0"/>
              </a:spcAft>
              <a:buClr>
                <a:srgbClr val="000000"/>
              </a:buClr>
              <a:buFontTx/>
              <a:buChar char="–"/>
            </a:pPr>
            <a:r>
              <a:rPr lang="en-US" altLang="it-IT" sz="2800">
                <a:latin typeface="Arial" charset="0"/>
                <a:ea typeface="Arial" charset="0"/>
                <a:cs typeface="Arial" charset="0"/>
              </a:rPr>
              <a:t>Each computer connected to the Internet is given a unique address called its </a:t>
            </a:r>
            <a:r>
              <a:rPr lang="en-US" altLang="it-IT" sz="2800" b="1">
                <a:latin typeface="Arial" charset="0"/>
                <a:ea typeface="Arial" charset="0"/>
                <a:cs typeface="Arial" charset="0"/>
              </a:rPr>
              <a:t>IP address</a:t>
            </a:r>
          </a:p>
          <a:p>
            <a:pPr lvl="1" indent="-285750">
              <a:spcAft>
                <a:spcPct val="0"/>
              </a:spcAft>
              <a:buClr>
                <a:srgbClr val="000000"/>
              </a:buClr>
              <a:buFontTx/>
              <a:buChar char="–"/>
            </a:pPr>
            <a:r>
              <a:rPr lang="en-US" altLang="it-IT" sz="2800">
                <a:latin typeface="Arial" charset="0"/>
                <a:ea typeface="Arial" charset="0"/>
                <a:cs typeface="Arial" charset="0"/>
              </a:rPr>
              <a:t>An IP address is a series of four numbers (one byte each) separated by dots</a:t>
            </a:r>
          </a:p>
          <a:p>
            <a:pPr lvl="1" indent="-285750">
              <a:spcAft>
                <a:spcPct val="0"/>
              </a:spcAft>
              <a:buClr>
                <a:srgbClr val="000000"/>
              </a:buClr>
              <a:buFontTx/>
              <a:buChar char="–"/>
            </a:pPr>
            <a:r>
              <a:rPr lang="en-US" altLang="it-IT" sz="2800">
                <a:latin typeface="Arial" charset="0"/>
                <a:ea typeface="Arial" charset="0"/>
                <a:cs typeface="Arial" charset="0"/>
              </a:rPr>
              <a:t>The range of each of these numbers (0–255) allows for billions of IP addresses</a:t>
            </a:r>
          </a:p>
          <a:p>
            <a:pPr lvl="1" indent="-285750">
              <a:spcAft>
                <a:spcPct val="0"/>
              </a:spcAft>
              <a:buClr>
                <a:srgbClr val="000000"/>
              </a:buClr>
              <a:buFontTx/>
              <a:buChar char="–"/>
            </a:pPr>
            <a:r>
              <a:rPr lang="en-US" altLang="it-IT" sz="2800">
                <a:latin typeface="Arial" charset="0"/>
                <a:ea typeface="Arial" charset="0"/>
                <a:cs typeface="Arial" charset="0"/>
              </a:rPr>
              <a:t>New IP addresses are in short supply</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22</a:t>
            </a:fld>
            <a:endParaRPr lang="nb-NO"/>
          </a:p>
        </p:txBody>
      </p:sp>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hape 169"/>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Computer Addresses</a:t>
            </a:r>
          </a:p>
        </p:txBody>
      </p:sp>
      <p:sp>
        <p:nvSpPr>
          <p:cNvPr id="41987" name="Shape 170"/>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Each message on the Internet is called an </a:t>
            </a:r>
            <a:r>
              <a:rPr lang="en-US" altLang="it-IT" sz="3200" i="1">
                <a:latin typeface="Arial" charset="0"/>
                <a:ea typeface="Arial" charset="0"/>
                <a:cs typeface="Arial" charset="0"/>
              </a:rPr>
              <a:t>IP packet</a:t>
            </a:r>
            <a:r>
              <a:rPr lang="en-US" altLang="it-IT" sz="3200">
                <a:latin typeface="Arial" charset="0"/>
                <a:ea typeface="Arial" charset="0"/>
                <a:cs typeface="Arial" charset="0"/>
              </a:rPr>
              <a:t>.</a:t>
            </a:r>
          </a:p>
          <a:p>
            <a:pPr indent="-342900">
              <a:spcBef>
                <a:spcPct val="0"/>
              </a:spcBef>
              <a:spcAft>
                <a:spcPct val="0"/>
              </a:spcAft>
              <a:buClr>
                <a:srgbClr val="000000"/>
              </a:buClr>
              <a:buFontTx/>
              <a:buChar char="•"/>
            </a:pPr>
            <a:r>
              <a:rPr lang="en-US" altLang="it-IT" sz="3200">
                <a:latin typeface="Arial" charset="0"/>
                <a:ea typeface="Arial" charset="0"/>
                <a:cs typeface="Arial" charset="0"/>
              </a:rPr>
              <a:t>Each packet is sent to a particular IP address.</a:t>
            </a:r>
          </a:p>
          <a:p>
            <a:pPr indent="-342900">
              <a:spcBef>
                <a:spcPct val="0"/>
              </a:spcBef>
              <a:spcAft>
                <a:spcPct val="0"/>
              </a:spcAft>
              <a:buClr>
                <a:srgbClr val="000000"/>
              </a:buClr>
              <a:buFontTx/>
              <a:buChar char="•"/>
            </a:pPr>
            <a:r>
              <a:rPr lang="en-US" altLang="it-IT" sz="3200">
                <a:latin typeface="Arial" charset="0"/>
                <a:ea typeface="Arial" charset="0"/>
                <a:cs typeface="Arial" charset="0"/>
              </a:rPr>
              <a:t>Each packet may take a different route to reach that address.</a:t>
            </a:r>
          </a:p>
          <a:p>
            <a:pPr indent="-342900">
              <a:spcBef>
                <a:spcPct val="0"/>
              </a:spcBef>
              <a:spcAft>
                <a:spcPct val="0"/>
              </a:spcAft>
              <a:buClr>
                <a:srgbClr val="000000"/>
              </a:buClr>
              <a:buFontTx/>
              <a:buChar char="•"/>
            </a:pPr>
            <a:r>
              <a:rPr lang="en-US" altLang="it-IT" sz="3200">
                <a:latin typeface="Arial" charset="0"/>
                <a:ea typeface="Arial" charset="0"/>
                <a:cs typeface="Arial" charset="0"/>
              </a:rPr>
              <a:t>A tool called </a:t>
            </a:r>
            <a:r>
              <a:rPr lang="en-US" altLang="it-IT" sz="3200" i="1">
                <a:latin typeface="Arial" charset="0"/>
                <a:ea typeface="Arial" charset="0"/>
                <a:cs typeface="Arial" charset="0"/>
              </a:rPr>
              <a:t>Traceroute</a:t>
            </a:r>
            <a:r>
              <a:rPr lang="en-US" altLang="it-IT" sz="3200">
                <a:latin typeface="Arial" charset="0"/>
                <a:ea typeface="Arial" charset="0"/>
                <a:cs typeface="Arial" charset="0"/>
              </a:rPr>
              <a:t> can display this route</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23</a:t>
            </a:fld>
            <a:endParaRPr lang="nb-NO"/>
          </a:p>
        </p:txBody>
      </p:sp>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hape 175"/>
          <p:cNvSpPr txBox="1">
            <a:spLocks noGrp="1"/>
          </p:cNvSpPr>
          <p:nvPr>
            <p:ph type="title"/>
          </p:nvPr>
        </p:nvSpPr>
        <p:spPr>
          <a:xfrm>
            <a:off x="1981200" y="274638"/>
            <a:ext cx="8229600" cy="1143000"/>
          </a:xfrm>
        </p:spPr>
        <p:txBody>
          <a:bodyPr/>
          <a:lstStyle/>
          <a:p>
            <a:pPr eaLnBrk="1" hangingPunct="1">
              <a:spcBef>
                <a:spcPct val="0"/>
              </a:spcBef>
              <a:spcAft>
                <a:spcPct val="0"/>
              </a:spcAft>
              <a:buClr>
                <a:srgbClr val="000000"/>
              </a:buClr>
            </a:pPr>
            <a:r>
              <a:rPr lang="en-US" altLang="it-IT" sz="4800">
                <a:latin typeface="Arial" charset="0"/>
                <a:ea typeface="Arial" charset="0"/>
                <a:cs typeface="Arial" charset="0"/>
              </a:rPr>
              <a:t>Traceroute</a:t>
            </a:r>
          </a:p>
        </p:txBody>
      </p:sp>
      <p:pic>
        <p:nvPicPr>
          <p:cNvPr id="44035"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19489" y="1333500"/>
            <a:ext cx="4848225" cy="480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24</a:t>
            </a:fld>
            <a:endParaRPr lang="nb-NO"/>
          </a:p>
        </p:txBody>
      </p:sp>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hape 182"/>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TCP/IP</a:t>
            </a:r>
          </a:p>
        </p:txBody>
      </p:sp>
      <p:sp>
        <p:nvSpPr>
          <p:cNvPr id="46083" name="Shape 183"/>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TCP/IP Postcard Analogy</a:t>
            </a:r>
          </a:p>
          <a:p>
            <a:pPr lvl="1" indent="-285750">
              <a:spcAft>
                <a:spcPct val="0"/>
              </a:spcAft>
              <a:buClr>
                <a:srgbClr val="000000"/>
              </a:buClr>
              <a:buFontTx/>
              <a:buChar char="–"/>
            </a:pPr>
            <a:r>
              <a:rPr lang="en-US" altLang="it-IT" sz="2800">
                <a:latin typeface="Arial" charset="0"/>
                <a:ea typeface="Arial" charset="0"/>
                <a:cs typeface="Arial" charset="0"/>
              </a:rPr>
              <a:t>The Internet is like sending a novel to your publisher using postcards</a:t>
            </a:r>
          </a:p>
          <a:p>
            <a:pPr lvl="1" indent="-285750">
              <a:spcAft>
                <a:spcPct val="0"/>
              </a:spcAft>
              <a:buClr>
                <a:srgbClr val="000000"/>
              </a:buClr>
              <a:buFontTx/>
              <a:buChar char="–"/>
            </a:pPr>
            <a:r>
              <a:rPr lang="en-US" altLang="it-IT" sz="2800">
                <a:latin typeface="Arial" charset="0"/>
                <a:ea typeface="Arial" charset="0"/>
                <a:cs typeface="Arial" charset="0"/>
              </a:rPr>
              <a:t>The novel is broken into small units that fit on a postcard</a:t>
            </a:r>
          </a:p>
          <a:p>
            <a:pPr lvl="1" indent="-285750">
              <a:spcAft>
                <a:spcPct val="0"/>
              </a:spcAft>
              <a:buClr>
                <a:srgbClr val="000000"/>
              </a:buClr>
              <a:buFontTx/>
              <a:buChar char="–"/>
            </a:pPr>
            <a:r>
              <a:rPr lang="en-US" altLang="it-IT" sz="2800">
                <a:latin typeface="Arial" charset="0"/>
                <a:ea typeface="Arial" charset="0"/>
                <a:cs typeface="Arial" charset="0"/>
              </a:rPr>
              <a:t>The “postcards” are numbered to indicate where each belongs in the novel</a:t>
            </a:r>
          </a:p>
          <a:p>
            <a:pPr lvl="1" indent="-285750">
              <a:spcAft>
                <a:spcPct val="0"/>
              </a:spcAft>
              <a:buClr>
                <a:srgbClr val="000000"/>
              </a:buClr>
              <a:buFontTx/>
              <a:buChar char="–"/>
            </a:pPr>
            <a:r>
              <a:rPr lang="en-US" altLang="it-IT" sz="2800">
                <a:latin typeface="Arial" charset="0"/>
                <a:ea typeface="Arial" charset="0"/>
                <a:cs typeface="Arial" charset="0"/>
              </a:rPr>
              <a:t>As each postcard is completed, it is mailed</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25</a:t>
            </a:fld>
            <a:endParaRPr lang="nb-NO"/>
          </a:p>
        </p:txBody>
      </p:sp>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hape 188"/>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b="1">
                <a:latin typeface="Arial" charset="0"/>
                <a:ea typeface="Arial" charset="0"/>
                <a:cs typeface="Arial" charset="0"/>
              </a:rPr>
              <a:t>TCP/IP</a:t>
            </a:r>
          </a:p>
        </p:txBody>
      </p:sp>
      <p:sp>
        <p:nvSpPr>
          <p:cNvPr id="48131" name="Shape 189"/>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TCP/IP Postcard Analogy</a:t>
            </a:r>
          </a:p>
          <a:p>
            <a:pPr lvl="1" indent="-285750">
              <a:spcAft>
                <a:spcPct val="0"/>
              </a:spcAft>
              <a:buClr>
                <a:srgbClr val="000000"/>
              </a:buClr>
              <a:buFontTx/>
              <a:buChar char="–"/>
            </a:pPr>
            <a:r>
              <a:rPr lang="en-US" altLang="it-IT" sz="2800">
                <a:latin typeface="Arial" charset="0"/>
                <a:ea typeface="Arial" charset="0"/>
                <a:cs typeface="Arial" charset="0"/>
              </a:rPr>
              <a:t>Sooner or later, your publisher receives the postcards, but not necessarily in sequential order</a:t>
            </a:r>
          </a:p>
          <a:p>
            <a:pPr lvl="1" indent="-285750">
              <a:spcAft>
                <a:spcPct val="0"/>
              </a:spcAft>
              <a:buClr>
                <a:srgbClr val="000000"/>
              </a:buClr>
              <a:buFontTx/>
              <a:buChar char="–"/>
            </a:pPr>
            <a:r>
              <a:rPr lang="en-US" altLang="it-IT" sz="2800">
                <a:latin typeface="Arial" charset="0"/>
                <a:ea typeface="Arial" charset="0"/>
                <a:cs typeface="Arial" charset="0"/>
              </a:rPr>
              <a:t>Nor do they take the same route</a:t>
            </a:r>
          </a:p>
          <a:p>
            <a:pPr lvl="1" indent="-285750">
              <a:spcAft>
                <a:spcPct val="0"/>
              </a:spcAft>
              <a:buClr>
                <a:srgbClr val="000000"/>
              </a:buClr>
              <a:buFontTx/>
              <a:buChar char="–"/>
            </a:pPr>
            <a:r>
              <a:rPr lang="en-US" altLang="it-IT" sz="2800">
                <a:latin typeface="Arial" charset="0"/>
                <a:ea typeface="Arial" charset="0"/>
                <a:cs typeface="Arial" charset="0"/>
              </a:rPr>
              <a:t>The cards are finally arranged in order</a:t>
            </a:r>
          </a:p>
          <a:p>
            <a:pPr lvl="1" indent="-285750">
              <a:spcAft>
                <a:spcPct val="0"/>
              </a:spcAft>
              <a:buClr>
                <a:srgbClr val="000000"/>
              </a:buClr>
              <a:buFontTx/>
              <a:buChar char="–"/>
            </a:pPr>
            <a:r>
              <a:rPr lang="en-US" altLang="it-IT" sz="2800">
                <a:latin typeface="Arial" charset="0"/>
                <a:ea typeface="Arial" charset="0"/>
                <a:cs typeface="Arial" charset="0"/>
              </a:rPr>
              <a:t>These “postcards” are the </a:t>
            </a:r>
            <a:r>
              <a:rPr lang="en-US" altLang="it-IT" sz="2800" b="1" i="1">
                <a:solidFill>
                  <a:srgbClr val="1E4649"/>
                </a:solidFill>
                <a:latin typeface="Arial" charset="0"/>
                <a:ea typeface="Arial" charset="0"/>
                <a:cs typeface="Arial" charset="0"/>
              </a:rPr>
              <a:t>IP packets</a:t>
            </a:r>
          </a:p>
          <a:p>
            <a:pPr lvl="2">
              <a:spcBef>
                <a:spcPts val="400"/>
              </a:spcBef>
              <a:spcAft>
                <a:spcPct val="0"/>
              </a:spcAft>
              <a:buClr>
                <a:srgbClr val="000000"/>
              </a:buClr>
              <a:buFontTx/>
              <a:buChar char="•"/>
            </a:pPr>
            <a:r>
              <a:rPr lang="en-US" altLang="it-IT" sz="2400">
                <a:latin typeface="Arial" charset="0"/>
                <a:ea typeface="Arial" charset="0"/>
                <a:cs typeface="Arial" charset="0"/>
              </a:rPr>
              <a:t>They hold</a:t>
            </a:r>
          </a:p>
          <a:p>
            <a:pPr lvl="3">
              <a:spcBef>
                <a:spcPts val="400"/>
              </a:spcBef>
              <a:spcAft>
                <a:spcPct val="0"/>
              </a:spcAft>
              <a:buClr>
                <a:srgbClr val="000000"/>
              </a:buClr>
              <a:buFontTx/>
              <a:buChar char="•"/>
            </a:pPr>
            <a:r>
              <a:rPr lang="en-US" altLang="it-IT" sz="2200">
                <a:latin typeface="Arial" charset="0"/>
                <a:ea typeface="Arial" charset="0"/>
                <a:cs typeface="Arial" charset="0"/>
              </a:rPr>
              <a:t>one unit of information (the </a:t>
            </a:r>
            <a:r>
              <a:rPr lang="en-US" altLang="it-IT" sz="2200" i="1">
                <a:latin typeface="Arial" charset="0"/>
                <a:ea typeface="Arial" charset="0"/>
                <a:cs typeface="Arial" charset="0"/>
              </a:rPr>
              <a:t>payload</a:t>
            </a:r>
            <a:r>
              <a:rPr lang="en-US" altLang="it-IT" sz="2200">
                <a:latin typeface="Arial" charset="0"/>
                <a:ea typeface="Arial" charset="0"/>
                <a:cs typeface="Arial" charset="0"/>
              </a:rPr>
              <a:t>)</a:t>
            </a:r>
          </a:p>
          <a:p>
            <a:pPr lvl="3">
              <a:spcBef>
                <a:spcPts val="400"/>
              </a:spcBef>
              <a:spcAft>
                <a:spcPct val="0"/>
              </a:spcAft>
              <a:buClr>
                <a:srgbClr val="000000"/>
              </a:buClr>
              <a:buFontTx/>
              <a:buChar char="•"/>
            </a:pPr>
            <a:r>
              <a:rPr lang="en-US" altLang="it-IT" sz="2200">
                <a:latin typeface="Arial" charset="0"/>
                <a:ea typeface="Arial" charset="0"/>
                <a:cs typeface="Arial" charset="0"/>
              </a:rPr>
              <a:t>the </a:t>
            </a:r>
            <a:r>
              <a:rPr lang="en-US" altLang="it-IT" sz="2200" i="1">
                <a:latin typeface="Arial" charset="0"/>
                <a:ea typeface="Arial" charset="0"/>
                <a:cs typeface="Arial" charset="0"/>
              </a:rPr>
              <a:t>header</a:t>
            </a:r>
            <a:r>
              <a:rPr lang="en-US" altLang="it-IT" sz="2200">
                <a:latin typeface="Arial" charset="0"/>
                <a:ea typeface="Arial" charset="0"/>
                <a:cs typeface="Arial" charset="0"/>
              </a:rPr>
              <a:t>, containing all the informations necessary for the transimssion</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26</a:t>
            </a:fld>
            <a:endParaRPr lang="nb-NO"/>
          </a:p>
        </p:txBody>
      </p:sp>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686CAE-B977-CA8D-7EDE-7963F8B68284}"/>
              </a:ext>
            </a:extLst>
          </p:cNvPr>
          <p:cNvSpPr>
            <a:spLocks noGrp="1"/>
          </p:cNvSpPr>
          <p:nvPr>
            <p:ph type="title"/>
          </p:nvPr>
        </p:nvSpPr>
        <p:spPr/>
        <p:txBody>
          <a:bodyPr/>
          <a:lstStyle/>
          <a:p>
            <a:r>
              <a:rPr lang="it-IT"/>
              <a:t>IP Packet – what's in the </a:t>
            </a:r>
            <a:r>
              <a:rPr lang="it-IT" b="1"/>
              <a:t>header</a:t>
            </a:r>
          </a:p>
        </p:txBody>
      </p:sp>
      <p:sp>
        <p:nvSpPr>
          <p:cNvPr id="3" name="Segnaposto contenuto 2">
            <a:extLst>
              <a:ext uri="{FF2B5EF4-FFF2-40B4-BE49-F238E27FC236}">
                <a16:creationId xmlns:a16="http://schemas.microsoft.com/office/drawing/2014/main" id="{BA637EA7-AB52-A2C7-B1CE-2BC438927EA9}"/>
              </a:ext>
            </a:extLst>
          </p:cNvPr>
          <p:cNvSpPr>
            <a:spLocks noGrp="1"/>
          </p:cNvSpPr>
          <p:nvPr>
            <p:ph idx="1"/>
          </p:nvPr>
        </p:nvSpPr>
        <p:spPr/>
        <p:txBody>
          <a:bodyPr/>
          <a:lstStyle/>
          <a:p>
            <a:pPr marL="0" indent="0">
              <a:buNone/>
            </a:pPr>
            <a:r>
              <a:rPr lang="en-US" altLang="it-IT">
                <a:latin typeface="Arial" charset="0"/>
                <a:ea typeface="Arial" charset="0"/>
                <a:cs typeface="Arial" charset="0"/>
              </a:rPr>
              <a:t>All the information necessary to:</a:t>
            </a:r>
          </a:p>
          <a:p>
            <a:r>
              <a:rPr lang="en-US" altLang="it-IT">
                <a:latin typeface="Arial" charset="0"/>
                <a:ea typeface="Arial" charset="0"/>
                <a:cs typeface="Arial" charset="0"/>
              </a:rPr>
              <a:t>identify the payload</a:t>
            </a:r>
          </a:p>
          <a:p>
            <a:r>
              <a:rPr lang="en-US" altLang="it-IT">
                <a:latin typeface="Arial" charset="0"/>
                <a:ea typeface="Arial" charset="0"/>
                <a:cs typeface="Arial" charset="0"/>
              </a:rPr>
              <a:t>forward it from the sender to the receiver, </a:t>
            </a:r>
          </a:p>
          <a:p>
            <a:r>
              <a:rPr lang="en-US" altLang="it-IT">
                <a:latin typeface="Arial" charset="0"/>
                <a:ea typeface="Arial" charset="0"/>
                <a:cs typeface="Arial" charset="0"/>
              </a:rPr>
              <a:t>allow the receiver to collect the payloads of different packets and rebuild the original file</a:t>
            </a:r>
          </a:p>
          <a:p>
            <a:r>
              <a:rPr lang="en-US">
                <a:latin typeface="Arial" charset="0"/>
                <a:cs typeface="Arial" charset="0"/>
              </a:rPr>
              <a:t>inform the sender of the success/failure of the transmission </a:t>
            </a:r>
            <a:endParaRPr lang="it-IT"/>
          </a:p>
        </p:txBody>
      </p:sp>
      <p:sp>
        <p:nvSpPr>
          <p:cNvPr id="4" name="Segnaposto piè di pagina 3">
            <a:extLst>
              <a:ext uri="{FF2B5EF4-FFF2-40B4-BE49-F238E27FC236}">
                <a16:creationId xmlns:a16="http://schemas.microsoft.com/office/drawing/2014/main" id="{8B66FCE7-F2ED-932C-9633-DA82A2F603C0}"/>
              </a:ext>
            </a:extLst>
          </p:cNvPr>
          <p:cNvSpPr>
            <a:spLocks noGrp="1"/>
          </p:cNvSpPr>
          <p:nvPr>
            <p:ph type="ftr" sz="quarter" idx="11"/>
          </p:nvPr>
        </p:nvSpPr>
        <p:spPr/>
        <p:txBody>
          <a:bodyPr/>
          <a:lstStyle/>
          <a:p>
            <a:r>
              <a:rPr lang="it-IT"/>
              <a:t>Claudio Sartori - Informatics - Networking</a:t>
            </a:r>
          </a:p>
        </p:txBody>
      </p:sp>
      <p:sp>
        <p:nvSpPr>
          <p:cNvPr id="5" name="Segnaposto numero diapositiva 4">
            <a:extLst>
              <a:ext uri="{FF2B5EF4-FFF2-40B4-BE49-F238E27FC236}">
                <a16:creationId xmlns:a16="http://schemas.microsoft.com/office/drawing/2014/main" id="{FD7C3F60-483A-20AB-5EC2-312C38868148}"/>
              </a:ext>
            </a:extLst>
          </p:cNvPr>
          <p:cNvSpPr>
            <a:spLocks noGrp="1"/>
          </p:cNvSpPr>
          <p:nvPr>
            <p:ph type="sldNum" sz="quarter" idx="12"/>
          </p:nvPr>
        </p:nvSpPr>
        <p:spPr/>
        <p:txBody>
          <a:bodyPr/>
          <a:lstStyle/>
          <a:p>
            <a:fld id="{EC6182FC-1C34-DE4A-9EAC-E24BE6D1E839}" type="slidenum">
              <a:rPr lang="it-IT"/>
              <a:t>27</a:t>
            </a:fld>
            <a:endParaRPr lang="it-IT"/>
          </a:p>
        </p:txBody>
      </p:sp>
    </p:spTree>
    <p:extLst>
      <p:ext uri="{BB962C8B-B14F-4D97-AF65-F5344CB8AC3E}">
        <p14:creationId xmlns:p14="http://schemas.microsoft.com/office/powerpoint/2010/main" val="30878145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686CAE-B977-CA8D-7EDE-7963F8B68284}"/>
              </a:ext>
            </a:extLst>
          </p:cNvPr>
          <p:cNvSpPr>
            <a:spLocks noGrp="1"/>
          </p:cNvSpPr>
          <p:nvPr>
            <p:ph type="title"/>
          </p:nvPr>
        </p:nvSpPr>
        <p:spPr/>
        <p:txBody>
          <a:bodyPr/>
          <a:lstStyle/>
          <a:p>
            <a:r>
              <a:rPr lang="it-IT"/>
              <a:t>IP Packet – what's in the </a:t>
            </a:r>
            <a:r>
              <a:rPr lang="it-IT" b="1"/>
              <a:t>header</a:t>
            </a:r>
          </a:p>
        </p:txBody>
      </p:sp>
      <p:sp>
        <p:nvSpPr>
          <p:cNvPr id="4" name="Segnaposto piè di pagina 3">
            <a:extLst>
              <a:ext uri="{FF2B5EF4-FFF2-40B4-BE49-F238E27FC236}">
                <a16:creationId xmlns:a16="http://schemas.microsoft.com/office/drawing/2014/main" id="{8B66FCE7-F2ED-932C-9633-DA82A2F603C0}"/>
              </a:ext>
            </a:extLst>
          </p:cNvPr>
          <p:cNvSpPr>
            <a:spLocks noGrp="1"/>
          </p:cNvSpPr>
          <p:nvPr>
            <p:ph type="ftr" sz="quarter" idx="11"/>
          </p:nvPr>
        </p:nvSpPr>
        <p:spPr/>
        <p:txBody>
          <a:bodyPr/>
          <a:lstStyle/>
          <a:p>
            <a:r>
              <a:rPr lang="it-IT"/>
              <a:t>Claudio Sartori - Informatics - Networking</a:t>
            </a:r>
          </a:p>
        </p:txBody>
      </p:sp>
      <p:sp>
        <p:nvSpPr>
          <p:cNvPr id="5" name="Segnaposto numero diapositiva 4">
            <a:extLst>
              <a:ext uri="{FF2B5EF4-FFF2-40B4-BE49-F238E27FC236}">
                <a16:creationId xmlns:a16="http://schemas.microsoft.com/office/drawing/2014/main" id="{FD7C3F60-483A-20AB-5EC2-312C38868148}"/>
              </a:ext>
            </a:extLst>
          </p:cNvPr>
          <p:cNvSpPr>
            <a:spLocks noGrp="1"/>
          </p:cNvSpPr>
          <p:nvPr>
            <p:ph type="sldNum" sz="quarter" idx="12"/>
          </p:nvPr>
        </p:nvSpPr>
        <p:spPr/>
        <p:txBody>
          <a:bodyPr/>
          <a:lstStyle/>
          <a:p>
            <a:fld id="{EC6182FC-1C34-DE4A-9EAC-E24BE6D1E839}" type="slidenum">
              <a:rPr lang="it-IT"/>
              <a:t>28</a:t>
            </a:fld>
            <a:endParaRPr lang="it-IT"/>
          </a:p>
        </p:txBody>
      </p:sp>
      <p:pic>
        <p:nvPicPr>
          <p:cNvPr id="9" name="Elemento grafico 8">
            <a:extLst>
              <a:ext uri="{FF2B5EF4-FFF2-40B4-BE49-F238E27FC236}">
                <a16:creationId xmlns:a16="http://schemas.microsoft.com/office/drawing/2014/main" id="{1068CFA4-3CEF-5881-8D6A-BB6A1B15ED2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05743" y="1472186"/>
            <a:ext cx="7380514" cy="4884164"/>
          </a:xfrm>
          <a:prstGeom prst="rect">
            <a:avLst/>
          </a:prstGeom>
        </p:spPr>
      </p:pic>
      <p:sp>
        <p:nvSpPr>
          <p:cNvPr id="10" name="CasellaDiTesto 9">
            <a:extLst>
              <a:ext uri="{FF2B5EF4-FFF2-40B4-BE49-F238E27FC236}">
                <a16:creationId xmlns:a16="http://schemas.microsoft.com/office/drawing/2014/main" id="{63DE8AAF-553E-1076-B1B2-EDB002D17C14}"/>
              </a:ext>
            </a:extLst>
          </p:cNvPr>
          <p:cNvSpPr txBox="1"/>
          <p:nvPr/>
        </p:nvSpPr>
        <p:spPr>
          <a:xfrm>
            <a:off x="7730684" y="5991225"/>
            <a:ext cx="2560316" cy="253916"/>
          </a:xfrm>
          <a:prstGeom prst="rect">
            <a:avLst/>
          </a:prstGeom>
          <a:noFill/>
        </p:spPr>
        <p:txBody>
          <a:bodyPr wrap="none" rtlCol="0">
            <a:spAutoFit/>
          </a:bodyPr>
          <a:lstStyle/>
          <a:p>
            <a:r>
              <a:rPr lang="it-IT" sz="1050"/>
              <a:t>Courtesy of https://www.khanacademy.org</a:t>
            </a:r>
          </a:p>
        </p:txBody>
      </p:sp>
    </p:spTree>
    <p:extLst>
      <p:ext uri="{BB962C8B-B14F-4D97-AF65-F5344CB8AC3E}">
        <p14:creationId xmlns:p14="http://schemas.microsoft.com/office/powerpoint/2010/main" val="9617547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hape 194"/>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Packets Are Independent</a:t>
            </a:r>
          </a:p>
        </p:txBody>
      </p:sp>
      <p:sp>
        <p:nvSpPr>
          <p:cNvPr id="50179" name="Shape 195"/>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Because each packet can take a different route, congestion and service interruptions do not delay transmissions</a:t>
            </a:r>
          </a:p>
          <a:p>
            <a:pPr lvl="1" indent="-285750">
              <a:spcAft>
                <a:spcPct val="0"/>
              </a:spcAft>
              <a:buClr>
                <a:srgbClr val="000000"/>
              </a:buClr>
              <a:buFontTx/>
              <a:buChar char="–"/>
            </a:pPr>
            <a:r>
              <a:rPr lang="en-US" altLang="it-IT" sz="2800">
                <a:latin typeface="Arial" charset="0"/>
                <a:ea typeface="Arial" charset="0"/>
                <a:cs typeface="Arial" charset="0"/>
              </a:rPr>
              <a:t>Each TCP/IP packet is </a:t>
            </a:r>
            <a:r>
              <a:rPr lang="en-US" altLang="it-IT" sz="2800" i="1">
                <a:solidFill>
                  <a:srgbClr val="1E4649"/>
                </a:solidFill>
                <a:latin typeface="Arial" charset="0"/>
                <a:ea typeface="Arial" charset="0"/>
                <a:cs typeface="Arial" charset="0"/>
              </a:rPr>
              <a:t>independent</a:t>
            </a:r>
          </a:p>
          <a:p>
            <a:pPr indent="-342900">
              <a:spcBef>
                <a:spcPts val="600"/>
              </a:spcBef>
              <a:spcAft>
                <a:spcPct val="0"/>
              </a:spcAft>
              <a:buClr>
                <a:srgbClr val="000000"/>
              </a:buClr>
              <a:buFontTx/>
              <a:buChar char="•"/>
            </a:pPr>
            <a:r>
              <a:rPr lang="en-US" altLang="it-IT" sz="3200">
                <a:latin typeface="Arial" charset="0"/>
                <a:ea typeface="Arial" charset="0"/>
                <a:cs typeface="Arial" charset="0"/>
              </a:rPr>
              <a:t>The TCP/IP protocol works under adverse conditions</a:t>
            </a:r>
          </a:p>
          <a:p>
            <a:pPr lvl="1" indent="-285750">
              <a:spcAft>
                <a:spcPct val="0"/>
              </a:spcAft>
              <a:buClr>
                <a:srgbClr val="000000"/>
              </a:buClr>
              <a:buFontTx/>
              <a:buChar char="–"/>
            </a:pPr>
            <a:r>
              <a:rPr lang="en-US" altLang="it-IT" sz="2800">
                <a:latin typeface="Arial" charset="0"/>
                <a:ea typeface="Arial" charset="0"/>
                <a:cs typeface="Arial" charset="0"/>
              </a:rPr>
              <a:t>If traffic is heavy and the packet progress is slow, the protocol allows the packet to be thrown away</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29</a:t>
            </a:fld>
            <a:endParaRPr lang="nb-NO"/>
          </a:p>
        </p:txBody>
      </p:sp>
    </p:spTree>
  </p:cSld>
  <p:clrMapOvr>
    <a:masterClrMapping/>
  </p:clrMapOvr>
  <p:transition spd="slow">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hape 200"/>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Packets Are Independent</a:t>
            </a:r>
          </a:p>
        </p:txBody>
      </p:sp>
      <p:sp>
        <p:nvSpPr>
          <p:cNvPr id="52227" name="Shape 201"/>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If a packet is killed for whatever reason, the recipient will request a resend</a:t>
            </a:r>
          </a:p>
          <a:p>
            <a:pPr indent="-342900">
              <a:spcBef>
                <a:spcPts val="600"/>
              </a:spcBef>
              <a:spcAft>
                <a:spcPct val="0"/>
              </a:spcAft>
              <a:buClr>
                <a:srgbClr val="000000"/>
              </a:buClr>
              <a:buFontTx/>
              <a:buChar char="•"/>
            </a:pPr>
            <a:r>
              <a:rPr lang="en-US" altLang="it-IT" sz="3200">
                <a:latin typeface="Arial" charset="0"/>
                <a:ea typeface="Arial" charset="0"/>
                <a:cs typeface="Arial" charset="0"/>
              </a:rPr>
              <a:t>Packets can arrive out of order because they take different routes</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30</a:t>
            </a:fld>
            <a:endParaRPr lang="nb-NO"/>
          </a:p>
        </p:txBody>
      </p:sp>
    </p:spTree>
  </p:cSld>
  <p:clrMapOvr>
    <a:masterClrMapping/>
  </p:clrMapOvr>
  <p:transition spd="slow">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hape 206"/>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Far and Near: WAN and LAN</a:t>
            </a:r>
          </a:p>
        </p:txBody>
      </p:sp>
      <p:sp>
        <p:nvSpPr>
          <p:cNvPr id="54275" name="Shape 207"/>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dirty="0">
                <a:latin typeface="Arial" charset="0"/>
                <a:ea typeface="Arial" charset="0"/>
                <a:cs typeface="Arial" charset="0"/>
              </a:rPr>
              <a:t>The Internet is a collection of </a:t>
            </a:r>
            <a:r>
              <a:rPr lang="en-US" altLang="it-IT" sz="3200" b="1" dirty="0">
                <a:latin typeface="Arial" charset="0"/>
                <a:ea typeface="Arial" charset="0"/>
                <a:cs typeface="Arial" charset="0"/>
              </a:rPr>
              <a:t>wide area networks (WAN</a:t>
            </a:r>
            <a:r>
              <a:rPr lang="en-US" altLang="it-IT" sz="3200" dirty="0">
                <a:latin typeface="Arial" charset="0"/>
                <a:ea typeface="Arial" charset="0"/>
                <a:cs typeface="Arial" charset="0"/>
              </a:rPr>
              <a:t>)</a:t>
            </a:r>
          </a:p>
          <a:p>
            <a:pPr lvl="1" indent="-285750">
              <a:spcAft>
                <a:spcPct val="0"/>
              </a:spcAft>
              <a:buClr>
                <a:srgbClr val="000000"/>
              </a:buClr>
              <a:buFontTx/>
              <a:buChar char="–"/>
            </a:pPr>
            <a:r>
              <a:rPr lang="en-US" altLang="it-IT" sz="2800" dirty="0">
                <a:latin typeface="Arial" charset="0"/>
                <a:ea typeface="Arial" charset="0"/>
                <a:cs typeface="Arial" charset="0"/>
              </a:rPr>
              <a:t>These are networks that are not geographically close</a:t>
            </a:r>
          </a:p>
          <a:p>
            <a:pPr indent="-342900">
              <a:spcBef>
                <a:spcPts val="600"/>
              </a:spcBef>
              <a:spcAft>
                <a:spcPct val="0"/>
              </a:spcAft>
              <a:buClr>
                <a:srgbClr val="000000"/>
              </a:buClr>
              <a:buFontTx/>
              <a:buChar char="•"/>
            </a:pPr>
            <a:r>
              <a:rPr lang="en-US" altLang="it-IT" sz="3200" dirty="0">
                <a:latin typeface="Arial" charset="0"/>
                <a:ea typeface="Arial" charset="0"/>
                <a:cs typeface="Arial" charset="0"/>
              </a:rPr>
              <a:t>The Internet is a collection of point-to-point channels</a:t>
            </a:r>
          </a:p>
          <a:p>
            <a:pPr lvl="1" indent="-285750">
              <a:spcAft>
                <a:spcPct val="0"/>
              </a:spcAft>
              <a:buClr>
                <a:srgbClr val="000000"/>
              </a:buClr>
              <a:buFontTx/>
              <a:buChar char="–"/>
            </a:pPr>
            <a:r>
              <a:rPr lang="en-US" altLang="it-IT" sz="2800" dirty="0">
                <a:latin typeface="Arial" charset="0"/>
                <a:ea typeface="Arial" charset="0"/>
                <a:cs typeface="Arial" charset="0"/>
              </a:rPr>
              <a:t>Meaning packets must visit a sequence of computers before they reach their destination</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31</a:t>
            </a:fld>
            <a:endParaRPr lang="nb-NO"/>
          </a:p>
        </p:txBody>
      </p:sp>
    </p:spTree>
  </p:cSld>
  <p:clrMapOvr>
    <a:masterClrMapping/>
  </p:clrMapOvr>
  <p:transition spd="slow">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hape 212"/>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Far and Near: WAN and LAN</a:t>
            </a:r>
          </a:p>
        </p:txBody>
      </p:sp>
      <p:sp>
        <p:nvSpPr>
          <p:cNvPr id="56323" name="Shape 213"/>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A </a:t>
            </a:r>
            <a:r>
              <a:rPr lang="en-US" altLang="it-IT" sz="3200" b="1">
                <a:latin typeface="Arial" charset="0"/>
                <a:ea typeface="Arial" charset="0"/>
                <a:cs typeface="Arial" charset="0"/>
              </a:rPr>
              <a:t>local area network (LAN) </a:t>
            </a:r>
            <a:r>
              <a:rPr lang="en-US" altLang="it-IT" sz="3200">
                <a:latin typeface="Arial" charset="0"/>
                <a:ea typeface="Arial" charset="0"/>
                <a:cs typeface="Arial" charset="0"/>
              </a:rPr>
              <a:t>connects computers that are geographically close</a:t>
            </a:r>
          </a:p>
          <a:p>
            <a:pPr lvl="1" indent="-285750">
              <a:spcAft>
                <a:spcPct val="0"/>
              </a:spcAft>
              <a:buClr>
                <a:srgbClr val="000000"/>
              </a:buClr>
              <a:buFontTx/>
              <a:buChar char="–"/>
            </a:pPr>
            <a:r>
              <a:rPr lang="en-US" altLang="it-IT" sz="2800">
                <a:latin typeface="Arial" charset="0"/>
                <a:ea typeface="Arial" charset="0"/>
                <a:cs typeface="Arial" charset="0"/>
              </a:rPr>
              <a:t>Usually they can be linked by a single cable or pair of wires</a:t>
            </a:r>
          </a:p>
          <a:p>
            <a:pPr indent="-342900">
              <a:spcBef>
                <a:spcPts val="600"/>
              </a:spcBef>
              <a:spcAft>
                <a:spcPct val="0"/>
              </a:spcAft>
              <a:buClr>
                <a:srgbClr val="000000"/>
              </a:buClr>
              <a:buFontTx/>
              <a:buChar char="•"/>
            </a:pPr>
            <a:r>
              <a:rPr lang="en-US" altLang="it-IT" sz="3200" b="1">
                <a:latin typeface="Arial" charset="0"/>
                <a:ea typeface="Arial" charset="0"/>
                <a:cs typeface="Arial" charset="0"/>
              </a:rPr>
              <a:t>Ethernet</a:t>
            </a:r>
            <a:r>
              <a:rPr lang="en-US" altLang="it-IT" sz="3200">
                <a:latin typeface="Arial" charset="0"/>
                <a:ea typeface="Arial" charset="0"/>
                <a:cs typeface="Arial" charset="0"/>
              </a:rPr>
              <a:t> is the main technology for local area networks</a:t>
            </a:r>
          </a:p>
          <a:p>
            <a:pPr lvl="1" indent="-285750">
              <a:spcAft>
                <a:spcPct val="0"/>
              </a:spcAft>
              <a:buClr>
                <a:srgbClr val="000000"/>
              </a:buClr>
              <a:buFontTx/>
              <a:buChar char="–"/>
            </a:pPr>
            <a:r>
              <a:rPr lang="en-US" altLang="it-IT" sz="2800">
                <a:latin typeface="Arial" charset="0"/>
                <a:ea typeface="Arial" charset="0"/>
                <a:cs typeface="Arial" charset="0"/>
              </a:rPr>
              <a:t>Used for connecting all the computers in a lab or building</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32</a:t>
            </a:fld>
            <a:endParaRPr lang="nb-NO"/>
          </a:p>
        </p:txBody>
      </p:sp>
    </p:spTree>
  </p:cSld>
  <p:clrMapOvr>
    <a:masterClrMapping/>
  </p:clrMapOvr>
  <p:transition spd="slow">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hape 218"/>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Ethernet</a:t>
            </a:r>
          </a:p>
        </p:txBody>
      </p:sp>
      <p:sp>
        <p:nvSpPr>
          <p:cNvPr id="58371" name="Shape 219"/>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dirty="0">
                <a:latin typeface="Arial" charset="0"/>
                <a:ea typeface="Arial" charset="0"/>
                <a:cs typeface="Arial" charset="0"/>
              </a:rPr>
              <a:t>The physical setup for an Ethernet network is a wire, wire pair, or optical fiber, called the </a:t>
            </a:r>
            <a:r>
              <a:rPr lang="en-US" altLang="it-IT" sz="3200" b="1" dirty="0">
                <a:latin typeface="Arial" charset="0"/>
                <a:ea typeface="Arial" charset="0"/>
                <a:cs typeface="Arial" charset="0"/>
              </a:rPr>
              <a:t>channel</a:t>
            </a:r>
          </a:p>
          <a:p>
            <a:pPr indent="-342900">
              <a:spcBef>
                <a:spcPts val="600"/>
              </a:spcBef>
              <a:spcAft>
                <a:spcPct val="0"/>
              </a:spcAft>
              <a:buClr>
                <a:srgbClr val="000000"/>
              </a:buClr>
              <a:buFontTx/>
              <a:buChar char="•"/>
            </a:pPr>
            <a:r>
              <a:rPr lang="en-US" altLang="it-IT" sz="3200" dirty="0">
                <a:latin typeface="Arial" charset="0"/>
                <a:ea typeface="Arial" charset="0"/>
                <a:cs typeface="Arial" charset="0"/>
              </a:rPr>
              <a:t>Engineers “tap” into the channel to connect a computer:</a:t>
            </a:r>
          </a:p>
          <a:p>
            <a:pPr lvl="1" indent="-285750">
              <a:spcAft>
                <a:spcPct val="0"/>
              </a:spcAft>
              <a:buClr>
                <a:srgbClr val="000000"/>
              </a:buClr>
              <a:buFontTx/>
              <a:buChar char="–"/>
            </a:pPr>
            <a:r>
              <a:rPr lang="en-US" altLang="it-IT" sz="2800" dirty="0">
                <a:latin typeface="Arial" charset="0"/>
                <a:ea typeface="Arial" charset="0"/>
                <a:cs typeface="Arial" charset="0"/>
              </a:rPr>
              <a:t>This allows it to send a signal or an electronic pulse or light flash onto the channel</a:t>
            </a:r>
          </a:p>
          <a:p>
            <a:pPr lvl="1" indent="-285750">
              <a:spcAft>
                <a:spcPct val="0"/>
              </a:spcAft>
              <a:buClr>
                <a:srgbClr val="000000"/>
              </a:buClr>
              <a:buFontTx/>
              <a:buChar char="–"/>
            </a:pPr>
            <a:r>
              <a:rPr lang="en-US" altLang="it-IT" sz="2800" dirty="0">
                <a:latin typeface="Arial" charset="0"/>
                <a:ea typeface="Arial" charset="0"/>
                <a:cs typeface="Arial" charset="0"/>
              </a:rPr>
              <a:t>All computers, including the sender,</a:t>
            </a:r>
            <a:r>
              <a:rPr lang="it-IT" altLang="it-IT" sz="2800" dirty="0">
                <a:latin typeface="Arial" charset="0"/>
                <a:ea typeface="Arial" charset="0"/>
                <a:cs typeface="Arial" charset="0"/>
              </a:rPr>
              <a:t> </a:t>
            </a:r>
            <a:r>
              <a:rPr lang="en-US" altLang="it-IT" sz="2800" dirty="0">
                <a:latin typeface="Arial" charset="0"/>
                <a:ea typeface="Arial" charset="0"/>
                <a:cs typeface="Arial" charset="0"/>
              </a:rPr>
              <a:t>can detect the signal</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33</a:t>
            </a:fld>
            <a:endParaRPr lang="nb-NO"/>
          </a:p>
        </p:txBody>
      </p:sp>
    </p:spTree>
  </p:cSld>
  <p:clrMapOvr>
    <a:masterClrMapping/>
  </p:clrMapOvr>
  <p:transition spd="slow">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hape 224"/>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Ethernet Party Analogy</a:t>
            </a:r>
          </a:p>
        </p:txBody>
      </p:sp>
      <p:sp>
        <p:nvSpPr>
          <p:cNvPr id="60419" name="Shape 225"/>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To understand how an Ethernet network works, consider this:</a:t>
            </a:r>
          </a:p>
          <a:p>
            <a:pPr lvl="1" indent="-285750">
              <a:spcAft>
                <a:spcPct val="0"/>
              </a:spcAft>
              <a:buClr>
                <a:srgbClr val="000000"/>
              </a:buClr>
              <a:buFontTx/>
              <a:buChar char="–"/>
            </a:pPr>
            <a:r>
              <a:rPr lang="en-US" altLang="it-IT" sz="2800">
                <a:latin typeface="Arial" charset="0"/>
                <a:ea typeface="Arial" charset="0"/>
                <a:cs typeface="Arial" charset="0"/>
              </a:rPr>
              <a:t>A group of friends is standing around at a party telling stories. </a:t>
            </a:r>
          </a:p>
          <a:p>
            <a:pPr lvl="1" indent="-285750">
              <a:spcAft>
                <a:spcPct val="0"/>
              </a:spcAft>
              <a:buClr>
                <a:srgbClr val="000000"/>
              </a:buClr>
              <a:buFontTx/>
              <a:buChar char="–"/>
            </a:pPr>
            <a:r>
              <a:rPr lang="en-US" altLang="it-IT" sz="2800">
                <a:latin typeface="Arial" charset="0"/>
                <a:ea typeface="Arial" charset="0"/>
                <a:cs typeface="Arial" charset="0"/>
              </a:rPr>
              <a:t>While someone is telling a story, everyone is listening. </a:t>
            </a:r>
          </a:p>
          <a:p>
            <a:pPr lvl="1" indent="-285750">
              <a:spcAft>
                <a:spcPct val="0"/>
              </a:spcAft>
              <a:buClr>
                <a:srgbClr val="000000"/>
              </a:buClr>
              <a:buFontTx/>
              <a:buChar char="–"/>
            </a:pPr>
            <a:r>
              <a:rPr lang="en-US" altLang="it-IT" sz="2800">
                <a:latin typeface="Arial" charset="0"/>
                <a:ea typeface="Arial" charset="0"/>
                <a:cs typeface="Arial" charset="0"/>
              </a:rPr>
              <a:t>When the story is over, there may be a pause before the next one speaks</a:t>
            </a:r>
          </a:p>
          <a:p>
            <a:pPr lvl="1" indent="-285750">
              <a:spcAft>
                <a:spcPct val="0"/>
              </a:spcAft>
              <a:buClr>
                <a:srgbClr val="000000"/>
              </a:buClr>
              <a:buFontTx/>
              <a:buChar char="–"/>
            </a:pPr>
            <a:r>
              <a:rPr lang="en-US" altLang="it-IT" sz="2800">
                <a:latin typeface="Arial" charset="0"/>
                <a:ea typeface="Arial" charset="0"/>
                <a:cs typeface="Arial" charset="0"/>
              </a:rPr>
              <a:t>Then, someone typically just begins talking and the cycle starts again</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34</a:t>
            </a:fld>
            <a:endParaRPr lang="nb-NO"/>
          </a:p>
        </p:txBody>
      </p:sp>
    </p:spTree>
  </p:cSld>
  <p:clrMapOvr>
    <a:masterClrMapping/>
  </p:clrMapOvr>
  <p:transition spd="slow">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hape 230"/>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Ethernet Party Analogy</a:t>
            </a:r>
          </a:p>
        </p:txBody>
      </p:sp>
      <p:sp>
        <p:nvSpPr>
          <p:cNvPr id="62467" name="Shape 231"/>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Now, insert </a:t>
            </a:r>
            <a:r>
              <a:rPr lang="en-US" altLang="it-IT" sz="3200" i="1">
                <a:latin typeface="Arial" charset="0"/>
                <a:ea typeface="Arial" charset="0"/>
                <a:cs typeface="Arial" charset="0"/>
              </a:rPr>
              <a:t>computer</a:t>
            </a:r>
            <a:r>
              <a:rPr lang="en-US" altLang="it-IT" sz="3200">
                <a:latin typeface="Arial" charset="0"/>
                <a:ea typeface="Arial" charset="0"/>
                <a:cs typeface="Arial" charset="0"/>
              </a:rPr>
              <a:t> instead of </a:t>
            </a:r>
            <a:r>
              <a:rPr lang="en-US" altLang="it-IT" sz="3200" i="1">
                <a:latin typeface="Arial" charset="0"/>
                <a:ea typeface="Arial" charset="0"/>
                <a:cs typeface="Arial" charset="0"/>
              </a:rPr>
              <a:t>friend</a:t>
            </a:r>
            <a:r>
              <a:rPr lang="en-US" altLang="it-IT" sz="3200">
                <a:latin typeface="Arial" charset="0"/>
                <a:ea typeface="Arial" charset="0"/>
                <a:cs typeface="Arial" charset="0"/>
              </a:rPr>
              <a:t>:</a:t>
            </a:r>
          </a:p>
          <a:p>
            <a:pPr lvl="1" indent="-285750">
              <a:spcAft>
                <a:spcPct val="0"/>
              </a:spcAft>
              <a:buClr>
                <a:srgbClr val="000000"/>
              </a:buClr>
              <a:buFontTx/>
              <a:buChar char="–"/>
            </a:pPr>
            <a:r>
              <a:rPr lang="en-US" altLang="it-IT" sz="2800">
                <a:latin typeface="Arial" charset="0"/>
                <a:ea typeface="Arial" charset="0"/>
                <a:cs typeface="Arial" charset="0"/>
              </a:rPr>
              <a:t>A group of     </a:t>
            </a:r>
            <a:r>
              <a:rPr lang="en-US" altLang="it-IT" sz="2800" b="1" i="1">
                <a:solidFill>
                  <a:srgbClr val="1E4649"/>
                </a:solidFill>
                <a:latin typeface="Arial" charset="0"/>
                <a:ea typeface="Arial" charset="0"/>
                <a:cs typeface="Arial" charset="0"/>
              </a:rPr>
              <a:t>friends</a:t>
            </a:r>
            <a:r>
              <a:rPr lang="en-US" altLang="it-IT" sz="2800">
                <a:latin typeface="Arial" charset="0"/>
                <a:ea typeface="Arial" charset="0"/>
                <a:cs typeface="Arial" charset="0"/>
              </a:rPr>
              <a:t>     is standing around at a party telling stories. </a:t>
            </a:r>
          </a:p>
          <a:p>
            <a:pPr lvl="1" indent="-285750">
              <a:spcAft>
                <a:spcPct val="0"/>
              </a:spcAft>
              <a:buClr>
                <a:srgbClr val="000000"/>
              </a:buClr>
              <a:buFontTx/>
              <a:buChar char="–"/>
            </a:pPr>
            <a:r>
              <a:rPr lang="en-US" altLang="it-IT" sz="2800">
                <a:latin typeface="Arial" charset="0"/>
                <a:ea typeface="Arial" charset="0"/>
                <a:cs typeface="Arial" charset="0"/>
              </a:rPr>
              <a:t>While   </a:t>
            </a:r>
            <a:r>
              <a:rPr lang="en-US" altLang="it-IT" sz="2800" b="1" i="1">
                <a:solidFill>
                  <a:srgbClr val="1E4649"/>
                </a:solidFill>
                <a:latin typeface="Arial" charset="0"/>
                <a:ea typeface="Arial" charset="0"/>
                <a:cs typeface="Arial" charset="0"/>
              </a:rPr>
              <a:t>someone</a:t>
            </a:r>
            <a:r>
              <a:rPr lang="en-US" altLang="it-IT" sz="2800">
                <a:latin typeface="Arial" charset="0"/>
                <a:ea typeface="Arial" charset="0"/>
                <a:cs typeface="Arial" charset="0"/>
              </a:rPr>
              <a:t>    is telling a story, every computer  is listening</a:t>
            </a:r>
          </a:p>
          <a:p>
            <a:pPr lvl="1" indent="-285750">
              <a:spcAft>
                <a:spcPct val="0"/>
              </a:spcAft>
              <a:buClr>
                <a:srgbClr val="000000"/>
              </a:buClr>
              <a:buFontTx/>
              <a:buChar char="–"/>
            </a:pPr>
            <a:r>
              <a:rPr lang="en-US" altLang="it-IT" sz="2800">
                <a:latin typeface="Arial" charset="0"/>
                <a:ea typeface="Arial" charset="0"/>
                <a:cs typeface="Arial" charset="0"/>
              </a:rPr>
              <a:t>When the story is over, there may be a pause before the next        one        speaks</a:t>
            </a:r>
          </a:p>
          <a:p>
            <a:pPr lvl="1" indent="-285750">
              <a:spcAft>
                <a:spcPct val="0"/>
              </a:spcAft>
              <a:buClr>
                <a:srgbClr val="000000"/>
              </a:buClr>
              <a:buFontTx/>
              <a:buChar char="–"/>
            </a:pPr>
            <a:r>
              <a:rPr lang="en-US" altLang="it-IT" sz="2800">
                <a:latin typeface="Arial" charset="0"/>
                <a:ea typeface="Arial" charset="0"/>
                <a:cs typeface="Arial" charset="0"/>
              </a:rPr>
              <a:t>Then,   someone    typically just begins talking and the cycle starts again</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35</a:t>
            </a:fld>
            <a:endParaRPr lang="nb-NO"/>
          </a:p>
        </p:txBody>
      </p:sp>
      <p:sp>
        <p:nvSpPr>
          <p:cNvPr id="62468" name="Shape 232"/>
          <p:cNvSpPr txBox="1">
            <a:spLocks noChangeArrowheads="1"/>
          </p:cNvSpPr>
          <p:nvPr/>
        </p:nvSpPr>
        <p:spPr bwMode="auto">
          <a:xfrm>
            <a:off x="3329609" y="2292351"/>
            <a:ext cx="1865313" cy="523875"/>
          </a:xfrm>
          <a:prstGeom prst="rect">
            <a:avLst/>
          </a:prstGeom>
          <a:solidFill>
            <a:srgbClr val="72BFC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charset="0"/>
                <a:ea typeface="Arial" charset="0"/>
                <a:cs typeface="Arial" charset="0"/>
                <a:sym typeface="Arial" charset="0"/>
              </a:defRPr>
            </a:lvl1pPr>
            <a:lvl2pPr marL="742950" indent="-285750">
              <a:defRPr sz="1400">
                <a:solidFill>
                  <a:srgbClr val="000000"/>
                </a:solidFill>
                <a:latin typeface="Arial" charset="0"/>
                <a:ea typeface="Arial" charset="0"/>
                <a:cs typeface="Arial" charset="0"/>
                <a:sym typeface="Arial" charset="0"/>
              </a:defRPr>
            </a:lvl2pPr>
            <a:lvl3pPr marL="1143000" indent="-228600">
              <a:defRPr sz="1400">
                <a:solidFill>
                  <a:srgbClr val="000000"/>
                </a:solidFill>
                <a:latin typeface="Arial" charset="0"/>
                <a:ea typeface="Arial" charset="0"/>
                <a:cs typeface="Arial" charset="0"/>
                <a:sym typeface="Arial" charset="0"/>
              </a:defRPr>
            </a:lvl3pPr>
            <a:lvl4pPr marL="1600200" indent="-228600">
              <a:defRPr sz="1400">
                <a:solidFill>
                  <a:srgbClr val="000000"/>
                </a:solidFill>
                <a:latin typeface="Arial" charset="0"/>
                <a:ea typeface="Arial" charset="0"/>
                <a:cs typeface="Arial" charset="0"/>
                <a:sym typeface="Arial" charset="0"/>
              </a:defRPr>
            </a:lvl4pPr>
            <a:lvl5pPr marL="2057400" indent="-228600">
              <a:defRPr sz="1400">
                <a:solidFill>
                  <a:srgbClr val="000000"/>
                </a:solidFill>
                <a:latin typeface="Arial" charset="0"/>
                <a:ea typeface="Arial" charset="0"/>
                <a:cs typeface="Arial" charset="0"/>
                <a:sym typeface="Arial" charset="0"/>
              </a:defRPr>
            </a:lvl5pPr>
            <a:lvl6pPr marL="25146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6pPr>
            <a:lvl7pPr marL="29718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7pPr>
            <a:lvl8pPr marL="34290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8pPr>
            <a:lvl9pPr marL="38862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9pPr>
          </a:lstStyle>
          <a:p>
            <a:pPr eaLnBrk="1" hangingPunct="1">
              <a:buClr>
                <a:srgbClr val="000000"/>
              </a:buClr>
              <a:buSzPct val="25000"/>
              <a:buFont typeface="Arial" charset="0"/>
              <a:buNone/>
            </a:pPr>
            <a:r>
              <a:rPr lang="en-US" altLang="it-IT" sz="2800"/>
              <a:t>computers</a:t>
            </a:r>
          </a:p>
        </p:txBody>
      </p:sp>
      <p:sp>
        <p:nvSpPr>
          <p:cNvPr id="62469" name="Shape 233"/>
          <p:cNvSpPr txBox="1">
            <a:spLocks noChangeArrowheads="1"/>
          </p:cNvSpPr>
          <p:nvPr/>
        </p:nvSpPr>
        <p:spPr bwMode="auto">
          <a:xfrm>
            <a:off x="2621860" y="3108325"/>
            <a:ext cx="2003425" cy="523875"/>
          </a:xfrm>
          <a:prstGeom prst="rect">
            <a:avLst/>
          </a:prstGeom>
          <a:solidFill>
            <a:srgbClr val="72BFC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charset="0"/>
                <a:ea typeface="Arial" charset="0"/>
                <a:cs typeface="Arial" charset="0"/>
                <a:sym typeface="Arial" charset="0"/>
              </a:defRPr>
            </a:lvl1pPr>
            <a:lvl2pPr marL="742950" indent="-285750">
              <a:defRPr sz="1400">
                <a:solidFill>
                  <a:srgbClr val="000000"/>
                </a:solidFill>
                <a:latin typeface="Arial" charset="0"/>
                <a:ea typeface="Arial" charset="0"/>
                <a:cs typeface="Arial" charset="0"/>
                <a:sym typeface="Arial" charset="0"/>
              </a:defRPr>
            </a:lvl2pPr>
            <a:lvl3pPr marL="1143000" indent="-228600">
              <a:defRPr sz="1400">
                <a:solidFill>
                  <a:srgbClr val="000000"/>
                </a:solidFill>
                <a:latin typeface="Arial" charset="0"/>
                <a:ea typeface="Arial" charset="0"/>
                <a:cs typeface="Arial" charset="0"/>
                <a:sym typeface="Arial" charset="0"/>
              </a:defRPr>
            </a:lvl3pPr>
            <a:lvl4pPr marL="1600200" indent="-228600">
              <a:defRPr sz="1400">
                <a:solidFill>
                  <a:srgbClr val="000000"/>
                </a:solidFill>
                <a:latin typeface="Arial" charset="0"/>
                <a:ea typeface="Arial" charset="0"/>
                <a:cs typeface="Arial" charset="0"/>
                <a:sym typeface="Arial" charset="0"/>
              </a:defRPr>
            </a:lvl4pPr>
            <a:lvl5pPr marL="2057400" indent="-228600">
              <a:defRPr sz="1400">
                <a:solidFill>
                  <a:srgbClr val="000000"/>
                </a:solidFill>
                <a:latin typeface="Arial" charset="0"/>
                <a:ea typeface="Arial" charset="0"/>
                <a:cs typeface="Arial" charset="0"/>
                <a:sym typeface="Arial" charset="0"/>
              </a:defRPr>
            </a:lvl5pPr>
            <a:lvl6pPr marL="25146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6pPr>
            <a:lvl7pPr marL="29718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7pPr>
            <a:lvl8pPr marL="34290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8pPr>
            <a:lvl9pPr marL="38862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9pPr>
          </a:lstStyle>
          <a:p>
            <a:pPr eaLnBrk="1" hangingPunct="1">
              <a:buClr>
                <a:srgbClr val="000000"/>
              </a:buClr>
              <a:buSzPct val="25000"/>
              <a:buFont typeface="Arial" charset="0"/>
              <a:buNone/>
            </a:pPr>
            <a:r>
              <a:rPr lang="en-US" altLang="it-IT" sz="2800"/>
              <a:t>a computer</a:t>
            </a:r>
          </a:p>
        </p:txBody>
      </p:sp>
      <p:sp>
        <p:nvSpPr>
          <p:cNvPr id="62470" name="Shape 234"/>
          <p:cNvSpPr txBox="1">
            <a:spLocks noChangeArrowheads="1"/>
          </p:cNvSpPr>
          <p:nvPr/>
        </p:nvSpPr>
        <p:spPr bwMode="auto">
          <a:xfrm>
            <a:off x="8297862" y="3107316"/>
            <a:ext cx="1684338" cy="523875"/>
          </a:xfrm>
          <a:prstGeom prst="rect">
            <a:avLst/>
          </a:prstGeom>
          <a:solidFill>
            <a:srgbClr val="72BFC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charset="0"/>
                <a:ea typeface="Arial" charset="0"/>
                <a:cs typeface="Arial" charset="0"/>
                <a:sym typeface="Arial" charset="0"/>
              </a:defRPr>
            </a:lvl1pPr>
            <a:lvl2pPr marL="742950" indent="-285750">
              <a:defRPr sz="1400">
                <a:solidFill>
                  <a:srgbClr val="000000"/>
                </a:solidFill>
                <a:latin typeface="Arial" charset="0"/>
                <a:ea typeface="Arial" charset="0"/>
                <a:cs typeface="Arial" charset="0"/>
                <a:sym typeface="Arial" charset="0"/>
              </a:defRPr>
            </a:lvl2pPr>
            <a:lvl3pPr marL="1143000" indent="-228600">
              <a:defRPr sz="1400">
                <a:solidFill>
                  <a:srgbClr val="000000"/>
                </a:solidFill>
                <a:latin typeface="Arial" charset="0"/>
                <a:ea typeface="Arial" charset="0"/>
                <a:cs typeface="Arial" charset="0"/>
                <a:sym typeface="Arial" charset="0"/>
              </a:defRPr>
            </a:lvl3pPr>
            <a:lvl4pPr marL="1600200" indent="-228600">
              <a:defRPr sz="1400">
                <a:solidFill>
                  <a:srgbClr val="000000"/>
                </a:solidFill>
                <a:latin typeface="Arial" charset="0"/>
                <a:ea typeface="Arial" charset="0"/>
                <a:cs typeface="Arial" charset="0"/>
                <a:sym typeface="Arial" charset="0"/>
              </a:defRPr>
            </a:lvl4pPr>
            <a:lvl5pPr marL="2057400" indent="-228600">
              <a:defRPr sz="1400">
                <a:solidFill>
                  <a:srgbClr val="000000"/>
                </a:solidFill>
                <a:latin typeface="Arial" charset="0"/>
                <a:ea typeface="Arial" charset="0"/>
                <a:cs typeface="Arial" charset="0"/>
                <a:sym typeface="Arial" charset="0"/>
              </a:defRPr>
            </a:lvl5pPr>
            <a:lvl6pPr marL="25146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6pPr>
            <a:lvl7pPr marL="29718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7pPr>
            <a:lvl8pPr marL="34290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8pPr>
            <a:lvl9pPr marL="38862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9pPr>
          </a:lstStyle>
          <a:p>
            <a:pPr eaLnBrk="1" hangingPunct="1">
              <a:buClr>
                <a:srgbClr val="000000"/>
              </a:buClr>
              <a:buSzPct val="25000"/>
              <a:buFont typeface="Arial" charset="0"/>
              <a:buNone/>
            </a:pPr>
            <a:r>
              <a:rPr lang="en-US" altLang="it-IT" sz="2800"/>
              <a:t>computer</a:t>
            </a:r>
          </a:p>
        </p:txBody>
      </p:sp>
      <p:sp>
        <p:nvSpPr>
          <p:cNvPr id="62471" name="Shape 235"/>
          <p:cNvSpPr txBox="1">
            <a:spLocks noChangeArrowheads="1"/>
          </p:cNvSpPr>
          <p:nvPr/>
        </p:nvSpPr>
        <p:spPr bwMode="auto">
          <a:xfrm>
            <a:off x="2621860" y="4787157"/>
            <a:ext cx="2003425" cy="522288"/>
          </a:xfrm>
          <a:prstGeom prst="rect">
            <a:avLst/>
          </a:prstGeom>
          <a:solidFill>
            <a:srgbClr val="72BFC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charset="0"/>
                <a:ea typeface="Arial" charset="0"/>
                <a:cs typeface="Arial" charset="0"/>
                <a:sym typeface="Arial" charset="0"/>
              </a:defRPr>
            </a:lvl1pPr>
            <a:lvl2pPr marL="742950" indent="-285750">
              <a:defRPr sz="1400">
                <a:solidFill>
                  <a:srgbClr val="000000"/>
                </a:solidFill>
                <a:latin typeface="Arial" charset="0"/>
                <a:ea typeface="Arial" charset="0"/>
                <a:cs typeface="Arial" charset="0"/>
                <a:sym typeface="Arial" charset="0"/>
              </a:defRPr>
            </a:lvl2pPr>
            <a:lvl3pPr marL="1143000" indent="-228600">
              <a:defRPr sz="1400">
                <a:solidFill>
                  <a:srgbClr val="000000"/>
                </a:solidFill>
                <a:latin typeface="Arial" charset="0"/>
                <a:ea typeface="Arial" charset="0"/>
                <a:cs typeface="Arial" charset="0"/>
                <a:sym typeface="Arial" charset="0"/>
              </a:defRPr>
            </a:lvl3pPr>
            <a:lvl4pPr marL="1600200" indent="-228600">
              <a:defRPr sz="1400">
                <a:solidFill>
                  <a:srgbClr val="000000"/>
                </a:solidFill>
                <a:latin typeface="Arial" charset="0"/>
                <a:ea typeface="Arial" charset="0"/>
                <a:cs typeface="Arial" charset="0"/>
                <a:sym typeface="Arial" charset="0"/>
              </a:defRPr>
            </a:lvl4pPr>
            <a:lvl5pPr marL="2057400" indent="-228600">
              <a:defRPr sz="1400">
                <a:solidFill>
                  <a:srgbClr val="000000"/>
                </a:solidFill>
                <a:latin typeface="Arial" charset="0"/>
                <a:ea typeface="Arial" charset="0"/>
                <a:cs typeface="Arial" charset="0"/>
                <a:sym typeface="Arial" charset="0"/>
              </a:defRPr>
            </a:lvl5pPr>
            <a:lvl6pPr marL="25146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6pPr>
            <a:lvl7pPr marL="29718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7pPr>
            <a:lvl8pPr marL="34290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8pPr>
            <a:lvl9pPr marL="38862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9pPr>
          </a:lstStyle>
          <a:p>
            <a:pPr eaLnBrk="1" hangingPunct="1">
              <a:buClr>
                <a:srgbClr val="000000"/>
              </a:buClr>
              <a:buSzPct val="25000"/>
              <a:buFont typeface="Arial" charset="0"/>
              <a:buNone/>
            </a:pPr>
            <a:r>
              <a:rPr lang="en-US" altLang="it-IT" sz="2800"/>
              <a:t>a computer</a:t>
            </a:r>
          </a:p>
        </p:txBody>
      </p:sp>
      <p:sp>
        <p:nvSpPr>
          <p:cNvPr id="62472" name="Shape 236"/>
          <p:cNvSpPr txBox="1">
            <a:spLocks noChangeArrowheads="1"/>
          </p:cNvSpPr>
          <p:nvPr/>
        </p:nvSpPr>
        <p:spPr bwMode="auto">
          <a:xfrm>
            <a:off x="1270138" y="4391025"/>
            <a:ext cx="1684338" cy="523875"/>
          </a:xfrm>
          <a:prstGeom prst="rect">
            <a:avLst/>
          </a:prstGeom>
          <a:solidFill>
            <a:srgbClr val="72BFC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charset="0"/>
                <a:ea typeface="Arial" charset="0"/>
                <a:cs typeface="Arial" charset="0"/>
                <a:sym typeface="Arial" charset="0"/>
              </a:defRPr>
            </a:lvl1pPr>
            <a:lvl2pPr marL="742950" indent="-285750">
              <a:defRPr sz="1400">
                <a:solidFill>
                  <a:srgbClr val="000000"/>
                </a:solidFill>
                <a:latin typeface="Arial" charset="0"/>
                <a:ea typeface="Arial" charset="0"/>
                <a:cs typeface="Arial" charset="0"/>
                <a:sym typeface="Arial" charset="0"/>
              </a:defRPr>
            </a:lvl2pPr>
            <a:lvl3pPr marL="1143000" indent="-228600">
              <a:defRPr sz="1400">
                <a:solidFill>
                  <a:srgbClr val="000000"/>
                </a:solidFill>
                <a:latin typeface="Arial" charset="0"/>
                <a:ea typeface="Arial" charset="0"/>
                <a:cs typeface="Arial" charset="0"/>
                <a:sym typeface="Arial" charset="0"/>
              </a:defRPr>
            </a:lvl3pPr>
            <a:lvl4pPr marL="1600200" indent="-228600">
              <a:defRPr sz="1400">
                <a:solidFill>
                  <a:srgbClr val="000000"/>
                </a:solidFill>
                <a:latin typeface="Arial" charset="0"/>
                <a:ea typeface="Arial" charset="0"/>
                <a:cs typeface="Arial" charset="0"/>
                <a:sym typeface="Arial" charset="0"/>
              </a:defRPr>
            </a:lvl4pPr>
            <a:lvl5pPr marL="2057400" indent="-228600">
              <a:defRPr sz="1400">
                <a:solidFill>
                  <a:srgbClr val="000000"/>
                </a:solidFill>
                <a:latin typeface="Arial" charset="0"/>
                <a:ea typeface="Arial" charset="0"/>
                <a:cs typeface="Arial" charset="0"/>
                <a:sym typeface="Arial" charset="0"/>
              </a:defRPr>
            </a:lvl5pPr>
            <a:lvl6pPr marL="25146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6pPr>
            <a:lvl7pPr marL="29718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7pPr>
            <a:lvl8pPr marL="34290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8pPr>
            <a:lvl9pPr marL="3886200" indent="-228600" eaLnBrk="0" fontAlgn="base" hangingPunct="0">
              <a:spcBef>
                <a:spcPct val="0"/>
              </a:spcBef>
              <a:spcAft>
                <a:spcPct val="0"/>
              </a:spcAft>
              <a:defRPr sz="1400">
                <a:solidFill>
                  <a:srgbClr val="000000"/>
                </a:solidFill>
                <a:latin typeface="Arial" charset="0"/>
                <a:ea typeface="Arial" charset="0"/>
                <a:cs typeface="Arial" charset="0"/>
                <a:sym typeface="Arial" charset="0"/>
              </a:defRPr>
            </a:lvl9pPr>
          </a:lstStyle>
          <a:p>
            <a:pPr eaLnBrk="1" hangingPunct="1">
              <a:buClr>
                <a:srgbClr val="000000"/>
              </a:buClr>
              <a:buSzPct val="25000"/>
              <a:buFont typeface="Arial" charset="0"/>
              <a:buNone/>
            </a:pPr>
            <a:r>
              <a:rPr lang="en-US" altLang="it-IT" sz="2800"/>
              <a:t>computer</a:t>
            </a:r>
          </a:p>
        </p:txBody>
      </p:sp>
    </p:spTree>
  </p:cSld>
  <p:clrMapOvr>
    <a:masterClrMapping/>
  </p:clrMapOvr>
  <p:transition spd="slow">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hape 241"/>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Ethernet Party Analogy</a:t>
            </a:r>
          </a:p>
        </p:txBody>
      </p:sp>
      <p:sp>
        <p:nvSpPr>
          <p:cNvPr id="64515" name="Shape 242"/>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dirty="0">
                <a:latin typeface="Arial" charset="0"/>
                <a:ea typeface="Arial" charset="0"/>
                <a:cs typeface="Arial" charset="0"/>
              </a:rPr>
              <a:t>We assumed that all “friends” were equal</a:t>
            </a:r>
          </a:p>
          <a:p>
            <a:pPr lvl="1" indent="-285750">
              <a:spcAft>
                <a:spcPct val="0"/>
              </a:spcAft>
              <a:buClr>
                <a:srgbClr val="000000"/>
              </a:buClr>
              <a:buFontTx/>
              <a:buChar char="–"/>
            </a:pPr>
            <a:r>
              <a:rPr lang="en-US" altLang="it-IT" sz="2800" dirty="0">
                <a:latin typeface="Arial" charset="0"/>
                <a:ea typeface="Arial" charset="0"/>
                <a:cs typeface="Arial" charset="0"/>
              </a:rPr>
              <a:t>No had a more important status</a:t>
            </a:r>
          </a:p>
          <a:p>
            <a:pPr lvl="1" indent="-285750">
              <a:spcAft>
                <a:spcPct val="0"/>
              </a:spcAft>
              <a:buClr>
                <a:srgbClr val="000000"/>
              </a:buClr>
              <a:buFontTx/>
              <a:buChar char="–"/>
            </a:pPr>
            <a:r>
              <a:rPr lang="en-US" altLang="it-IT" sz="2800" dirty="0">
                <a:latin typeface="Arial" charset="0"/>
                <a:ea typeface="Arial" charset="0"/>
                <a:cs typeface="Arial" charset="0"/>
              </a:rPr>
              <a:t>Everyone spoke with the same voice</a:t>
            </a:r>
          </a:p>
          <a:p>
            <a:pPr indent="-342900">
              <a:spcBef>
                <a:spcPts val="600"/>
              </a:spcBef>
              <a:spcAft>
                <a:spcPct val="0"/>
              </a:spcAft>
              <a:buClr>
                <a:srgbClr val="000000"/>
              </a:buClr>
              <a:buFontTx/>
              <a:buChar char="•"/>
            </a:pPr>
            <a:r>
              <a:rPr lang="en-US" altLang="it-IT" sz="3200" dirty="0">
                <a:latin typeface="Arial" charset="0"/>
                <a:ea typeface="Arial" charset="0"/>
                <a:cs typeface="Arial" charset="0"/>
              </a:rPr>
              <a:t>There are differences, however:</a:t>
            </a:r>
          </a:p>
          <a:p>
            <a:pPr lvl="1" indent="-285750">
              <a:spcAft>
                <a:spcPct val="0"/>
              </a:spcAft>
              <a:buClr>
                <a:srgbClr val="000000"/>
              </a:buClr>
              <a:buFontTx/>
              <a:buChar char="–"/>
            </a:pPr>
            <a:r>
              <a:rPr lang="en-US" altLang="it-IT" sz="2800" dirty="0">
                <a:latin typeface="Arial" charset="0"/>
                <a:ea typeface="Arial" charset="0"/>
                <a:cs typeface="Arial" charset="0"/>
              </a:rPr>
              <a:t>Only one computer typically keeps the transmitted information</a:t>
            </a:r>
          </a:p>
          <a:p>
            <a:pPr lvl="1" indent="-285750">
              <a:spcAft>
                <a:spcPct val="0"/>
              </a:spcAft>
              <a:buClr>
                <a:srgbClr val="000000"/>
              </a:buClr>
              <a:buFontTx/>
              <a:buChar char="–"/>
            </a:pPr>
            <a:r>
              <a:rPr lang="en-US" altLang="it-IT" sz="2800" dirty="0">
                <a:latin typeface="Arial" charset="0"/>
                <a:ea typeface="Arial" charset="0"/>
                <a:cs typeface="Arial" charset="0"/>
              </a:rPr>
              <a:t>This broadcast medium is being used for </a:t>
            </a:r>
            <a:r>
              <a:rPr lang="en-US" altLang="it-IT" sz="2800" i="1" dirty="0">
                <a:latin typeface="Arial" charset="0"/>
                <a:ea typeface="Arial" charset="0"/>
                <a:cs typeface="Arial" charset="0"/>
              </a:rPr>
              <a:t>point-to-point</a:t>
            </a:r>
            <a:r>
              <a:rPr lang="en-US" altLang="it-IT" sz="2800" dirty="0">
                <a:latin typeface="Arial" charset="0"/>
                <a:ea typeface="Arial" charset="0"/>
                <a:cs typeface="Arial" charset="0"/>
              </a:rPr>
              <a:t> communication</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36</a:t>
            </a:fld>
            <a:endParaRPr lang="nb-NO"/>
          </a:p>
        </p:txBody>
      </p:sp>
    </p:spTree>
  </p:cSld>
  <p:clrMapOvr>
    <a:masterClrMapping/>
  </p:clrMapOvr>
  <p:transition spd="slow">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hape 247"/>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Ethernet Party Analogy</a:t>
            </a:r>
          </a:p>
        </p:txBody>
      </p:sp>
      <p:sp>
        <p:nvSpPr>
          <p:cNvPr id="66563" name="Shape 248"/>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dirty="0">
                <a:latin typeface="Arial" charset="0"/>
                <a:ea typeface="Arial" charset="0"/>
                <a:cs typeface="Arial" charset="0"/>
              </a:rPr>
              <a:t>A computer wants to transmit a message:</a:t>
            </a:r>
          </a:p>
          <a:p>
            <a:pPr lvl="1" indent="-285750">
              <a:spcAft>
                <a:spcPct val="0"/>
              </a:spcAft>
              <a:buClr>
                <a:srgbClr val="000000"/>
              </a:buClr>
              <a:buFontTx/>
              <a:buChar char="–"/>
            </a:pPr>
            <a:r>
              <a:rPr lang="en-US" altLang="it-IT" sz="2800" dirty="0">
                <a:latin typeface="Arial" charset="0"/>
                <a:ea typeface="Arial" charset="0"/>
                <a:cs typeface="Arial" charset="0"/>
              </a:rPr>
              <a:t>It starts sending signals and also starts listening to see if the message it gets is the one it sent</a:t>
            </a:r>
          </a:p>
          <a:p>
            <a:pPr lvl="1" indent="-285750">
              <a:spcAft>
                <a:spcPct val="0"/>
              </a:spcAft>
              <a:buClr>
                <a:srgbClr val="000000"/>
              </a:buClr>
              <a:buFontTx/>
              <a:buChar char="–"/>
            </a:pPr>
            <a:r>
              <a:rPr lang="en-US" altLang="it-IT" sz="2800" dirty="0">
                <a:latin typeface="Arial" charset="0"/>
                <a:ea typeface="Arial" charset="0"/>
                <a:cs typeface="Arial" charset="0"/>
              </a:rPr>
              <a:t>If it is, the computer knows it’s the only computer sending, and it completes the transmission</a:t>
            </a:r>
          </a:p>
          <a:p>
            <a:pPr lvl="1" indent="-285750">
              <a:spcAft>
                <a:spcPct val="0"/>
              </a:spcAft>
              <a:buClr>
                <a:srgbClr val="000000"/>
              </a:buClr>
              <a:buFontTx/>
              <a:buChar char="–"/>
            </a:pPr>
            <a:r>
              <a:rPr lang="en-US" altLang="it-IT" sz="2800" dirty="0">
                <a:latin typeface="Arial" charset="0"/>
                <a:ea typeface="Arial" charset="0"/>
                <a:cs typeface="Arial" charset="0"/>
              </a:rPr>
              <a:t>If it isn’t, (we call this situation “collision”) the computer stops transmitting immediately</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37</a:t>
            </a:fld>
            <a:endParaRPr lang="nb-NO"/>
          </a:p>
        </p:txBody>
      </p:sp>
    </p:spTree>
  </p:cSld>
  <p:clrMapOvr>
    <a:masterClrMapping/>
  </p:clrMapOvr>
  <p:transition spd="slow">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hape 253"/>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Ethernet Party Analogy</a:t>
            </a:r>
          </a:p>
        </p:txBody>
      </p:sp>
      <p:sp>
        <p:nvSpPr>
          <p:cNvPr id="68611" name="Shape 254"/>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dirty="0">
                <a:latin typeface="Arial" charset="0"/>
                <a:ea typeface="Arial" charset="0"/>
                <a:cs typeface="Arial" charset="0"/>
              </a:rPr>
              <a:t>If the the transmission had to stop (because some other computer was sending at the same time):</a:t>
            </a:r>
          </a:p>
          <a:p>
            <a:pPr lvl="1" indent="-285750">
              <a:spcAft>
                <a:spcPct val="0"/>
              </a:spcAft>
              <a:buClr>
                <a:srgbClr val="000000"/>
              </a:buClr>
              <a:buFontTx/>
              <a:buChar char="–"/>
            </a:pPr>
            <a:r>
              <a:rPr lang="en-US" altLang="it-IT" sz="2800" dirty="0">
                <a:latin typeface="Arial" charset="0"/>
                <a:ea typeface="Arial" charset="0"/>
                <a:cs typeface="Arial" charset="0"/>
              </a:rPr>
              <a:t>The senders wait a random amount of time and try to send again</a:t>
            </a:r>
          </a:p>
          <a:p>
            <a:pPr lvl="1" indent="-285750">
              <a:spcAft>
                <a:spcPct val="0"/>
              </a:spcAft>
              <a:buClr>
                <a:srgbClr val="000000"/>
              </a:buClr>
              <a:buFontTx/>
              <a:buChar char="–"/>
            </a:pPr>
            <a:r>
              <a:rPr lang="en-US" altLang="it-IT" sz="2800" dirty="0">
                <a:latin typeface="Arial" charset="0"/>
                <a:ea typeface="Arial" charset="0"/>
                <a:cs typeface="Arial" charset="0"/>
              </a:rPr>
              <a:t>Probably they will wait different amounts of time, so one will go first, and the others will wait</a:t>
            </a:r>
          </a:p>
          <a:p>
            <a:pPr lvl="1" indent="-285750">
              <a:spcAft>
                <a:spcPct val="0"/>
              </a:spcAft>
              <a:buClr>
                <a:srgbClr val="000000"/>
              </a:buClr>
              <a:buFontTx/>
              <a:buChar char="–"/>
            </a:pPr>
            <a:r>
              <a:rPr lang="en-US" altLang="it-IT" sz="2800" dirty="0">
                <a:latin typeface="Arial" charset="0"/>
                <a:ea typeface="Arial" charset="0"/>
                <a:cs typeface="Arial" charset="0"/>
              </a:rPr>
              <a:t>If there is another collision, the process is repeated</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38</a:t>
            </a:fld>
            <a:endParaRPr lang="nb-NO"/>
          </a:p>
        </p:txBody>
      </p:sp>
    </p:spTree>
  </p:cSld>
  <p:clrMapOvr>
    <a:masterClrMapping/>
  </p:clrMapOvr>
  <p:transition spd="slow">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hape 259"/>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Connecting to the Internet</a:t>
            </a:r>
          </a:p>
        </p:txBody>
      </p:sp>
      <p:sp>
        <p:nvSpPr>
          <p:cNvPr id="260" name="Shape 260"/>
          <p:cNvSpPr txBox="1">
            <a:spLocks noGrp="1"/>
          </p:cNvSpPr>
          <p:nvPr>
            <p:ph idx="1"/>
          </p:nvPr>
        </p:nvSpPr>
        <p:spPr/>
        <p:txBody>
          <a:bodyPr vert="horz" lIns="91440" tIns="45700" rIns="91440" bIns="45700" rtlCol="0" anchor="ctr">
            <a:noAutofit/>
          </a:bodyPr>
          <a:lstStyle/>
          <a:p>
            <a:pPr indent="-342900">
              <a:lnSpc>
                <a:spcPct val="150000"/>
              </a:lnSpc>
              <a:spcBef>
                <a:spcPct val="0"/>
              </a:spcBef>
              <a:spcAft>
                <a:spcPct val="0"/>
              </a:spcAft>
              <a:buClr>
                <a:srgbClr val="000000"/>
              </a:buClr>
              <a:buFontTx/>
              <a:buChar char="•"/>
            </a:pPr>
            <a:r>
              <a:rPr lang="en-US" altLang="it-IT" sz="3200" dirty="0">
                <a:latin typeface="Arial" charset="0"/>
                <a:ea typeface="Arial" charset="0"/>
                <a:cs typeface="Arial" charset="0"/>
              </a:rPr>
              <a:t>Today there are two basic methods:</a:t>
            </a:r>
          </a:p>
          <a:p>
            <a:pPr marL="971550" lvl="1" indent="-514350">
              <a:lnSpc>
                <a:spcPct val="150000"/>
              </a:lnSpc>
              <a:spcAft>
                <a:spcPct val="0"/>
              </a:spcAft>
              <a:buClr>
                <a:srgbClr val="000000"/>
              </a:buClr>
              <a:buFontTx/>
              <a:buAutoNum type="arabicPeriod"/>
            </a:pPr>
            <a:r>
              <a:rPr lang="en-US" altLang="it-IT" sz="2800" dirty="0">
                <a:latin typeface="Arial" charset="0"/>
                <a:ea typeface="Arial" charset="0"/>
                <a:cs typeface="Arial" charset="0"/>
              </a:rPr>
              <a:t>Connection via an Internet service provider (ISP)</a:t>
            </a:r>
            <a:endParaRPr lang="it-IT" altLang="it-IT" dirty="0">
              <a:latin typeface="Arial" charset="0"/>
              <a:ea typeface="Arial" charset="0"/>
              <a:cs typeface="Arial" charset="0"/>
            </a:endParaRPr>
          </a:p>
          <a:p>
            <a:pPr marL="971550" lvl="1" indent="-514350">
              <a:lnSpc>
                <a:spcPct val="150000"/>
              </a:lnSpc>
              <a:spcAft>
                <a:spcPct val="0"/>
              </a:spcAft>
              <a:buClr>
                <a:srgbClr val="000000"/>
              </a:buClr>
              <a:buFontTx/>
              <a:buAutoNum type="arabicPeriod"/>
            </a:pPr>
            <a:r>
              <a:rPr lang="en-US" altLang="it-IT" sz="2800" dirty="0">
                <a:latin typeface="Arial" charset="0"/>
                <a:ea typeface="Arial" charset="0"/>
                <a:cs typeface="Arial" charset="0"/>
              </a:rPr>
              <a:t>Connection provided by a campus or enterprise network</a:t>
            </a:r>
            <a:endParaRPr lang="it-IT" altLang="it-IT" dirty="0">
              <a:latin typeface="Arial" charset="0"/>
              <a:ea typeface="Arial" charset="0"/>
              <a:cs typeface="Arial" charset="0"/>
            </a:endParaRPr>
          </a:p>
          <a:p>
            <a:pPr indent="-342900">
              <a:lnSpc>
                <a:spcPct val="150000"/>
              </a:lnSpc>
              <a:spcBef>
                <a:spcPts val="600"/>
              </a:spcBef>
              <a:spcAft>
                <a:spcPct val="0"/>
              </a:spcAft>
              <a:buClr>
                <a:srgbClr val="000000"/>
              </a:buClr>
              <a:buFontTx/>
              <a:buChar char="•"/>
            </a:pPr>
            <a:r>
              <a:rPr lang="en-US" altLang="it-IT" sz="3200" dirty="0">
                <a:latin typeface="Arial" charset="0"/>
                <a:ea typeface="Arial" charset="0"/>
                <a:cs typeface="Arial" charset="0"/>
              </a:rPr>
              <a:t>Most of us use, in different moments, both kinds of connections</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39</a:t>
            </a:fld>
            <a:endParaRPr lang="nb-NO"/>
          </a:p>
        </p:txBody>
      </p:sp>
    </p:spTree>
  </p:cSld>
  <p:clrMapOvr>
    <a:masterClrMapping/>
  </p:clrMapOvr>
  <p:transition spd="slow">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hape 265"/>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1. Connections by ISP</a:t>
            </a:r>
          </a:p>
        </p:txBody>
      </p:sp>
      <p:sp>
        <p:nvSpPr>
          <p:cNvPr id="72707" name="Shape 266"/>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Most home users connect to the Internet by ISPs</a:t>
            </a:r>
          </a:p>
          <a:p>
            <a:pPr lvl="1" indent="-285750">
              <a:spcAft>
                <a:spcPct val="0"/>
              </a:spcAft>
              <a:buClr>
                <a:srgbClr val="000000"/>
              </a:buClr>
              <a:buFontTx/>
              <a:buChar char="–"/>
            </a:pPr>
            <a:r>
              <a:rPr lang="en-US" altLang="it-IT" sz="2800">
                <a:latin typeface="Arial" charset="0"/>
                <a:ea typeface="Arial" charset="0"/>
                <a:cs typeface="Arial" charset="0"/>
              </a:rPr>
              <a:t>These are companies that sell connections to the Internet</a:t>
            </a:r>
          </a:p>
          <a:p>
            <a:pPr indent="-342900">
              <a:spcBef>
                <a:spcPts val="600"/>
              </a:spcBef>
              <a:spcAft>
                <a:spcPct val="0"/>
              </a:spcAft>
              <a:buClr>
                <a:srgbClr val="000000"/>
              </a:buClr>
              <a:buFontTx/>
              <a:buChar char="•"/>
            </a:pPr>
            <a:r>
              <a:rPr lang="en-US" altLang="it-IT" sz="3200">
                <a:latin typeface="Arial" charset="0"/>
                <a:ea typeface="Arial" charset="0"/>
                <a:cs typeface="Arial" charset="0"/>
              </a:rPr>
              <a:t>The company places a modem at your house</a:t>
            </a:r>
          </a:p>
          <a:p>
            <a:pPr lvl="1" indent="-285750">
              <a:spcAft>
                <a:spcPct val="0"/>
              </a:spcAft>
              <a:buClr>
                <a:srgbClr val="000000"/>
              </a:buClr>
              <a:buFontTx/>
              <a:buChar char="–"/>
            </a:pPr>
            <a:r>
              <a:rPr lang="en-US" altLang="it-IT" sz="2800">
                <a:latin typeface="Arial" charset="0"/>
                <a:ea typeface="Arial" charset="0"/>
                <a:cs typeface="Arial" charset="0"/>
              </a:rPr>
              <a:t>Modems convert the bits a computer outputs into a form that is compatible with the carrier</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40</a:t>
            </a:fld>
            <a:endParaRPr lang="nb-NO"/>
          </a:p>
        </p:txBody>
      </p:sp>
    </p:spTree>
  </p:cSld>
  <p:clrMapOvr>
    <a:masterClrMapping/>
  </p:clrMapOvr>
  <p:transition spd="slow">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hape 271"/>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1. Connections by ISP</a:t>
            </a:r>
          </a:p>
        </p:txBody>
      </p:sp>
      <p:sp>
        <p:nvSpPr>
          <p:cNvPr id="74755" name="Shape 272"/>
          <p:cNvSpPr txBox="1">
            <a:spLocks noGrp="1"/>
          </p:cNvSpPr>
          <p:nvPr>
            <p:ph idx="1"/>
          </p:nvPr>
        </p:nvSpPr>
        <p:spPr/>
        <p:txBody>
          <a:bodyPr vert="horz" lIns="91440" tIns="45700" rIns="91440" bIns="45700" rtlCol="0">
            <a:normAutofit/>
          </a:bodyPr>
          <a:lstStyle/>
          <a:p>
            <a:pPr marL="914400" lvl="1" indent="-520700">
              <a:spcBef>
                <a:spcPct val="0"/>
              </a:spcBef>
              <a:spcAft>
                <a:spcPct val="0"/>
              </a:spcAft>
              <a:buClr>
                <a:srgbClr val="000000"/>
              </a:buClr>
              <a:buFontTx/>
              <a:buAutoNum type="arabicPeriod"/>
            </a:pPr>
            <a:r>
              <a:rPr lang="en-US" altLang="it-IT" sz="2800">
                <a:latin typeface="Arial" charset="0"/>
                <a:ea typeface="Arial" charset="0"/>
                <a:cs typeface="Arial" charset="0"/>
              </a:rPr>
              <a:t>The signals are sent to the carrier’s business</a:t>
            </a:r>
          </a:p>
          <a:p>
            <a:pPr marL="914400" lvl="1" indent="-520700">
              <a:spcAft>
                <a:spcPct val="0"/>
              </a:spcAft>
              <a:buClr>
                <a:srgbClr val="000000"/>
              </a:buClr>
              <a:buFontTx/>
              <a:buAutoNum type="arabicPeriod"/>
            </a:pPr>
            <a:r>
              <a:rPr lang="en-US" altLang="it-IT" sz="2800">
                <a:latin typeface="Arial" charset="0"/>
                <a:ea typeface="Arial" charset="0"/>
                <a:cs typeface="Arial" charset="0"/>
              </a:rPr>
              <a:t>They are converted (via modem) into a form for the server that connects to the Internet via the Internet Gateway</a:t>
            </a:r>
          </a:p>
          <a:p>
            <a:pPr marL="514350" indent="-514350">
              <a:spcBef>
                <a:spcPts val="600"/>
              </a:spcBef>
              <a:spcAft>
                <a:spcPct val="0"/>
              </a:spcAft>
              <a:buClr>
                <a:srgbClr val="000000"/>
              </a:buClr>
              <a:buFontTx/>
              <a:buChar char="•"/>
            </a:pPr>
            <a:r>
              <a:rPr lang="en-US" altLang="it-IT" sz="3200">
                <a:latin typeface="Arial" charset="0"/>
                <a:ea typeface="Arial" charset="0"/>
                <a:cs typeface="Arial" charset="0"/>
              </a:rPr>
              <a:t>Digital subscriber line (DSL or ADSL) and cable (TV) are two common providers</a:t>
            </a:r>
          </a:p>
          <a:p>
            <a:pPr marL="514350" indent="-514350">
              <a:spcBef>
                <a:spcPts val="600"/>
              </a:spcBef>
              <a:spcAft>
                <a:spcPct val="0"/>
              </a:spcAft>
              <a:buClr>
                <a:srgbClr val="000000"/>
              </a:buClr>
              <a:buFontTx/>
              <a:buChar char="•"/>
            </a:pPr>
            <a:r>
              <a:rPr lang="en-US" altLang="it-IT" sz="3200">
                <a:latin typeface="Arial" charset="0"/>
                <a:ea typeface="Arial" charset="0"/>
                <a:cs typeface="Arial" charset="0"/>
              </a:rPr>
              <a:t>Your smart phone also has a modem for connecting to network</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41</a:t>
            </a:fld>
            <a:endParaRPr lang="nb-NO"/>
          </a:p>
        </p:txBody>
      </p:sp>
    </p:spTree>
  </p:cSld>
  <p:clrMapOvr>
    <a:masterClrMapping/>
  </p:clrMapOvr>
  <p:transition spd="slow">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14638" y="506414"/>
            <a:ext cx="6927850" cy="555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42</a:t>
            </a:fld>
            <a:endParaRPr lang="nb-NO"/>
          </a:p>
        </p:txBody>
      </p:sp>
    </p:spTree>
  </p:cSld>
  <p:clrMapOvr>
    <a:masterClrMapping/>
  </p:clrMapOvr>
  <p:transition spd="slow">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hape 283"/>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sz="4000">
                <a:latin typeface="Arial" charset="0"/>
                <a:ea typeface="Arial" charset="0"/>
                <a:cs typeface="Arial" charset="0"/>
              </a:rPr>
              <a:t>2. Enterprise Network Connections</a:t>
            </a:r>
          </a:p>
        </p:txBody>
      </p:sp>
      <p:sp>
        <p:nvSpPr>
          <p:cNvPr id="78851" name="Shape 284"/>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The other way to connect is as a user of a larger networked organization (school, business, or governmental unit)</a:t>
            </a:r>
          </a:p>
          <a:p>
            <a:pPr indent="-342900">
              <a:spcBef>
                <a:spcPct val="0"/>
              </a:spcBef>
              <a:spcAft>
                <a:spcPct val="0"/>
              </a:spcAft>
              <a:buClr>
                <a:srgbClr val="000000"/>
              </a:buClr>
              <a:buFontTx/>
              <a:buChar char="•"/>
            </a:pPr>
            <a:r>
              <a:rPr lang="en-US" altLang="it-IT" sz="3200">
                <a:latin typeface="Arial" charset="0"/>
                <a:ea typeface="Arial" charset="0"/>
                <a:cs typeface="Arial" charset="0"/>
              </a:rPr>
              <a:t>A LAN connects computers within the organization</a:t>
            </a:r>
          </a:p>
          <a:p>
            <a:pPr indent="-342900">
              <a:spcBef>
                <a:spcPts val="600"/>
              </a:spcBef>
              <a:spcAft>
                <a:spcPct val="0"/>
              </a:spcAft>
              <a:buClr>
                <a:srgbClr val="000000"/>
              </a:buClr>
              <a:buFontTx/>
              <a:buChar char="•"/>
            </a:pPr>
            <a:r>
              <a:rPr lang="en-US" altLang="it-IT" sz="3200">
                <a:latin typeface="Arial" charset="0"/>
                <a:ea typeface="Arial" charset="0"/>
                <a:cs typeface="Arial" charset="0"/>
              </a:rPr>
              <a:t>The LAN is connected to the Internet by a gateway</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43</a:t>
            </a:fld>
            <a:endParaRPr lang="nb-NO"/>
          </a:p>
        </p:txBody>
      </p:sp>
    </p:spTree>
  </p:cSld>
  <p:clrMapOvr>
    <a:masterClrMapping/>
  </p:clrMapOvr>
  <p:transition spd="slow">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hape 289"/>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Wireless Networks</a:t>
            </a:r>
          </a:p>
        </p:txBody>
      </p:sp>
      <p:sp>
        <p:nvSpPr>
          <p:cNvPr id="80899" name="Shape 290"/>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Variation of a LAN connection</a:t>
            </a:r>
          </a:p>
          <a:p>
            <a:pPr indent="-342900">
              <a:spcBef>
                <a:spcPts val="600"/>
              </a:spcBef>
              <a:spcAft>
                <a:spcPct val="0"/>
              </a:spcAft>
              <a:buClr>
                <a:srgbClr val="000000"/>
              </a:buClr>
              <a:buFontTx/>
              <a:buChar char="•"/>
            </a:pPr>
            <a:r>
              <a:rPr lang="en-US" altLang="it-IT" sz="3200">
                <a:latin typeface="Arial" charset="0"/>
                <a:ea typeface="Arial" charset="0"/>
                <a:cs typeface="Arial" charset="0"/>
              </a:rPr>
              <a:t>Referred to by its protocol name </a:t>
            </a:r>
            <a:r>
              <a:rPr lang="en-US" altLang="it-IT" sz="3200" b="1" i="1">
                <a:solidFill>
                  <a:srgbClr val="1E4649"/>
                </a:solidFill>
                <a:latin typeface="Arial" charset="0"/>
                <a:ea typeface="Arial" charset="0"/>
                <a:cs typeface="Arial" charset="0"/>
              </a:rPr>
              <a:t>802.11</a:t>
            </a:r>
          </a:p>
          <a:p>
            <a:pPr indent="-342900">
              <a:spcBef>
                <a:spcPts val="600"/>
              </a:spcBef>
              <a:spcAft>
                <a:spcPct val="0"/>
              </a:spcAft>
              <a:buClr>
                <a:srgbClr val="000000"/>
              </a:buClr>
              <a:buFontTx/>
              <a:buChar char="•"/>
            </a:pPr>
            <a:r>
              <a:rPr lang="en-US" altLang="it-IT" sz="3200">
                <a:latin typeface="Arial" charset="0"/>
                <a:ea typeface="Arial" charset="0"/>
                <a:cs typeface="Arial" charset="0"/>
              </a:rPr>
              <a:t>The router is:</a:t>
            </a:r>
          </a:p>
          <a:p>
            <a:pPr lvl="1" indent="-285750">
              <a:spcAft>
                <a:spcPct val="0"/>
              </a:spcAft>
              <a:buClr>
                <a:srgbClr val="000000"/>
              </a:buClr>
              <a:buFontTx/>
              <a:buChar char="–"/>
            </a:pPr>
            <a:r>
              <a:rPr lang="en-US" altLang="it-IT" sz="2800">
                <a:latin typeface="Arial" charset="0"/>
                <a:ea typeface="Arial" charset="0"/>
                <a:cs typeface="Arial" charset="0"/>
              </a:rPr>
              <a:t>Physically connected to an ISP’s modem</a:t>
            </a:r>
          </a:p>
          <a:p>
            <a:pPr lvl="1" indent="-285750">
              <a:spcAft>
                <a:spcPct val="0"/>
              </a:spcAft>
              <a:buClr>
                <a:srgbClr val="000000"/>
              </a:buClr>
              <a:buFontTx/>
              <a:buChar char="–"/>
            </a:pPr>
            <a:r>
              <a:rPr lang="en-US" altLang="it-IT" sz="2800">
                <a:latin typeface="Arial" charset="0"/>
                <a:ea typeface="Arial" charset="0"/>
                <a:cs typeface="Arial" charset="0"/>
              </a:rPr>
              <a:t>Connected to the Internet</a:t>
            </a:r>
          </a:p>
          <a:p>
            <a:pPr lvl="1" indent="-285750">
              <a:spcAft>
                <a:spcPct val="0"/>
              </a:spcAft>
              <a:buClr>
                <a:srgbClr val="000000"/>
              </a:buClr>
              <a:buFontTx/>
              <a:buChar char="–"/>
            </a:pPr>
            <a:r>
              <a:rPr lang="en-US" altLang="it-IT" sz="2800">
                <a:latin typeface="Arial" charset="0"/>
                <a:ea typeface="Arial" charset="0"/>
                <a:cs typeface="Arial" charset="0"/>
              </a:rPr>
              <a:t>Capable of </a:t>
            </a:r>
            <a:r>
              <a:rPr lang="en-US" altLang="it-IT" sz="2800" i="1">
                <a:latin typeface="Arial" charset="0"/>
                <a:ea typeface="Arial" charset="0"/>
                <a:cs typeface="Arial" charset="0"/>
              </a:rPr>
              <a:t>broadcasting</a:t>
            </a:r>
            <a:r>
              <a:rPr lang="en-US" altLang="it-IT" sz="2800">
                <a:latin typeface="Arial" charset="0"/>
                <a:ea typeface="Arial" charset="0"/>
                <a:cs typeface="Arial" charset="0"/>
              </a:rPr>
              <a:t> </a:t>
            </a:r>
            <a:r>
              <a:rPr lang="en-US" altLang="it-IT" sz="2800" b="1">
                <a:latin typeface="Arial" charset="0"/>
                <a:ea typeface="Arial" charset="0"/>
                <a:cs typeface="Arial" charset="0"/>
              </a:rPr>
              <a:t>and</a:t>
            </a:r>
            <a:r>
              <a:rPr lang="en-US" altLang="it-IT" sz="2800">
                <a:latin typeface="Arial" charset="0"/>
                <a:ea typeface="Arial" charset="0"/>
                <a:cs typeface="Arial" charset="0"/>
              </a:rPr>
              <a:t> </a:t>
            </a:r>
            <a:r>
              <a:rPr lang="en-US" altLang="it-IT" sz="2800" i="1">
                <a:latin typeface="Arial" charset="0"/>
                <a:ea typeface="Arial" charset="0"/>
                <a:cs typeface="Arial" charset="0"/>
              </a:rPr>
              <a:t>receiving</a:t>
            </a:r>
            <a:r>
              <a:rPr lang="en-US" altLang="it-IT" sz="2800">
                <a:latin typeface="Arial" charset="0"/>
                <a:ea typeface="Arial" charset="0"/>
                <a:cs typeface="Arial" charset="0"/>
              </a:rPr>
              <a:t> signals, usually radio frequency (rf ) signals</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44</a:t>
            </a:fld>
            <a:endParaRPr lang="nb-NO"/>
          </a:p>
        </p:txBody>
      </p:sp>
    </p:spTree>
  </p:cSld>
  <p:clrMapOvr>
    <a:masterClrMapping/>
  </p:clrMapOvr>
  <p:transition spd="slow">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59150" y="573088"/>
            <a:ext cx="5619750" cy="529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45</a:t>
            </a:fld>
            <a:endParaRPr lang="nb-NO"/>
          </a:p>
        </p:txBody>
      </p:sp>
    </p:spTree>
  </p:cSld>
  <p:clrMapOvr>
    <a:masterClrMapping/>
  </p:clrMapOvr>
  <p:transition spd="slow">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hape 300"/>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Computer Addresses</a:t>
            </a:r>
          </a:p>
        </p:txBody>
      </p:sp>
      <p:sp>
        <p:nvSpPr>
          <p:cNvPr id="84995" name="Shape 301"/>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Domain Names</a:t>
            </a:r>
          </a:p>
          <a:p>
            <a:pPr lvl="1" indent="-285750">
              <a:spcAft>
                <a:spcPct val="0"/>
              </a:spcAft>
              <a:buClr>
                <a:srgbClr val="000000"/>
              </a:buClr>
              <a:buFontTx/>
              <a:buChar char="–"/>
            </a:pPr>
            <a:r>
              <a:rPr lang="en-US" altLang="it-IT" sz="2800">
                <a:latin typeface="Arial" charset="0"/>
                <a:ea typeface="Arial" charset="0"/>
                <a:cs typeface="Arial" charset="0"/>
              </a:rPr>
              <a:t>It is hard to remember the numeric IP address of all the computers we communicate with</a:t>
            </a:r>
          </a:p>
          <a:p>
            <a:pPr lvl="1" indent="-285750">
              <a:spcAft>
                <a:spcPct val="0"/>
              </a:spcAft>
              <a:buClr>
                <a:srgbClr val="000000"/>
              </a:buClr>
              <a:buFontTx/>
              <a:buChar char="–"/>
            </a:pPr>
            <a:r>
              <a:rPr lang="en-US" altLang="it-IT" sz="2800">
                <a:latin typeface="Arial" charset="0"/>
                <a:ea typeface="Arial" charset="0"/>
                <a:cs typeface="Arial" charset="0"/>
              </a:rPr>
              <a:t>The Internet uses human-readable symbolic names for computers that are based on a hierarchy of </a:t>
            </a:r>
            <a:r>
              <a:rPr lang="en-US" altLang="it-IT" sz="2800" i="1">
                <a:latin typeface="Arial" charset="0"/>
                <a:ea typeface="Arial" charset="0"/>
                <a:cs typeface="Arial" charset="0"/>
              </a:rPr>
              <a:t>domains</a:t>
            </a:r>
          </a:p>
          <a:p>
            <a:pPr lvl="1" indent="-285750">
              <a:spcAft>
                <a:spcPct val="0"/>
              </a:spcAft>
              <a:buClr>
                <a:srgbClr val="000000"/>
              </a:buClr>
              <a:buFontTx/>
              <a:buChar char="–"/>
            </a:pPr>
            <a:r>
              <a:rPr lang="en-US" altLang="it-IT" sz="2800">
                <a:latin typeface="Arial" charset="0"/>
                <a:ea typeface="Arial" charset="0"/>
                <a:cs typeface="Arial" charset="0"/>
              </a:rPr>
              <a:t>A </a:t>
            </a:r>
            <a:r>
              <a:rPr lang="en-US" altLang="it-IT" sz="2800" b="1">
                <a:latin typeface="Arial" charset="0"/>
                <a:ea typeface="Arial" charset="0"/>
                <a:cs typeface="Arial" charset="0"/>
              </a:rPr>
              <a:t>domain </a:t>
            </a:r>
            <a:r>
              <a:rPr lang="en-US" altLang="it-IT" sz="2800">
                <a:latin typeface="Arial" charset="0"/>
                <a:ea typeface="Arial" charset="0"/>
                <a:cs typeface="Arial" charset="0"/>
              </a:rPr>
              <a:t>is a related group of networked computers</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46</a:t>
            </a:fld>
            <a:endParaRPr lang="nb-NO"/>
          </a:p>
        </p:txBody>
      </p:sp>
    </p:spTree>
  </p:cSld>
  <p:clrMapOvr>
    <a:masterClrMapping/>
  </p:clrMapOvr>
  <p:transition spd="slow">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hape 306"/>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Computer Addresses</a:t>
            </a:r>
          </a:p>
        </p:txBody>
      </p:sp>
      <p:sp>
        <p:nvSpPr>
          <p:cNvPr id="87043" name="Shape 307"/>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Domain Names</a:t>
            </a:r>
          </a:p>
          <a:p>
            <a:pPr lvl="1" indent="-285750">
              <a:spcAft>
                <a:spcPct val="0"/>
              </a:spcAft>
              <a:buClr>
                <a:srgbClr val="000000"/>
              </a:buClr>
              <a:buFontTx/>
              <a:buChar char="–"/>
            </a:pPr>
            <a:r>
              <a:rPr lang="en-US" altLang="it-IT" sz="2800">
                <a:latin typeface="Arial" charset="0"/>
                <a:ea typeface="Arial" charset="0"/>
                <a:cs typeface="Arial" charset="0"/>
              </a:rPr>
              <a:t>Example: </a:t>
            </a:r>
            <a:r>
              <a:rPr lang="en-US" altLang="it-IT" sz="2800" b="1">
                <a:solidFill>
                  <a:srgbClr val="3C8C93"/>
                </a:solidFill>
                <a:latin typeface="Arial" charset="0"/>
                <a:ea typeface="Arial" charset="0"/>
                <a:cs typeface="Arial" charset="0"/>
              </a:rPr>
              <a:t>spiff</a:t>
            </a:r>
            <a:r>
              <a:rPr lang="en-US" altLang="it-IT" sz="2800" b="1">
                <a:latin typeface="Arial" charset="0"/>
                <a:ea typeface="Arial" charset="0"/>
                <a:cs typeface="Arial" charset="0"/>
              </a:rPr>
              <a:t>.</a:t>
            </a:r>
            <a:r>
              <a:rPr lang="en-US" altLang="it-IT" sz="2800" b="1">
                <a:solidFill>
                  <a:srgbClr val="7030A0"/>
                </a:solidFill>
                <a:latin typeface="Arial" charset="0"/>
                <a:ea typeface="Arial" charset="0"/>
                <a:cs typeface="Arial" charset="0"/>
              </a:rPr>
              <a:t>cs</a:t>
            </a:r>
            <a:r>
              <a:rPr lang="en-US" altLang="it-IT" sz="2800" b="1">
                <a:latin typeface="Arial" charset="0"/>
                <a:ea typeface="Arial" charset="0"/>
                <a:cs typeface="Arial" charset="0"/>
              </a:rPr>
              <a:t>.</a:t>
            </a:r>
            <a:r>
              <a:rPr lang="en-US" altLang="it-IT" sz="2800" b="1">
                <a:solidFill>
                  <a:srgbClr val="00B0F0"/>
                </a:solidFill>
                <a:latin typeface="Arial" charset="0"/>
                <a:ea typeface="Arial" charset="0"/>
                <a:cs typeface="Arial" charset="0"/>
              </a:rPr>
              <a:t>washington</a:t>
            </a:r>
            <a:r>
              <a:rPr lang="en-US" altLang="it-IT" sz="2800" b="1">
                <a:latin typeface="Arial" charset="0"/>
                <a:ea typeface="Arial" charset="0"/>
                <a:cs typeface="Arial" charset="0"/>
              </a:rPr>
              <a:t>.</a:t>
            </a:r>
            <a:r>
              <a:rPr lang="en-US" altLang="it-IT" sz="2800" b="1">
                <a:solidFill>
                  <a:srgbClr val="C00000"/>
                </a:solidFill>
                <a:latin typeface="Arial" charset="0"/>
                <a:ea typeface="Arial" charset="0"/>
                <a:cs typeface="Arial" charset="0"/>
              </a:rPr>
              <a:t>edu</a:t>
            </a:r>
          </a:p>
          <a:p>
            <a:pPr lvl="1" indent="-285750">
              <a:spcAft>
                <a:spcPct val="0"/>
              </a:spcAft>
              <a:buClr>
                <a:srgbClr val="000000"/>
              </a:buClr>
              <a:buFontTx/>
              <a:buChar char="–"/>
            </a:pPr>
            <a:r>
              <a:rPr lang="en-US" altLang="it-IT" sz="2800">
                <a:latin typeface="Arial" charset="0"/>
                <a:ea typeface="Arial" charset="0"/>
                <a:cs typeface="Arial" charset="0"/>
              </a:rPr>
              <a:t>The name of the computer is </a:t>
            </a:r>
            <a:r>
              <a:rPr lang="en-US" altLang="it-IT" sz="2800" b="1">
                <a:solidFill>
                  <a:srgbClr val="3C8C93"/>
                </a:solidFill>
                <a:latin typeface="Arial" charset="0"/>
                <a:ea typeface="Arial" charset="0"/>
                <a:cs typeface="Arial" charset="0"/>
              </a:rPr>
              <a:t>spiff</a:t>
            </a:r>
          </a:p>
          <a:p>
            <a:pPr lvl="1" indent="-285750">
              <a:spcAft>
                <a:spcPct val="0"/>
              </a:spcAft>
              <a:buClr>
                <a:srgbClr val="000000"/>
              </a:buClr>
              <a:buFontTx/>
              <a:buChar char="–"/>
            </a:pPr>
            <a:r>
              <a:rPr lang="en-US" altLang="it-IT" sz="2800">
                <a:latin typeface="Arial" charset="0"/>
                <a:ea typeface="Arial" charset="0"/>
                <a:cs typeface="Arial" charset="0"/>
              </a:rPr>
              <a:t>it is part of the Computer Science and Engineering Department domain (</a:t>
            </a:r>
            <a:r>
              <a:rPr lang="en-US" altLang="it-IT" sz="2800" b="1">
                <a:solidFill>
                  <a:srgbClr val="7030A0"/>
                </a:solidFill>
                <a:latin typeface="Arial" charset="0"/>
                <a:ea typeface="Arial" charset="0"/>
                <a:cs typeface="Arial" charset="0"/>
              </a:rPr>
              <a:t>cs</a:t>
            </a:r>
            <a:r>
              <a:rPr lang="en-US" altLang="it-IT" sz="2800">
                <a:latin typeface="Arial" charset="0"/>
                <a:ea typeface="Arial" charset="0"/>
                <a:cs typeface="Arial" charset="0"/>
              </a:rPr>
              <a:t>)</a:t>
            </a:r>
          </a:p>
          <a:p>
            <a:pPr lvl="1" indent="-285750">
              <a:spcAft>
                <a:spcPct val="0"/>
              </a:spcAft>
              <a:buClr>
                <a:srgbClr val="000000"/>
              </a:buClr>
              <a:buFontTx/>
              <a:buChar char="–"/>
            </a:pPr>
            <a:r>
              <a:rPr lang="en-US" altLang="it-IT" sz="2800">
                <a:latin typeface="Arial" charset="0"/>
                <a:ea typeface="Arial" charset="0"/>
                <a:cs typeface="Arial" charset="0"/>
              </a:rPr>
              <a:t>it is part of the University of Washington domain (</a:t>
            </a:r>
            <a:r>
              <a:rPr lang="en-US" altLang="it-IT" sz="2800" b="1">
                <a:solidFill>
                  <a:srgbClr val="00B0F0"/>
                </a:solidFill>
                <a:latin typeface="Arial" charset="0"/>
                <a:ea typeface="Arial" charset="0"/>
                <a:cs typeface="Arial" charset="0"/>
              </a:rPr>
              <a:t>washington</a:t>
            </a:r>
            <a:r>
              <a:rPr lang="en-US" altLang="it-IT" sz="2800">
                <a:latin typeface="Arial" charset="0"/>
                <a:ea typeface="Arial" charset="0"/>
                <a:cs typeface="Arial" charset="0"/>
              </a:rPr>
              <a:t>)</a:t>
            </a:r>
          </a:p>
          <a:p>
            <a:pPr lvl="1" indent="-285750">
              <a:spcAft>
                <a:spcPct val="0"/>
              </a:spcAft>
              <a:buClr>
                <a:srgbClr val="000000"/>
              </a:buClr>
              <a:buFontTx/>
              <a:buChar char="–"/>
            </a:pPr>
            <a:r>
              <a:rPr lang="en-US" altLang="it-IT" sz="2800">
                <a:latin typeface="Arial" charset="0"/>
                <a:ea typeface="Arial" charset="0"/>
                <a:cs typeface="Arial" charset="0"/>
              </a:rPr>
              <a:t>it is part of the educational domain</a:t>
            </a:r>
            <a:br>
              <a:rPr lang="en-US" altLang="it-IT" sz="2800">
                <a:latin typeface="Arial" charset="0"/>
                <a:ea typeface="Arial" charset="0"/>
                <a:cs typeface="Arial" charset="0"/>
              </a:rPr>
            </a:br>
            <a:r>
              <a:rPr lang="en-US" altLang="it-IT" sz="2800">
                <a:latin typeface="Arial" charset="0"/>
                <a:ea typeface="Arial" charset="0"/>
                <a:cs typeface="Arial" charset="0"/>
              </a:rPr>
              <a:t>(</a:t>
            </a:r>
            <a:r>
              <a:rPr lang="en-US" altLang="it-IT" sz="2800" b="1">
                <a:solidFill>
                  <a:srgbClr val="C00000"/>
                </a:solidFill>
                <a:latin typeface="Arial" charset="0"/>
                <a:ea typeface="Arial" charset="0"/>
                <a:cs typeface="Arial" charset="0"/>
              </a:rPr>
              <a:t>edu</a:t>
            </a:r>
            <a:r>
              <a:rPr lang="en-US" altLang="it-IT" sz="2800">
                <a:latin typeface="Arial" charset="0"/>
                <a:ea typeface="Arial" charset="0"/>
                <a:cs typeface="Arial" charset="0"/>
              </a:rPr>
              <a:t>)</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47</a:t>
            </a:fld>
            <a:endParaRPr lang="nb-NO"/>
          </a:p>
        </p:txBody>
      </p:sp>
    </p:spTree>
  </p:cSld>
  <p:clrMapOvr>
    <a:masterClrMapping/>
  </p:clrMapOvr>
  <p:transition spd="slow">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hape 312"/>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Computer Addresses</a:t>
            </a:r>
          </a:p>
        </p:txBody>
      </p:sp>
      <p:sp>
        <p:nvSpPr>
          <p:cNvPr id="89091" name="Shape 313"/>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The example shows a hierarchy of domains</a:t>
            </a:r>
          </a:p>
          <a:p>
            <a:pPr indent="-342900">
              <a:spcBef>
                <a:spcPts val="600"/>
              </a:spcBef>
              <a:spcAft>
                <a:spcPct val="0"/>
              </a:spcAft>
              <a:buClr>
                <a:srgbClr val="000000"/>
              </a:buClr>
              <a:buFontTx/>
              <a:buChar char="•"/>
            </a:pPr>
            <a:r>
              <a:rPr lang="en-US" altLang="it-IT" sz="3200">
                <a:latin typeface="Arial" charset="0"/>
                <a:ea typeface="Arial" charset="0"/>
                <a:cs typeface="Arial" charset="0"/>
              </a:rPr>
              <a:t>Each is a member of the next larger domain</a:t>
            </a:r>
          </a:p>
          <a:p>
            <a:pPr indent="-342900">
              <a:spcBef>
                <a:spcPts val="600"/>
              </a:spcBef>
              <a:spcAft>
                <a:spcPct val="0"/>
              </a:spcAft>
              <a:buClr>
                <a:srgbClr val="000000"/>
              </a:buClr>
              <a:buFontTx/>
              <a:buChar char="•"/>
            </a:pPr>
            <a:r>
              <a:rPr lang="en-US" altLang="it-IT" sz="3200">
                <a:latin typeface="Arial" charset="0"/>
                <a:ea typeface="Arial" charset="0"/>
                <a:cs typeface="Arial" charset="0"/>
              </a:rPr>
              <a:t>edu is a peer of other top-level domains such as com</a:t>
            </a:r>
          </a:p>
          <a:p>
            <a:pPr indent="-342900">
              <a:spcBef>
                <a:spcPts val="600"/>
              </a:spcBef>
              <a:spcAft>
                <a:spcPct val="0"/>
              </a:spcAft>
              <a:buClr>
                <a:srgbClr val="000000"/>
              </a:buClr>
              <a:buFontTx/>
              <a:buChar char="•"/>
            </a:pPr>
            <a:r>
              <a:rPr lang="en-US" altLang="it-IT" sz="3200" i="1">
                <a:latin typeface="Arial" charset="0"/>
                <a:ea typeface="Arial" charset="0"/>
                <a:cs typeface="Arial" charset="0"/>
              </a:rPr>
              <a:t>These</a:t>
            </a:r>
            <a:r>
              <a:rPr lang="en-US" altLang="it-IT" sz="3200">
                <a:latin typeface="Arial" charset="0"/>
                <a:ea typeface="Arial" charset="0"/>
                <a:cs typeface="Arial" charset="0"/>
              </a:rPr>
              <a:t> names are symbolic and meaningful, making them easier to read than numbers (and easier to remember)</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48</a:t>
            </a:fld>
            <a:endParaRPr lang="nb-NO"/>
          </a:p>
        </p:txBody>
      </p:sp>
    </p:spTree>
  </p:cSld>
  <p:clrMapOvr>
    <a:masterClrMapping/>
  </p:clrMapOvr>
  <p:transition spd="slow">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hape 318"/>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The .edu Domain</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49</a:t>
            </a:fld>
            <a:endParaRPr lang="nb-NO"/>
          </a:p>
        </p:txBody>
      </p:sp>
      <p:pic>
        <p:nvPicPr>
          <p:cNvPr id="91139"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57450" y="1657350"/>
            <a:ext cx="727710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0" name="Picture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86164" y="5440363"/>
            <a:ext cx="50196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hape 326"/>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The .edu Domain</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50</a:t>
            </a:fld>
            <a:endParaRPr lang="nb-NO"/>
          </a:p>
        </p:txBody>
      </p:sp>
      <p:pic>
        <p:nvPicPr>
          <p:cNvPr id="93187"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86164" y="5791200"/>
            <a:ext cx="50196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88" name="Picture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336801" y="1306513"/>
            <a:ext cx="7248525"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hape 334"/>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DNS Servers</a:t>
            </a:r>
          </a:p>
        </p:txBody>
      </p:sp>
      <p:sp>
        <p:nvSpPr>
          <p:cNvPr id="95235" name="Shape 335"/>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a:latin typeface="Arial" charset="0"/>
                <a:ea typeface="Arial" charset="0"/>
                <a:cs typeface="Arial" charset="0"/>
              </a:rPr>
              <a:t>The </a:t>
            </a:r>
            <a:r>
              <a:rPr lang="en-US" altLang="it-IT" b="1">
                <a:latin typeface="Arial" charset="0"/>
                <a:ea typeface="Arial" charset="0"/>
                <a:cs typeface="Arial" charset="0"/>
              </a:rPr>
              <a:t>Domain Name System (DNS) </a:t>
            </a:r>
            <a:r>
              <a:rPr lang="en-US" altLang="it-IT">
                <a:latin typeface="Arial" charset="0"/>
                <a:ea typeface="Arial" charset="0"/>
                <a:cs typeface="Arial" charset="0"/>
              </a:rPr>
              <a:t>translates the hierarchical, human-readable names into the four-number IP address</a:t>
            </a:r>
          </a:p>
          <a:p>
            <a:pPr indent="-342900">
              <a:spcBef>
                <a:spcPts val="500"/>
              </a:spcBef>
              <a:spcAft>
                <a:spcPct val="0"/>
              </a:spcAft>
              <a:buClr>
                <a:srgbClr val="000000"/>
              </a:buClr>
              <a:buFontTx/>
              <a:buChar char="•"/>
            </a:pPr>
            <a:r>
              <a:rPr lang="en-US" altLang="it-IT">
                <a:latin typeface="Arial" charset="0"/>
                <a:ea typeface="Arial" charset="0"/>
                <a:cs typeface="Arial" charset="0"/>
              </a:rPr>
              <a:t>Every Internet host knows the IP address of its nearest </a:t>
            </a:r>
            <a:r>
              <a:rPr lang="en-US" altLang="it-IT" b="1">
                <a:latin typeface="Arial" charset="0"/>
                <a:ea typeface="Arial" charset="0"/>
                <a:cs typeface="Arial" charset="0"/>
              </a:rPr>
              <a:t>DNS name server</a:t>
            </a:r>
          </a:p>
          <a:p>
            <a:pPr indent="-342900">
              <a:spcBef>
                <a:spcPts val="500"/>
              </a:spcBef>
              <a:spcAft>
                <a:spcPct val="0"/>
              </a:spcAft>
              <a:buClr>
                <a:srgbClr val="000000"/>
              </a:buClr>
              <a:buFontTx/>
              <a:buChar char="•"/>
            </a:pPr>
            <a:r>
              <a:rPr lang="en-US" altLang="it-IT">
                <a:latin typeface="Arial" charset="0"/>
                <a:ea typeface="Arial" charset="0"/>
                <a:cs typeface="Arial" charset="0"/>
              </a:rPr>
              <a:t>Whenever the hierarchical symbolic name is used to send information to a destination, your computer asks the DNS server to look up the corresponding IP address</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51</a:t>
            </a:fld>
            <a:endParaRPr lang="nb-NO"/>
          </a:p>
        </p:txBody>
      </p:sp>
    </p:spTree>
  </p:cSld>
  <p:clrMapOvr>
    <a:masterClrMapping/>
  </p:clrMapOvr>
  <p:transition spd="slow">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hape 340"/>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DNS Servers</a:t>
            </a:r>
          </a:p>
        </p:txBody>
      </p:sp>
      <p:sp>
        <p:nvSpPr>
          <p:cNvPr id="97283" name="Shape 341"/>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a:latin typeface="Arial" charset="0"/>
                <a:ea typeface="Arial" charset="0"/>
                <a:cs typeface="Arial" charset="0"/>
              </a:rPr>
              <a:t>The server you ask may not know the answer.  No DNS server knows all the hostnames on the Internet</a:t>
            </a:r>
          </a:p>
          <a:p>
            <a:pPr indent="-342900">
              <a:spcBef>
                <a:spcPct val="0"/>
              </a:spcBef>
              <a:spcAft>
                <a:spcPct val="0"/>
              </a:spcAft>
              <a:buClr>
                <a:srgbClr val="000000"/>
              </a:buClr>
              <a:buFontTx/>
              <a:buChar char="•"/>
            </a:pPr>
            <a:r>
              <a:rPr lang="en-US" altLang="it-IT">
                <a:latin typeface="Arial" charset="0"/>
                <a:ea typeface="Arial" charset="0"/>
                <a:cs typeface="Arial" charset="0"/>
              </a:rPr>
              <a:t>Each domain has an </a:t>
            </a:r>
            <a:r>
              <a:rPr lang="en-US" altLang="it-IT" i="1">
                <a:latin typeface="Arial" charset="0"/>
                <a:ea typeface="Arial" charset="0"/>
                <a:cs typeface="Arial" charset="0"/>
              </a:rPr>
              <a:t>authoritative name server</a:t>
            </a:r>
            <a:r>
              <a:rPr lang="en-US" altLang="it-IT">
                <a:latin typeface="Arial" charset="0"/>
                <a:ea typeface="Arial" charset="0"/>
                <a:cs typeface="Arial" charset="0"/>
              </a:rPr>
              <a:t>, that knows the computers its domain</a:t>
            </a:r>
          </a:p>
          <a:p>
            <a:pPr indent="-342900">
              <a:spcBef>
                <a:spcPts val="500"/>
              </a:spcBef>
              <a:spcAft>
                <a:spcPct val="0"/>
              </a:spcAft>
              <a:buClr>
                <a:srgbClr val="000000"/>
              </a:buClr>
              <a:buFontTx/>
              <a:buChar char="•"/>
            </a:pPr>
            <a:r>
              <a:rPr lang="en-US" altLang="it-IT">
                <a:latin typeface="Arial" charset="0"/>
                <a:ea typeface="Arial" charset="0"/>
                <a:cs typeface="Arial" charset="0"/>
              </a:rPr>
              <a:t>There are </a:t>
            </a:r>
            <a:r>
              <a:rPr lang="en-US" altLang="it-IT" i="1">
                <a:latin typeface="Arial" charset="0"/>
                <a:ea typeface="Arial" charset="0"/>
                <a:cs typeface="Arial" charset="0"/>
              </a:rPr>
              <a:t>root name servers</a:t>
            </a:r>
            <a:r>
              <a:rPr lang="en-US" altLang="it-IT">
                <a:latin typeface="Arial" charset="0"/>
                <a:ea typeface="Arial" charset="0"/>
                <a:cs typeface="Arial" charset="0"/>
              </a:rPr>
              <a:t> that know the authoritative server for each top-level domain</a:t>
            </a:r>
          </a:p>
          <a:p>
            <a:pPr indent="-342900">
              <a:spcBef>
                <a:spcPts val="500"/>
              </a:spcBef>
              <a:spcAft>
                <a:spcPct val="0"/>
              </a:spcAft>
              <a:buClr>
                <a:srgbClr val="000000"/>
              </a:buClr>
              <a:buFontTx/>
              <a:buChar char="•"/>
            </a:pPr>
            <a:r>
              <a:rPr lang="en-US" altLang="it-IT">
                <a:latin typeface="Arial" charset="0"/>
                <a:ea typeface="Arial" charset="0"/>
                <a:cs typeface="Arial" charset="0"/>
              </a:rPr>
              <a:t>To search for a name, work through the domains down from the top</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52</a:t>
            </a:fld>
            <a:endParaRPr lang="nb-NO"/>
          </a:p>
        </p:txBody>
      </p:sp>
    </p:spTree>
  </p:cSld>
  <p:clrMapOvr>
    <a:masterClrMapping/>
  </p:clrMapOvr>
  <p:transition spd="slow">
    <p:cu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hape 346"/>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DNS Lookup</a:t>
            </a:r>
          </a:p>
        </p:txBody>
      </p:sp>
      <p:sp>
        <p:nvSpPr>
          <p:cNvPr id="99331" name="Shape 347"/>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a:latin typeface="Arial" charset="0"/>
                <a:ea typeface="Arial" charset="0"/>
                <a:cs typeface="Arial" charset="0"/>
              </a:rPr>
              <a:t>Your computer asks the nearest DNS server to translate a name, say </a:t>
            </a:r>
            <a:r>
              <a:rPr lang="en-US" altLang="it-IT" b="1">
                <a:latin typeface="Arial" charset="0"/>
                <a:ea typeface="Arial" charset="0"/>
                <a:cs typeface="Arial" charset="0"/>
              </a:rPr>
              <a:t>www.airandspace.si.edu</a:t>
            </a:r>
          </a:p>
          <a:p>
            <a:pPr indent="-342900">
              <a:spcBef>
                <a:spcPct val="0"/>
              </a:spcBef>
              <a:spcAft>
                <a:spcPct val="0"/>
              </a:spcAft>
              <a:buClr>
                <a:srgbClr val="000000"/>
              </a:buClr>
              <a:buFontTx/>
              <a:buChar char="•"/>
            </a:pPr>
            <a:r>
              <a:rPr lang="en-US" altLang="it-IT">
                <a:latin typeface="Arial" charset="0"/>
                <a:ea typeface="Arial" charset="0"/>
                <a:cs typeface="Arial" charset="0"/>
              </a:rPr>
              <a:t>That local server asks a root name server for the IP address of the </a:t>
            </a:r>
            <a:r>
              <a:rPr lang="en-US" altLang="it-IT" b="1">
                <a:latin typeface="Arial" charset="0"/>
                <a:ea typeface="Arial" charset="0"/>
                <a:cs typeface="Arial" charset="0"/>
              </a:rPr>
              <a:t>edu</a:t>
            </a:r>
            <a:r>
              <a:rPr lang="en-US" altLang="it-IT">
                <a:latin typeface="Arial" charset="0"/>
                <a:ea typeface="Arial" charset="0"/>
                <a:cs typeface="Arial" charset="0"/>
              </a:rPr>
              <a:t> authoritative name server</a:t>
            </a:r>
          </a:p>
          <a:p>
            <a:pPr indent="-342900">
              <a:spcBef>
                <a:spcPct val="0"/>
              </a:spcBef>
              <a:spcAft>
                <a:spcPct val="0"/>
              </a:spcAft>
              <a:buClr>
                <a:srgbClr val="000000"/>
              </a:buClr>
              <a:buFontTx/>
              <a:buChar char="•"/>
            </a:pPr>
            <a:r>
              <a:rPr lang="en-US" altLang="it-IT">
                <a:latin typeface="Arial" charset="0"/>
                <a:ea typeface="Arial" charset="0"/>
                <a:cs typeface="Arial" charset="0"/>
              </a:rPr>
              <a:t>Next it asks that edu server for the </a:t>
            </a:r>
            <a:r>
              <a:rPr lang="en-US" altLang="it-IT" b="1">
                <a:latin typeface="Arial" charset="0"/>
                <a:ea typeface="Arial" charset="0"/>
                <a:cs typeface="Arial" charset="0"/>
              </a:rPr>
              <a:t>si</a:t>
            </a:r>
            <a:r>
              <a:rPr lang="en-US" altLang="it-IT">
                <a:latin typeface="Arial" charset="0"/>
                <a:ea typeface="Arial" charset="0"/>
                <a:cs typeface="Arial" charset="0"/>
              </a:rPr>
              <a:t> authoritative name server</a:t>
            </a:r>
          </a:p>
          <a:p>
            <a:pPr indent="-342900">
              <a:spcBef>
                <a:spcPct val="0"/>
              </a:spcBef>
              <a:spcAft>
                <a:spcPct val="0"/>
              </a:spcAft>
              <a:buClr>
                <a:srgbClr val="000000"/>
              </a:buClr>
              <a:buFontTx/>
              <a:buChar char="•"/>
            </a:pPr>
            <a:r>
              <a:rPr lang="en-US" altLang="it-IT">
                <a:latin typeface="Arial" charset="0"/>
                <a:ea typeface="Arial" charset="0"/>
                <a:cs typeface="Arial" charset="0"/>
              </a:rPr>
              <a:t>Then it asks the </a:t>
            </a:r>
            <a:r>
              <a:rPr lang="en-US" altLang="it-IT" b="1">
                <a:latin typeface="Arial" charset="0"/>
                <a:ea typeface="Arial" charset="0"/>
                <a:cs typeface="Arial" charset="0"/>
              </a:rPr>
              <a:t>si</a:t>
            </a:r>
            <a:r>
              <a:rPr lang="en-US" altLang="it-IT">
                <a:latin typeface="Arial" charset="0"/>
                <a:ea typeface="Arial" charset="0"/>
                <a:cs typeface="Arial" charset="0"/>
              </a:rPr>
              <a:t> server for the </a:t>
            </a:r>
            <a:r>
              <a:rPr lang="en-US" altLang="it-IT" b="1">
                <a:latin typeface="Arial" charset="0"/>
                <a:ea typeface="Arial" charset="0"/>
                <a:cs typeface="Arial" charset="0"/>
              </a:rPr>
              <a:t>airandspace </a:t>
            </a:r>
            <a:r>
              <a:rPr lang="en-US" altLang="it-IT">
                <a:latin typeface="Arial" charset="0"/>
                <a:ea typeface="Arial" charset="0"/>
                <a:cs typeface="Arial" charset="0"/>
              </a:rPr>
              <a:t>server, that asks for the IP address of </a:t>
            </a:r>
            <a:r>
              <a:rPr lang="en-US" altLang="it-IT" b="1">
                <a:latin typeface="Arial" charset="0"/>
                <a:ea typeface="Arial" charset="0"/>
                <a:cs typeface="Arial" charset="0"/>
              </a:rPr>
              <a:t>www</a:t>
            </a:r>
          </a:p>
          <a:p>
            <a:pPr indent="-342900">
              <a:spcBef>
                <a:spcPct val="0"/>
              </a:spcBef>
              <a:spcAft>
                <a:spcPct val="0"/>
              </a:spcAft>
              <a:buClr>
                <a:srgbClr val="000000"/>
              </a:buClr>
              <a:buFontTx/>
              <a:buChar char="•"/>
            </a:pPr>
            <a:r>
              <a:rPr lang="en-US" altLang="it-IT">
                <a:latin typeface="Arial" charset="0"/>
                <a:ea typeface="Arial" charset="0"/>
                <a:cs typeface="Arial" charset="0"/>
              </a:rPr>
              <a:t>The administrator of each DNS server makes sure it has a list of root servers to get started</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53</a:t>
            </a:fld>
            <a:endParaRPr lang="nb-NO"/>
          </a:p>
        </p:txBody>
      </p:sp>
    </p:spTree>
  </p:cSld>
  <p:clrMapOvr>
    <a:masterClrMapping/>
  </p:clrMapOvr>
  <p:transition spd="slow">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hape 352"/>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DNS Lookup</a:t>
            </a:r>
          </a:p>
        </p:txBody>
      </p:sp>
      <p:sp>
        <p:nvSpPr>
          <p:cNvPr id="353" name="Shape 353"/>
          <p:cNvSpPr txBox="1">
            <a:spLocks noGrp="1"/>
          </p:cNvSpPr>
          <p:nvPr>
            <p:ph idx="1"/>
          </p:nvPr>
        </p:nvSpPr>
        <p:spPr/>
        <p:txBody>
          <a:bodyPr vert="horz" lIns="91440" tIns="45700" rIns="91440" bIns="45700" rtlCol="0">
            <a:noAutofit/>
          </a:bodyPr>
          <a:lstStyle/>
          <a:p>
            <a:pPr indent="-342900">
              <a:spcBef>
                <a:spcPts val="0"/>
              </a:spcBef>
              <a:buClr>
                <a:srgbClr val="000000"/>
              </a:buClr>
              <a:buSzPct val="100000"/>
              <a:defRPr/>
            </a:pPr>
            <a:r>
              <a:rPr lang="en-US" sz="3200">
                <a:sym typeface="Arial"/>
              </a:rPr>
              <a:t>Caching</a:t>
            </a:r>
          </a:p>
          <a:p>
            <a:pPr lvl="1" indent="-285750">
              <a:buClr>
                <a:srgbClr val="000000"/>
              </a:buClr>
              <a:buSzPct val="100000"/>
              <a:defRPr/>
            </a:pPr>
            <a:r>
              <a:rPr lang="en-US" sz="2800">
                <a:sym typeface="Arial"/>
              </a:rPr>
              <a:t>The local name server remembers the result of a lookup for a while</a:t>
            </a:r>
          </a:p>
          <a:p>
            <a:pPr lvl="1" indent="-285750">
              <a:buClr>
                <a:srgbClr val="000000"/>
              </a:buClr>
              <a:buSzPct val="100000"/>
              <a:defRPr/>
            </a:pPr>
            <a:r>
              <a:rPr lang="en-US" sz="2800">
                <a:sym typeface="Arial"/>
              </a:rPr>
              <a:t>Skips the lookup if it already knows the answer</a:t>
            </a:r>
          </a:p>
          <a:p>
            <a:pPr indent="0">
              <a:spcBef>
                <a:spcPts val="500"/>
              </a:spcBef>
              <a:buClr>
                <a:srgbClr val="000000"/>
              </a:buClr>
              <a:buSzPct val="100000"/>
              <a:defRPr/>
            </a:pPr>
            <a:r>
              <a:rPr lang="en-US" sz="3200">
                <a:sym typeface="Arial"/>
              </a:rPr>
              <a:t>Redundancy</a:t>
            </a:r>
          </a:p>
          <a:p>
            <a:pPr lvl="1" indent="-285750">
              <a:buClr>
                <a:srgbClr val="000000"/>
              </a:buClr>
              <a:buSzPct val="100000"/>
              <a:defRPr/>
            </a:pPr>
            <a:r>
              <a:rPr lang="en-US" sz="2800">
                <a:sym typeface="Arial"/>
              </a:rPr>
              <a:t>There are 13 root name servers</a:t>
            </a:r>
          </a:p>
          <a:p>
            <a:pPr lvl="1" indent="-285750">
              <a:buClr>
                <a:srgbClr val="000000"/>
              </a:buClr>
              <a:buSzPct val="100000"/>
              <a:defRPr/>
            </a:pPr>
            <a:r>
              <a:rPr lang="en-US" sz="2800">
                <a:sym typeface="Arial"/>
              </a:rPr>
              <a:t>share load</a:t>
            </a:r>
          </a:p>
          <a:p>
            <a:pPr lvl="1" indent="-285750">
              <a:buClr>
                <a:srgbClr val="000000"/>
              </a:buClr>
              <a:buSzPct val="100000"/>
              <a:defRPr/>
            </a:pPr>
            <a:r>
              <a:rPr lang="en-US" sz="2800">
                <a:sym typeface="Arial"/>
              </a:rPr>
              <a:t>one might crash</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54</a:t>
            </a:fld>
            <a:endParaRPr lang="nb-NO"/>
          </a:p>
        </p:txBody>
      </p:sp>
    </p:spTree>
  </p:cSld>
  <p:clrMapOvr>
    <a:masterClrMapping/>
  </p:clrMapOvr>
  <p:transition spd="slow">
    <p:cu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hape 358"/>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Top-Level Domains</a:t>
            </a:r>
          </a:p>
        </p:txBody>
      </p:sp>
      <p:sp>
        <p:nvSpPr>
          <p:cNvPr id="103427" name="Shape 359"/>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b="1">
                <a:latin typeface="Arial" charset="0"/>
                <a:ea typeface="Arial" charset="0"/>
                <a:cs typeface="Arial" charset="0"/>
              </a:rPr>
              <a:t>Top-level domain </a:t>
            </a:r>
            <a:r>
              <a:rPr lang="en-US" altLang="it-IT" sz="3200">
                <a:latin typeface="Arial" charset="0"/>
                <a:ea typeface="Arial" charset="0"/>
                <a:cs typeface="Arial" charset="0"/>
              </a:rPr>
              <a:t>names (</a:t>
            </a:r>
            <a:r>
              <a:rPr lang="en-US" altLang="it-IT" sz="3200" b="1">
                <a:latin typeface="Arial" charset="0"/>
                <a:ea typeface="Arial" charset="0"/>
                <a:cs typeface="Arial" charset="0"/>
              </a:rPr>
              <a:t>TLDs)</a:t>
            </a:r>
            <a:r>
              <a:rPr lang="en-US" altLang="it-IT" sz="3200">
                <a:latin typeface="Arial" charset="0"/>
                <a:ea typeface="Arial" charset="0"/>
                <a:cs typeface="Arial" charset="0"/>
              </a:rPr>
              <a:t>: </a:t>
            </a:r>
          </a:p>
          <a:p>
            <a:pPr lvl="1" indent="-285750">
              <a:spcAft>
                <a:spcPct val="0"/>
              </a:spcAft>
              <a:buClr>
                <a:srgbClr val="000000"/>
              </a:buClr>
              <a:buFontTx/>
              <a:buChar char="–"/>
            </a:pPr>
            <a:r>
              <a:rPr lang="en-US" altLang="it-IT" sz="2800">
                <a:latin typeface="Arial" charset="0"/>
                <a:ea typeface="Arial" charset="0"/>
                <a:cs typeface="Arial" charset="0"/>
              </a:rPr>
              <a:t>.edu for educational groups</a:t>
            </a:r>
          </a:p>
          <a:p>
            <a:pPr lvl="1" indent="-285750">
              <a:spcAft>
                <a:spcPct val="0"/>
              </a:spcAft>
              <a:buClr>
                <a:srgbClr val="000000"/>
              </a:buClr>
              <a:buFontTx/>
              <a:buChar char="–"/>
            </a:pPr>
            <a:r>
              <a:rPr lang="en-US" altLang="it-IT" sz="2800">
                <a:latin typeface="Arial" charset="0"/>
                <a:ea typeface="Arial" charset="0"/>
                <a:cs typeface="Arial" charset="0"/>
              </a:rPr>
              <a:t>.com for commercial enterprises</a:t>
            </a:r>
          </a:p>
          <a:p>
            <a:pPr lvl="1" indent="-285750">
              <a:spcAft>
                <a:spcPct val="0"/>
              </a:spcAft>
              <a:buClr>
                <a:srgbClr val="000000"/>
              </a:buClr>
              <a:buFontTx/>
              <a:buChar char="–"/>
            </a:pPr>
            <a:r>
              <a:rPr lang="en-US" altLang="it-IT" sz="2800">
                <a:latin typeface="Arial" charset="0"/>
                <a:ea typeface="Arial" charset="0"/>
                <a:cs typeface="Arial" charset="0"/>
              </a:rPr>
              <a:t>.org for organizations</a:t>
            </a:r>
          </a:p>
          <a:p>
            <a:pPr lvl="1" indent="-285750">
              <a:spcAft>
                <a:spcPct val="0"/>
              </a:spcAft>
              <a:buClr>
                <a:srgbClr val="000000"/>
              </a:buClr>
              <a:buFontTx/>
              <a:buChar char="–"/>
            </a:pPr>
            <a:r>
              <a:rPr lang="en-US" altLang="it-IT" sz="2800">
                <a:latin typeface="Arial" charset="0"/>
                <a:ea typeface="Arial" charset="0"/>
                <a:cs typeface="Arial" charset="0"/>
              </a:rPr>
              <a:t>.net for networks</a:t>
            </a:r>
          </a:p>
          <a:p>
            <a:pPr lvl="1" indent="-285750">
              <a:spcAft>
                <a:spcPct val="0"/>
              </a:spcAft>
              <a:buClr>
                <a:srgbClr val="000000"/>
              </a:buClr>
              <a:buFontTx/>
              <a:buChar char="–"/>
            </a:pPr>
            <a:r>
              <a:rPr lang="en-US" altLang="it-IT" sz="2800">
                <a:latin typeface="Arial" charset="0"/>
                <a:ea typeface="Arial" charset="0"/>
                <a:cs typeface="Arial" charset="0"/>
              </a:rPr>
              <a:t>.mil for the military</a:t>
            </a:r>
          </a:p>
          <a:p>
            <a:pPr lvl="1" indent="-285750">
              <a:spcAft>
                <a:spcPct val="0"/>
              </a:spcAft>
              <a:buClr>
                <a:srgbClr val="000000"/>
              </a:buClr>
              <a:buFontTx/>
              <a:buChar char="–"/>
            </a:pPr>
            <a:r>
              <a:rPr lang="en-US" altLang="it-IT" sz="2800">
                <a:latin typeface="Arial" charset="0"/>
                <a:ea typeface="Arial" charset="0"/>
                <a:cs typeface="Arial" charset="0"/>
              </a:rPr>
              <a:t>.gov for government agencies</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55</a:t>
            </a:fld>
            <a:endParaRPr lang="nb-NO"/>
          </a:p>
        </p:txBody>
      </p:sp>
    </p:spTree>
  </p:cSld>
  <p:clrMapOvr>
    <a:masterClrMapping/>
  </p:clrMapOvr>
  <p:transition spd="slow">
    <p:cu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hape 364"/>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Top-Level Domains</a:t>
            </a:r>
          </a:p>
        </p:txBody>
      </p:sp>
      <p:sp>
        <p:nvSpPr>
          <p:cNvPr id="105475" name="Shape 365"/>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dirty="0">
                <a:latin typeface="Arial" charset="0"/>
                <a:ea typeface="Arial" charset="0"/>
                <a:cs typeface="Arial" charset="0"/>
              </a:rPr>
              <a:t>The top-level domains were expanded to include biz, info, name, travel, and others</a:t>
            </a:r>
          </a:p>
          <a:p>
            <a:pPr indent="-342900">
              <a:spcBef>
                <a:spcPts val="600"/>
              </a:spcBef>
              <a:spcAft>
                <a:spcPct val="0"/>
              </a:spcAft>
              <a:buClr>
                <a:srgbClr val="000000"/>
              </a:buClr>
              <a:buFontTx/>
              <a:buChar char="•"/>
            </a:pPr>
            <a:r>
              <a:rPr lang="en-US" altLang="it-IT" sz="3200" dirty="0">
                <a:latin typeface="Arial" charset="0"/>
                <a:ea typeface="Arial" charset="0"/>
                <a:cs typeface="Arial" charset="0"/>
              </a:rPr>
              <a:t>The full list can be found at </a:t>
            </a:r>
            <a:r>
              <a:rPr lang="en-US" altLang="it-IT" sz="3200" u="sng" dirty="0">
                <a:solidFill>
                  <a:schemeClr val="hlink"/>
                </a:solidFill>
                <a:latin typeface="Arial" charset="0"/>
                <a:ea typeface="Arial" charset="0"/>
                <a:cs typeface="Arial" charset="0"/>
                <a:hlinkClick r:id="rId3"/>
              </a:rPr>
              <a:t>www.icann.org</a:t>
            </a:r>
            <a:br>
              <a:rPr lang="en-US" altLang="it-IT" sz="3200" dirty="0">
                <a:latin typeface="Arial" charset="0"/>
                <a:ea typeface="Arial" charset="0"/>
                <a:cs typeface="Arial" charset="0"/>
              </a:rPr>
            </a:br>
            <a:r>
              <a:rPr lang="en-US" altLang="it-IT" sz="3200" dirty="0">
                <a:latin typeface="Arial" charset="0"/>
                <a:ea typeface="Arial" charset="0"/>
                <a:cs typeface="Arial" charset="0"/>
              </a:rPr>
              <a:t>(ICANN is </a:t>
            </a:r>
            <a:r>
              <a:rPr lang="en-US" altLang="it-IT" sz="3200" u="sng" dirty="0">
                <a:latin typeface="Arial" charset="0"/>
                <a:ea typeface="Arial" charset="0"/>
                <a:cs typeface="Arial" charset="0"/>
              </a:rPr>
              <a:t>I</a:t>
            </a:r>
            <a:r>
              <a:rPr lang="en-US" altLang="it-IT" sz="3200" dirty="0">
                <a:latin typeface="Arial" charset="0"/>
                <a:ea typeface="Arial" charset="0"/>
                <a:cs typeface="Arial" charset="0"/>
              </a:rPr>
              <a:t>nternet </a:t>
            </a:r>
            <a:r>
              <a:rPr lang="en-US" altLang="it-IT" sz="3200" u="sng" dirty="0">
                <a:latin typeface="Arial" charset="0"/>
                <a:ea typeface="Arial" charset="0"/>
                <a:cs typeface="Arial" charset="0"/>
              </a:rPr>
              <a:t>C</a:t>
            </a:r>
            <a:r>
              <a:rPr lang="en-US" altLang="it-IT" sz="3200" dirty="0">
                <a:latin typeface="Arial" charset="0"/>
                <a:ea typeface="Arial" charset="0"/>
                <a:cs typeface="Arial" charset="0"/>
              </a:rPr>
              <a:t>orporation for </a:t>
            </a:r>
            <a:r>
              <a:rPr lang="en-US" altLang="it-IT" sz="3200" u="sng" dirty="0">
                <a:latin typeface="Arial" charset="0"/>
                <a:ea typeface="Arial" charset="0"/>
                <a:cs typeface="Arial" charset="0"/>
              </a:rPr>
              <a:t>A</a:t>
            </a:r>
            <a:r>
              <a:rPr lang="en-US" altLang="it-IT" sz="3200" dirty="0">
                <a:latin typeface="Arial" charset="0"/>
                <a:ea typeface="Arial" charset="0"/>
                <a:cs typeface="Arial" charset="0"/>
              </a:rPr>
              <a:t>ssigned </a:t>
            </a:r>
            <a:r>
              <a:rPr lang="en-US" altLang="it-IT" sz="3200" u="sng" dirty="0">
                <a:latin typeface="Arial" charset="0"/>
                <a:ea typeface="Arial" charset="0"/>
                <a:cs typeface="Arial" charset="0"/>
              </a:rPr>
              <a:t>N</a:t>
            </a:r>
            <a:r>
              <a:rPr lang="en-US" altLang="it-IT" sz="3200" dirty="0">
                <a:latin typeface="Arial" charset="0"/>
                <a:ea typeface="Arial" charset="0"/>
                <a:cs typeface="Arial" charset="0"/>
              </a:rPr>
              <a:t>ames and </a:t>
            </a:r>
            <a:r>
              <a:rPr lang="en-US" altLang="it-IT" sz="3200" u="sng" dirty="0">
                <a:latin typeface="Arial" charset="0"/>
                <a:ea typeface="Arial" charset="0"/>
                <a:cs typeface="Arial" charset="0"/>
              </a:rPr>
              <a:t>N</a:t>
            </a:r>
            <a:r>
              <a:rPr lang="en-US" altLang="it-IT" sz="3200" dirty="0">
                <a:latin typeface="Arial" charset="0"/>
                <a:ea typeface="Arial" charset="0"/>
                <a:cs typeface="Arial" charset="0"/>
              </a:rPr>
              <a:t>umbers)</a:t>
            </a:r>
          </a:p>
          <a:p>
            <a:pPr indent="-342900">
              <a:spcBef>
                <a:spcPts val="600"/>
              </a:spcBef>
              <a:spcAft>
                <a:spcPct val="0"/>
              </a:spcAft>
              <a:buClr>
                <a:srgbClr val="000000"/>
              </a:buClr>
              <a:buFontTx/>
              <a:buChar char="•"/>
            </a:pPr>
            <a:r>
              <a:rPr lang="en-US" altLang="it-IT" sz="3200" dirty="0">
                <a:latin typeface="Arial" charset="0"/>
                <a:ea typeface="Arial" charset="0"/>
                <a:cs typeface="Arial" charset="0"/>
              </a:rPr>
              <a:t>The original top-level domains listed all apply to organizations in the United States.</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56</a:t>
            </a:fld>
            <a:endParaRPr lang="nb-NO"/>
          </a:p>
        </p:txBody>
      </p:sp>
    </p:spTree>
  </p:cSld>
  <p:clrMapOvr>
    <a:masterClrMapping/>
  </p:clrMapOvr>
  <p:transition spd="slow">
    <p:cu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hape 370"/>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Top-Level Domains</a:t>
            </a:r>
          </a:p>
        </p:txBody>
      </p:sp>
      <p:sp>
        <p:nvSpPr>
          <p:cNvPr id="107523" name="Shape 371"/>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There is also a set of two-letter country designators (ca (Canada), uk (United Kingdom), fr (France), de (Germany, as in Deutschland), etc.)</a:t>
            </a:r>
          </a:p>
          <a:p>
            <a:pPr indent="-342900">
              <a:spcBef>
                <a:spcPts val="600"/>
              </a:spcBef>
              <a:spcAft>
                <a:spcPct val="0"/>
              </a:spcAft>
              <a:buClr>
                <a:srgbClr val="000000"/>
              </a:buClr>
              <a:buFontTx/>
              <a:buChar char="•"/>
            </a:pPr>
            <a:r>
              <a:rPr lang="en-US" altLang="it-IT" sz="3200">
                <a:latin typeface="Arial" charset="0"/>
                <a:ea typeface="Arial" charset="0"/>
                <a:cs typeface="Arial" charset="0"/>
              </a:rPr>
              <a:t>These allow domain names to be grouped by their country of origin.</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57</a:t>
            </a:fld>
            <a:endParaRPr lang="nb-NO"/>
          </a:p>
        </p:txBody>
      </p:sp>
    </p:spTree>
  </p:cSld>
  <p:clrMapOvr>
    <a:masterClrMapping/>
  </p:clrMapOvr>
  <p:transition spd="slow">
    <p:cu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22550" y="534988"/>
            <a:ext cx="6980238" cy="568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58</a:t>
            </a:fld>
            <a:endParaRPr lang="nb-NO"/>
          </a:p>
        </p:txBody>
      </p:sp>
    </p:spTree>
  </p:cSld>
  <p:clrMapOvr>
    <a:masterClrMapping/>
  </p:clrMapOvr>
  <p:transition spd="slow">
    <p:cu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27301" y="550864"/>
            <a:ext cx="2809875"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19" name="Picture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27300" y="788989"/>
            <a:ext cx="7200900" cy="467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59</a:t>
            </a:fld>
            <a:endParaRPr lang="nb-NO"/>
          </a:p>
        </p:txBody>
      </p:sp>
    </p:spTree>
  </p:cSld>
  <p:clrMapOvr>
    <a:masterClrMapping/>
  </p:clrMapOvr>
  <p:transition spd="slow">
    <p:cu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hape 390"/>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The World Wide Web</a:t>
            </a:r>
          </a:p>
        </p:txBody>
      </p:sp>
      <p:sp>
        <p:nvSpPr>
          <p:cNvPr id="113667" name="Shape 391"/>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b="1" i="1">
                <a:latin typeface="Arial" charset="0"/>
                <a:ea typeface="Arial" charset="0"/>
                <a:cs typeface="Arial" charset="0"/>
              </a:rPr>
              <a:t>Some</a:t>
            </a:r>
            <a:r>
              <a:rPr lang="en-US" altLang="it-IT" sz="3200">
                <a:latin typeface="Arial" charset="0"/>
                <a:ea typeface="Arial" charset="0"/>
                <a:cs typeface="Arial" charset="0"/>
              </a:rPr>
              <a:t> computers connected to the Internet are </a:t>
            </a:r>
            <a:r>
              <a:rPr lang="en-US" altLang="it-IT" sz="3200" b="1">
                <a:latin typeface="Arial" charset="0"/>
                <a:ea typeface="Arial" charset="0"/>
                <a:cs typeface="Arial" charset="0"/>
              </a:rPr>
              <a:t>Web servers</a:t>
            </a:r>
          </a:p>
          <a:p>
            <a:pPr lvl="1" indent="-285750">
              <a:spcAft>
                <a:spcPct val="0"/>
              </a:spcAft>
              <a:buClr>
                <a:srgbClr val="000000"/>
              </a:buClr>
              <a:buFontTx/>
              <a:buChar char="–"/>
            </a:pPr>
            <a:r>
              <a:rPr lang="en-US" altLang="it-IT" sz="2800">
                <a:latin typeface="Arial" charset="0"/>
                <a:ea typeface="Arial" charset="0"/>
                <a:cs typeface="Arial" charset="0"/>
              </a:rPr>
              <a:t>Computers programmed to send files to browsers running on other computers connected to the Internet.</a:t>
            </a:r>
          </a:p>
          <a:p>
            <a:pPr indent="-342900">
              <a:spcBef>
                <a:spcPts val="600"/>
              </a:spcBef>
              <a:spcAft>
                <a:spcPct val="0"/>
              </a:spcAft>
              <a:buClr>
                <a:srgbClr val="000000"/>
              </a:buClr>
              <a:buFontTx/>
              <a:buChar char="•"/>
            </a:pPr>
            <a:r>
              <a:rPr lang="en-US" altLang="it-IT" sz="3200">
                <a:latin typeface="Arial" charset="0"/>
                <a:ea typeface="Arial" charset="0"/>
                <a:cs typeface="Arial" charset="0"/>
              </a:rPr>
              <a:t>These Web servers and their files comprise the </a:t>
            </a:r>
            <a:r>
              <a:rPr lang="en-US" altLang="it-IT" sz="3200" b="1" i="1">
                <a:solidFill>
                  <a:srgbClr val="1E4649"/>
                </a:solidFill>
                <a:latin typeface="Arial" charset="0"/>
                <a:ea typeface="Arial" charset="0"/>
                <a:cs typeface="Arial" charset="0"/>
              </a:rPr>
              <a:t>World Wide Web (WWW)</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60</a:t>
            </a:fld>
            <a:endParaRPr lang="nb-NO"/>
          </a:p>
        </p:txBody>
      </p:sp>
    </p:spTree>
  </p:cSld>
  <p:clrMapOvr>
    <a:masterClrMapping/>
  </p:clrMapOvr>
  <p:transition spd="slow">
    <p:cu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hape 396"/>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The World Wide Web</a:t>
            </a:r>
          </a:p>
        </p:txBody>
      </p:sp>
      <p:sp>
        <p:nvSpPr>
          <p:cNvPr id="115715" name="Shape 397"/>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Those files may be Web pages</a:t>
            </a:r>
          </a:p>
          <a:p>
            <a:pPr indent="-342900">
              <a:spcBef>
                <a:spcPts val="600"/>
              </a:spcBef>
              <a:spcAft>
                <a:spcPct val="0"/>
              </a:spcAft>
              <a:buClr>
                <a:srgbClr val="000000"/>
              </a:buClr>
              <a:buFontTx/>
              <a:buChar char="•"/>
            </a:pPr>
            <a:r>
              <a:rPr lang="en-US" altLang="it-IT" sz="3200">
                <a:latin typeface="Arial" charset="0"/>
                <a:ea typeface="Arial" charset="0"/>
                <a:cs typeface="Arial" charset="0"/>
              </a:rPr>
              <a:t>Web servers store and send other kinds of files, too</a:t>
            </a:r>
          </a:p>
          <a:p>
            <a:pPr indent="-342900">
              <a:spcBef>
                <a:spcPts val="600"/>
              </a:spcBef>
              <a:spcAft>
                <a:spcPct val="0"/>
              </a:spcAft>
              <a:buClr>
                <a:srgbClr val="000000"/>
              </a:buClr>
              <a:buFontTx/>
              <a:buChar char="•"/>
            </a:pPr>
            <a:r>
              <a:rPr lang="en-US" altLang="it-IT" sz="3200">
                <a:latin typeface="Arial" charset="0"/>
                <a:ea typeface="Arial" charset="0"/>
                <a:cs typeface="Arial" charset="0"/>
              </a:rPr>
              <a:t>The files are often used to:</a:t>
            </a:r>
          </a:p>
          <a:p>
            <a:pPr lvl="1" indent="-285750">
              <a:spcAft>
                <a:spcPct val="0"/>
              </a:spcAft>
              <a:buClr>
                <a:srgbClr val="000000"/>
              </a:buClr>
              <a:buFontTx/>
              <a:buChar char="–"/>
            </a:pPr>
            <a:r>
              <a:rPr lang="en-US" altLang="it-IT" sz="2800">
                <a:latin typeface="Arial" charset="0"/>
                <a:ea typeface="Arial" charset="0"/>
                <a:cs typeface="Arial" charset="0"/>
              </a:rPr>
              <a:t>Enhance the Web page (images or animations) </a:t>
            </a:r>
          </a:p>
          <a:p>
            <a:pPr lvl="1" indent="-285750">
              <a:spcAft>
                <a:spcPct val="0"/>
              </a:spcAft>
              <a:buClr>
                <a:srgbClr val="000000"/>
              </a:buClr>
              <a:buFontTx/>
              <a:buChar char="–"/>
            </a:pPr>
            <a:r>
              <a:rPr lang="en-US" altLang="it-IT" sz="2800">
                <a:latin typeface="Arial" charset="0"/>
                <a:ea typeface="Arial" charset="0"/>
                <a:cs typeface="Arial" charset="0"/>
              </a:rPr>
              <a:t>Help with other Web services (play audio or video)</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61</a:t>
            </a:fld>
            <a:endParaRPr lang="nb-NO"/>
          </a:p>
        </p:txBody>
      </p:sp>
    </p:spTree>
  </p:cSld>
  <p:clrMapOvr>
    <a:masterClrMapping/>
  </p:clrMapOvr>
  <p:transition spd="slow">
    <p:cu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hape 402"/>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Requesting a Web Page</a:t>
            </a:r>
          </a:p>
        </p:txBody>
      </p:sp>
      <p:sp>
        <p:nvSpPr>
          <p:cNvPr id="117763" name="Shape 403"/>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Web requests use client/server interaction</a:t>
            </a:r>
          </a:p>
          <a:p>
            <a:pPr indent="-342900">
              <a:spcBef>
                <a:spcPts val="600"/>
              </a:spcBef>
              <a:spcAft>
                <a:spcPct val="0"/>
              </a:spcAft>
              <a:buClr>
                <a:srgbClr val="000000"/>
              </a:buClr>
              <a:buFontTx/>
              <a:buChar char="•"/>
            </a:pPr>
            <a:r>
              <a:rPr lang="en-US" altLang="it-IT" sz="3200">
                <a:latin typeface="Arial" charset="0"/>
                <a:ea typeface="Arial" charset="0"/>
                <a:cs typeface="Arial" charset="0"/>
              </a:rPr>
              <a:t>Requesting a Web page means your browser is a </a:t>
            </a:r>
            <a:r>
              <a:rPr lang="en-US" altLang="it-IT" sz="3200" i="1">
                <a:solidFill>
                  <a:srgbClr val="1E4649"/>
                </a:solidFill>
                <a:latin typeface="Arial" charset="0"/>
                <a:ea typeface="Arial" charset="0"/>
                <a:cs typeface="Arial" charset="0"/>
              </a:rPr>
              <a:t>client</a:t>
            </a:r>
            <a:r>
              <a:rPr lang="en-US" altLang="it-IT" sz="3200">
                <a:latin typeface="Arial" charset="0"/>
                <a:ea typeface="Arial" charset="0"/>
                <a:cs typeface="Arial" charset="0"/>
              </a:rPr>
              <a:t> asking for a file from a Web </a:t>
            </a:r>
            <a:r>
              <a:rPr lang="en-US" altLang="it-IT" sz="3200" i="1">
                <a:solidFill>
                  <a:srgbClr val="1E4649"/>
                </a:solidFill>
                <a:latin typeface="Arial" charset="0"/>
                <a:ea typeface="Arial" charset="0"/>
                <a:cs typeface="Arial" charset="0"/>
              </a:rPr>
              <a:t>server</a:t>
            </a:r>
          </a:p>
          <a:p>
            <a:pPr indent="-342900">
              <a:spcBef>
                <a:spcPts val="600"/>
              </a:spcBef>
              <a:spcAft>
                <a:spcPct val="0"/>
              </a:spcAft>
              <a:buClr>
                <a:srgbClr val="000000"/>
              </a:buClr>
              <a:buFontTx/>
              <a:buChar char="•"/>
            </a:pPr>
            <a:r>
              <a:rPr lang="en-US" altLang="it-IT" sz="3200">
                <a:latin typeface="Arial" charset="0"/>
                <a:ea typeface="Arial" charset="0"/>
                <a:cs typeface="Arial" charset="0"/>
              </a:rPr>
              <a:t>The file can be found in looking at the </a:t>
            </a:r>
            <a:r>
              <a:rPr lang="en-US" altLang="it-IT" sz="3200" b="1" i="1">
                <a:solidFill>
                  <a:srgbClr val="1E4649"/>
                </a:solidFill>
                <a:latin typeface="Arial" charset="0"/>
                <a:ea typeface="Arial" charset="0"/>
                <a:cs typeface="Arial" charset="0"/>
              </a:rPr>
              <a:t>URL</a:t>
            </a:r>
            <a:r>
              <a:rPr lang="en-US" altLang="it-IT" sz="3200" b="1">
                <a:latin typeface="Arial" charset="0"/>
                <a:ea typeface="Arial" charset="0"/>
                <a:cs typeface="Arial" charset="0"/>
              </a:rPr>
              <a:t> </a:t>
            </a:r>
            <a:r>
              <a:rPr lang="en-US" altLang="it-IT" sz="3200">
                <a:latin typeface="Arial" charset="0"/>
                <a:ea typeface="Arial" charset="0"/>
                <a:cs typeface="Arial" charset="0"/>
              </a:rPr>
              <a:t>(Universal Resource Locator)</a:t>
            </a:r>
          </a:p>
          <a:p>
            <a:pPr indent="-342900">
              <a:spcBef>
                <a:spcPts val="600"/>
              </a:spcBef>
              <a:spcAft>
                <a:spcPct val="0"/>
              </a:spcAft>
              <a:buClr>
                <a:srgbClr val="000000"/>
              </a:buClr>
              <a:buFontTx/>
              <a:buChar char="•"/>
            </a:pPr>
            <a:r>
              <a:rPr lang="en-US" altLang="it-IT" sz="3200">
                <a:latin typeface="Arial" charset="0"/>
                <a:ea typeface="Arial" charset="0"/>
                <a:cs typeface="Arial" charset="0"/>
              </a:rPr>
              <a:t>Web browsers and Web servers both “speak” the </a:t>
            </a:r>
            <a:r>
              <a:rPr lang="en-US" altLang="it-IT" sz="3200" i="1">
                <a:latin typeface="Arial" charset="0"/>
                <a:ea typeface="Arial" charset="0"/>
                <a:cs typeface="Arial" charset="0"/>
              </a:rPr>
              <a:t>HTTP </a:t>
            </a:r>
            <a:r>
              <a:rPr lang="en-US" altLang="it-IT" sz="3200">
                <a:latin typeface="Arial" charset="0"/>
                <a:ea typeface="Arial" charset="0"/>
                <a:cs typeface="Arial" charset="0"/>
              </a:rPr>
              <a:t>protocol</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62</a:t>
            </a:fld>
            <a:endParaRPr lang="nb-NO"/>
          </a:p>
        </p:txBody>
      </p:sp>
    </p:spTree>
  </p:cSld>
  <p:clrMapOvr>
    <a:masterClrMapping/>
  </p:clrMapOvr>
  <p:transition spd="slow">
    <p:cu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hape 408"/>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Requesting a Web Page</a:t>
            </a:r>
          </a:p>
        </p:txBody>
      </p:sp>
      <p:sp>
        <p:nvSpPr>
          <p:cNvPr id="119811" name="Shape 409"/>
          <p:cNvSpPr txBox="1">
            <a:spLocks noGrp="1"/>
          </p:cNvSpPr>
          <p:nvPr>
            <p:ph idx="1"/>
          </p:nvPr>
        </p:nvSpPr>
        <p:spPr/>
        <p:txBody>
          <a:bodyPr vert="horz" lIns="91440" tIns="45700" rIns="91440" bIns="45700" rtlCol="0">
            <a:normAutofit/>
          </a:bodyPr>
          <a:lstStyle/>
          <a:p>
            <a:pPr indent="-342900" algn="ctr">
              <a:spcBef>
                <a:spcPct val="0"/>
              </a:spcBef>
              <a:spcAft>
                <a:spcPct val="0"/>
              </a:spcAft>
              <a:buClr>
                <a:srgbClr val="000000"/>
              </a:buClr>
              <a:buSzPct val="25000"/>
              <a:buNone/>
            </a:pPr>
            <a:r>
              <a:rPr lang="en-US" altLang="it-IT" sz="2400" b="1">
                <a:solidFill>
                  <a:srgbClr val="6B6BCF"/>
                </a:solidFill>
                <a:latin typeface="Arial" charset="0"/>
                <a:ea typeface="Arial" charset="0"/>
                <a:cs typeface="Arial" charset="0"/>
              </a:rPr>
              <a:t>http</a:t>
            </a:r>
            <a:r>
              <a:rPr lang="en-US" altLang="it-IT" sz="2400">
                <a:latin typeface="Arial" charset="0"/>
                <a:ea typeface="Arial" charset="0"/>
                <a:cs typeface="Arial" charset="0"/>
              </a:rPr>
              <a:t>://</a:t>
            </a:r>
            <a:r>
              <a:rPr lang="en-US" altLang="it-IT" sz="2400" b="1">
                <a:solidFill>
                  <a:srgbClr val="3C8C93"/>
                </a:solidFill>
                <a:latin typeface="Arial" charset="0"/>
                <a:ea typeface="Arial" charset="0"/>
                <a:cs typeface="Arial" charset="0"/>
              </a:rPr>
              <a:t>www.cs.washington.edu</a:t>
            </a:r>
            <a:r>
              <a:rPr lang="en-US" altLang="it-IT" sz="2400">
                <a:latin typeface="Arial" charset="0"/>
                <a:ea typeface="Arial" charset="0"/>
                <a:cs typeface="Arial" charset="0"/>
              </a:rPr>
              <a:t>/</a:t>
            </a:r>
            <a:r>
              <a:rPr lang="en-US" altLang="it-IT" sz="2400" b="1">
                <a:solidFill>
                  <a:srgbClr val="7030A0"/>
                </a:solidFill>
                <a:latin typeface="Arial" charset="0"/>
                <a:ea typeface="Arial" charset="0"/>
                <a:cs typeface="Arial" charset="0"/>
              </a:rPr>
              <a:t>homes/snyder/index.html</a:t>
            </a:r>
          </a:p>
          <a:p>
            <a:pPr indent="-342900">
              <a:spcBef>
                <a:spcPts val="600"/>
              </a:spcBef>
              <a:spcAft>
                <a:spcPct val="0"/>
              </a:spcAft>
              <a:buClr>
                <a:srgbClr val="000000"/>
              </a:buClr>
              <a:buFontTx/>
              <a:buChar char="•"/>
            </a:pPr>
            <a:r>
              <a:rPr lang="en-US" altLang="it-IT" sz="3200">
                <a:latin typeface="Arial" charset="0"/>
                <a:ea typeface="Arial" charset="0"/>
                <a:cs typeface="Arial" charset="0"/>
              </a:rPr>
              <a:t>The </a:t>
            </a:r>
            <a:r>
              <a:rPr lang="en-US" altLang="it-IT" sz="3200" b="1">
                <a:latin typeface="Arial" charset="0"/>
                <a:ea typeface="Arial" charset="0"/>
                <a:cs typeface="Arial" charset="0"/>
              </a:rPr>
              <a:t>URL </a:t>
            </a:r>
            <a:r>
              <a:rPr lang="en-US" altLang="it-IT" sz="3200">
                <a:latin typeface="Arial" charset="0"/>
                <a:ea typeface="Arial" charset="0"/>
                <a:cs typeface="Arial" charset="0"/>
              </a:rPr>
              <a:t>has three main parts:</a:t>
            </a:r>
          </a:p>
          <a:p>
            <a:pPr lvl="1" indent="-285750">
              <a:spcAft>
                <a:spcPct val="0"/>
              </a:spcAft>
              <a:buClr>
                <a:srgbClr val="6B6BCF"/>
              </a:buClr>
              <a:buFontTx/>
              <a:buChar char="–"/>
            </a:pPr>
            <a:r>
              <a:rPr lang="en-US" altLang="it-IT" sz="2800" b="1">
                <a:solidFill>
                  <a:srgbClr val="6B6BCF"/>
                </a:solidFill>
                <a:latin typeface="Arial" charset="0"/>
                <a:ea typeface="Arial" charset="0"/>
                <a:cs typeface="Arial" charset="0"/>
              </a:rPr>
              <a:t>Protocol:</a:t>
            </a:r>
            <a:r>
              <a:rPr lang="en-US" altLang="it-IT" sz="2800" b="1">
                <a:latin typeface="Arial" charset="0"/>
                <a:ea typeface="Arial" charset="0"/>
                <a:cs typeface="Arial" charset="0"/>
              </a:rPr>
              <a:t> </a:t>
            </a:r>
            <a:r>
              <a:rPr lang="en-US" altLang="it-IT" sz="2800">
                <a:latin typeface="Arial" charset="0"/>
                <a:ea typeface="Arial" charset="0"/>
                <a:cs typeface="Arial" charset="0"/>
              </a:rPr>
              <a:t>tells the computers how to fetch the file</a:t>
            </a:r>
          </a:p>
          <a:p>
            <a:pPr lvl="1" indent="-285750">
              <a:spcAft>
                <a:spcPct val="0"/>
              </a:spcAft>
              <a:buClr>
                <a:srgbClr val="3C8C93"/>
              </a:buClr>
              <a:buFontTx/>
              <a:buChar char="–"/>
            </a:pPr>
            <a:r>
              <a:rPr lang="en-US" altLang="it-IT" sz="2800" b="1">
                <a:solidFill>
                  <a:srgbClr val="3C8C93"/>
                </a:solidFill>
                <a:latin typeface="Arial" charset="0"/>
                <a:ea typeface="Arial" charset="0"/>
                <a:cs typeface="Arial" charset="0"/>
              </a:rPr>
              <a:t>Server computer’s name:</a:t>
            </a:r>
            <a:r>
              <a:rPr lang="en-US" altLang="it-IT" sz="2800" b="1">
                <a:latin typeface="Arial" charset="0"/>
                <a:ea typeface="Arial" charset="0"/>
                <a:cs typeface="Arial" charset="0"/>
              </a:rPr>
              <a:t> </a:t>
            </a:r>
            <a:r>
              <a:rPr lang="en-US" altLang="it-IT" sz="2800">
                <a:latin typeface="Arial" charset="0"/>
                <a:ea typeface="Arial" charset="0"/>
                <a:cs typeface="Arial" charset="0"/>
              </a:rPr>
              <a:t>or the server name in the domain hierarchy</a:t>
            </a:r>
          </a:p>
          <a:p>
            <a:pPr lvl="1" indent="-285750">
              <a:spcAft>
                <a:spcPct val="0"/>
              </a:spcAft>
              <a:buClr>
                <a:srgbClr val="7030A0"/>
              </a:buClr>
              <a:buFontTx/>
              <a:buChar char="–"/>
            </a:pPr>
            <a:r>
              <a:rPr lang="en-US" altLang="it-IT" sz="2800" b="1">
                <a:solidFill>
                  <a:srgbClr val="7030A0"/>
                </a:solidFill>
                <a:latin typeface="Arial" charset="0"/>
                <a:ea typeface="Arial" charset="0"/>
                <a:cs typeface="Arial" charset="0"/>
              </a:rPr>
              <a:t>Page’s pathname:</a:t>
            </a:r>
            <a:r>
              <a:rPr lang="en-US" altLang="it-IT" sz="2800" b="1">
                <a:latin typeface="Arial" charset="0"/>
                <a:ea typeface="Arial" charset="0"/>
                <a:cs typeface="Arial" charset="0"/>
              </a:rPr>
              <a:t> </a:t>
            </a:r>
            <a:r>
              <a:rPr lang="en-US" altLang="it-IT" sz="2800">
                <a:latin typeface="Arial" charset="0"/>
                <a:ea typeface="Arial" charset="0"/>
                <a:cs typeface="Arial" charset="0"/>
              </a:rPr>
              <a:t>tells the server what file (page) is requested and where to find it</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63</a:t>
            </a:fld>
            <a:endParaRPr lang="nb-NO"/>
          </a:p>
        </p:txBody>
      </p:sp>
    </p:spTree>
  </p:cSld>
  <p:clrMapOvr>
    <a:masterClrMapping/>
  </p:clrMapOvr>
  <p:transition spd="slow">
    <p:cu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hape 414"/>
          <p:cNvSpPr txBox="1">
            <a:spLocks noGrp="1"/>
          </p:cNvSpPr>
          <p:nvPr>
            <p:ph type="title"/>
          </p:nvPr>
        </p:nvSpPr>
        <p:spPr/>
        <p:txBody>
          <a:bodyPr/>
          <a:lstStyle/>
          <a:p>
            <a:pPr eaLnBrk="1" hangingPunct="1">
              <a:spcBef>
                <a:spcPct val="0"/>
              </a:spcBef>
              <a:spcAft>
                <a:spcPct val="0"/>
              </a:spcAft>
              <a:buClr>
                <a:srgbClr val="000000"/>
              </a:buClr>
            </a:pPr>
            <a:r>
              <a:rPr lang="en-US" altLang="it-IT">
                <a:latin typeface="Arial" charset="0"/>
                <a:ea typeface="Arial" charset="0"/>
                <a:cs typeface="Arial" charset="0"/>
              </a:rPr>
              <a:t>Get It Right</a:t>
            </a:r>
          </a:p>
        </p:txBody>
      </p:sp>
      <p:sp>
        <p:nvSpPr>
          <p:cNvPr id="121859" name="Shape 415"/>
          <p:cNvSpPr txBox="1">
            <a:spLocks noGrp="1"/>
          </p:cNvSpPr>
          <p:nvPr>
            <p:ph idx="1"/>
          </p:nvPr>
        </p:nvSpPr>
        <p:spPr/>
        <p:txBody>
          <a:bodyPr/>
          <a:lstStyle/>
          <a:p>
            <a:pPr marL="457200" indent="-431800">
              <a:spcBef>
                <a:spcPct val="0"/>
              </a:spcBef>
              <a:spcAft>
                <a:spcPct val="0"/>
              </a:spcAft>
              <a:buClr>
                <a:srgbClr val="000000"/>
              </a:buClr>
              <a:buFont typeface="Arial" charset="0"/>
              <a:buChar char="●"/>
            </a:pPr>
            <a:r>
              <a:rPr lang="en-US" altLang="it-IT" sz="3200">
                <a:latin typeface="Arial" charset="0"/>
                <a:ea typeface="Arial" charset="0"/>
                <a:cs typeface="Arial" charset="0"/>
              </a:rPr>
              <a:t>An incorrect host name will cause DNS to find the wrong server, or return an error</a:t>
            </a:r>
          </a:p>
          <a:p>
            <a:pPr marL="457200" indent="-431800">
              <a:spcBef>
                <a:spcPct val="0"/>
              </a:spcBef>
              <a:spcAft>
                <a:spcPct val="0"/>
              </a:spcAft>
              <a:buClr>
                <a:srgbClr val="000000"/>
              </a:buClr>
              <a:buFont typeface="Arial" charset="0"/>
              <a:buChar char="●"/>
            </a:pPr>
            <a:r>
              <a:rPr lang="en-US" altLang="it-IT" sz="3200">
                <a:latin typeface="Arial" charset="0"/>
                <a:ea typeface="Arial" charset="0"/>
                <a:cs typeface="Arial" charset="0"/>
              </a:rPr>
              <a:t>An error in the path will cause the web server to get the wrong page or return an error</a:t>
            </a:r>
          </a:p>
          <a:p>
            <a:pPr marL="457200" indent="-431800">
              <a:spcBef>
                <a:spcPct val="0"/>
              </a:spcBef>
              <a:spcAft>
                <a:spcPct val="0"/>
              </a:spcAft>
              <a:buClr>
                <a:srgbClr val="000000"/>
              </a:buClr>
              <a:buFont typeface="Arial" charset="0"/>
              <a:buChar char="●"/>
            </a:pPr>
            <a:r>
              <a:rPr lang="en-US" altLang="it-IT" sz="3200">
                <a:latin typeface="Arial" charset="0"/>
                <a:ea typeface="Arial" charset="0"/>
                <a:cs typeface="Arial" charset="0"/>
              </a:rPr>
              <a:t>Administrators may arrange that a wrong URL redirects to a corrected one</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64</a:t>
            </a:fld>
            <a:endParaRPr lang="nb-NO"/>
          </a:p>
        </p:txBody>
      </p:sp>
    </p:spTree>
  </p:cSld>
  <p:clrMapOvr>
    <a:masterClrMapping/>
  </p:clrMapOvr>
  <p:transition spd="slow">
    <p:cu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hape 421"/>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Describing a Web Page</a:t>
            </a:r>
          </a:p>
        </p:txBody>
      </p:sp>
      <p:sp>
        <p:nvSpPr>
          <p:cNvPr id="123907" name="Shape 422"/>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Servers do not store Web pages in the form seen on our screens</a:t>
            </a:r>
          </a:p>
          <a:p>
            <a:pPr indent="-342900">
              <a:spcBef>
                <a:spcPts val="600"/>
              </a:spcBef>
              <a:spcAft>
                <a:spcPct val="0"/>
              </a:spcAft>
              <a:buClr>
                <a:srgbClr val="000000"/>
              </a:buClr>
              <a:buFontTx/>
              <a:buChar char="•"/>
            </a:pPr>
            <a:r>
              <a:rPr lang="en-US" altLang="it-IT" sz="3200">
                <a:latin typeface="Arial" charset="0"/>
                <a:ea typeface="Arial" charset="0"/>
                <a:cs typeface="Arial" charset="0"/>
              </a:rPr>
              <a:t>The pages are stored as a </a:t>
            </a:r>
            <a:r>
              <a:rPr lang="en-US" altLang="it-IT" sz="3200" i="1">
                <a:latin typeface="Arial" charset="0"/>
                <a:ea typeface="Arial" charset="0"/>
                <a:cs typeface="Arial" charset="0"/>
              </a:rPr>
              <a:t>description of how they should appear on the </a:t>
            </a:r>
            <a:r>
              <a:rPr lang="en-US" altLang="it-IT" sz="3200">
                <a:latin typeface="Arial" charset="0"/>
                <a:ea typeface="Arial" charset="0"/>
                <a:cs typeface="Arial" charset="0"/>
              </a:rPr>
              <a:t>screen.</a:t>
            </a:r>
          </a:p>
          <a:p>
            <a:pPr indent="-342900">
              <a:spcBef>
                <a:spcPts val="600"/>
              </a:spcBef>
              <a:spcAft>
                <a:spcPct val="0"/>
              </a:spcAft>
              <a:buClr>
                <a:srgbClr val="000000"/>
              </a:buClr>
              <a:buFontTx/>
              <a:buChar char="•"/>
            </a:pPr>
            <a:r>
              <a:rPr lang="en-US" altLang="it-IT" sz="3200">
                <a:latin typeface="Arial" charset="0"/>
                <a:ea typeface="Arial" charset="0"/>
                <a:cs typeface="Arial" charset="0"/>
              </a:rPr>
              <a:t>The browser receives the description/source file and creates the Web page image that is described</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65</a:t>
            </a:fld>
            <a:endParaRPr lang="nb-NO"/>
          </a:p>
        </p:txBody>
      </p:sp>
    </p:spTree>
  </p:cSld>
  <p:clrMapOvr>
    <a:masterClrMapping/>
  </p:clrMapOvr>
  <p:transition spd="slow">
    <p:cu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hape 427"/>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Describing a Web Page</a:t>
            </a:r>
          </a:p>
        </p:txBody>
      </p:sp>
      <p:sp>
        <p:nvSpPr>
          <p:cNvPr id="125955" name="Shape 428"/>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There are two advantages to storing and sending the source rather than the image itself:</a:t>
            </a:r>
          </a:p>
          <a:p>
            <a:pPr marL="971550" lvl="1" indent="-514350">
              <a:spcAft>
                <a:spcPct val="0"/>
              </a:spcAft>
              <a:buClr>
                <a:srgbClr val="000000"/>
              </a:buClr>
              <a:buFontTx/>
              <a:buAutoNum type="arabicPeriod"/>
            </a:pPr>
            <a:r>
              <a:rPr lang="en-US" altLang="it-IT" sz="2800">
                <a:latin typeface="Arial" charset="0"/>
                <a:ea typeface="Arial" charset="0"/>
                <a:cs typeface="Arial" charset="0"/>
              </a:rPr>
              <a:t>A description file usually requires less information</a:t>
            </a:r>
          </a:p>
          <a:p>
            <a:pPr marL="971550" lvl="1" indent="-514350">
              <a:spcAft>
                <a:spcPct val="0"/>
              </a:spcAft>
              <a:buClr>
                <a:srgbClr val="000000"/>
              </a:buClr>
              <a:buFontTx/>
              <a:buAutoNum type="arabicPeriod"/>
            </a:pPr>
            <a:r>
              <a:rPr lang="en-US" altLang="it-IT" sz="2800">
                <a:latin typeface="Arial" charset="0"/>
                <a:ea typeface="Arial" charset="0"/>
                <a:cs typeface="Arial" charset="0"/>
              </a:rPr>
              <a:t>The browser can adapt the source image to your computer more easily</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66</a:t>
            </a:fld>
            <a:endParaRPr lang="nb-NO"/>
          </a:p>
        </p:txBody>
      </p:sp>
    </p:spTree>
  </p:cSld>
  <p:clrMapOvr>
    <a:masterClrMapping/>
  </p:clrMapOvr>
  <p:transition spd="slow">
    <p:cu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52900" y="1004889"/>
            <a:ext cx="3886200" cy="484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67</a:t>
            </a:fld>
            <a:endParaRPr lang="nb-NO"/>
          </a:p>
        </p:txBody>
      </p:sp>
    </p:spTree>
  </p:cSld>
  <p:clrMapOvr>
    <a:masterClrMapping/>
  </p:clrMapOvr>
  <p:transition spd="slow">
    <p:cu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hape 439"/>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The Internet and the Web</a:t>
            </a:r>
          </a:p>
        </p:txBody>
      </p:sp>
      <p:sp>
        <p:nvSpPr>
          <p:cNvPr id="130051" name="Shape 440"/>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Some Web servers have www as part of their domain name, some don’t</a:t>
            </a:r>
          </a:p>
          <a:p>
            <a:pPr indent="-342900">
              <a:spcBef>
                <a:spcPts val="600"/>
              </a:spcBef>
              <a:spcAft>
                <a:spcPct val="0"/>
              </a:spcAft>
              <a:buClr>
                <a:srgbClr val="000000"/>
              </a:buClr>
              <a:buFontTx/>
              <a:buChar char="•"/>
            </a:pPr>
            <a:r>
              <a:rPr lang="en-US" altLang="it-IT" sz="3200">
                <a:latin typeface="Arial" charset="0"/>
                <a:ea typeface="Arial" charset="0"/>
                <a:cs typeface="Arial" charset="0"/>
              </a:rPr>
              <a:t>Some Web servers seem to add the www if you leave it out</a:t>
            </a:r>
          </a:p>
          <a:p>
            <a:pPr indent="-342900">
              <a:spcBef>
                <a:spcPts val="600"/>
              </a:spcBef>
              <a:spcAft>
                <a:spcPct val="0"/>
              </a:spcAft>
              <a:buClr>
                <a:srgbClr val="000000"/>
              </a:buClr>
              <a:buFontTx/>
              <a:buChar char="•"/>
            </a:pPr>
            <a:r>
              <a:rPr lang="en-US" altLang="it-IT" sz="3200">
                <a:latin typeface="Arial" charset="0"/>
                <a:ea typeface="Arial" charset="0"/>
                <a:cs typeface="Arial" charset="0"/>
              </a:rPr>
              <a:t>Some Web servers work either way (both www.moma.org and moma.org display the same Web site)</a:t>
            </a:r>
          </a:p>
          <a:p>
            <a:pPr indent="-342900">
              <a:spcBef>
                <a:spcPts val="600"/>
              </a:spcBef>
              <a:spcAft>
                <a:spcPct val="0"/>
              </a:spcAft>
              <a:buClr>
                <a:srgbClr val="000000"/>
              </a:buClr>
              <a:buFontTx/>
              <a:buChar char="•"/>
            </a:pPr>
            <a:r>
              <a:rPr lang="en-US" altLang="it-IT" sz="3200">
                <a:latin typeface="Arial" charset="0"/>
                <a:ea typeface="Arial" charset="0"/>
                <a:cs typeface="Arial" charset="0"/>
              </a:rPr>
              <a:t>When is the www required and when is it optional?</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68</a:t>
            </a:fld>
            <a:endParaRPr lang="nb-NO"/>
          </a:p>
        </p:txBody>
      </p:sp>
    </p:spTree>
  </p:cSld>
  <p:clrMapOvr>
    <a:masterClrMapping/>
  </p:clrMapOvr>
  <p:transition spd="slow">
    <p:cu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hape 445"/>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File Structure</a:t>
            </a:r>
          </a:p>
        </p:txBody>
      </p:sp>
      <p:sp>
        <p:nvSpPr>
          <p:cNvPr id="446" name="Shape 446"/>
          <p:cNvSpPr txBox="1">
            <a:spLocks noGrp="1"/>
          </p:cNvSpPr>
          <p:nvPr>
            <p:ph idx="1"/>
          </p:nvPr>
        </p:nvSpPr>
        <p:spPr/>
        <p:txBody>
          <a:bodyPr vert="horz" lIns="91440" tIns="45700" rIns="91440" bIns="45700" rtlCol="0">
            <a:noAutofit/>
          </a:bodyPr>
          <a:lstStyle/>
          <a:p>
            <a:pPr indent="-342900">
              <a:spcBef>
                <a:spcPts val="0"/>
              </a:spcBef>
              <a:buClr>
                <a:srgbClr val="000000"/>
              </a:buClr>
              <a:buSzPct val="100000"/>
              <a:defRPr/>
            </a:pPr>
            <a:r>
              <a:rPr lang="en-US" sz="3200">
                <a:sym typeface="Arial"/>
              </a:rPr>
              <a:t>Folders</a:t>
            </a:r>
          </a:p>
          <a:p>
            <a:pPr lvl="1" indent="-285750">
              <a:spcBef>
                <a:spcPts val="600"/>
              </a:spcBef>
              <a:buClr>
                <a:srgbClr val="000000"/>
              </a:buClr>
              <a:buSzPct val="100000"/>
              <a:defRPr/>
            </a:pPr>
            <a:r>
              <a:rPr lang="en-US" sz="3200">
                <a:sym typeface="Arial"/>
              </a:rPr>
              <a:t>named collection of files or other folders (or both)</a:t>
            </a:r>
          </a:p>
          <a:p>
            <a:pPr lvl="1" indent="-285750">
              <a:spcBef>
                <a:spcPts val="600"/>
              </a:spcBef>
              <a:buClr>
                <a:srgbClr val="000000"/>
              </a:buClr>
              <a:buSzPct val="100000"/>
              <a:defRPr/>
            </a:pPr>
            <a:r>
              <a:rPr lang="en-US" sz="3200">
                <a:sym typeface="Arial"/>
              </a:rPr>
              <a:t>also called a directory</a:t>
            </a:r>
          </a:p>
          <a:p>
            <a:pPr indent="63500">
              <a:buNone/>
              <a:defRPr/>
            </a:pPr>
            <a:endParaRPr sz="3200">
              <a:sym typeface="Arial"/>
            </a:endParaRP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69</a:t>
            </a:fld>
            <a:endParaRPr lang="nb-NO"/>
          </a:p>
        </p:txBody>
      </p:sp>
    </p:spTree>
  </p:cSld>
  <p:clrMapOvr>
    <a:masterClrMapping/>
  </p:clrMapOvr>
  <p:transition spd="slow">
    <p:cu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hape 451"/>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File Structure</a:t>
            </a:r>
          </a:p>
        </p:txBody>
      </p:sp>
      <p:sp>
        <p:nvSpPr>
          <p:cNvPr id="134147" name="Shape 452"/>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Directory Hierarchy</a:t>
            </a:r>
          </a:p>
          <a:p>
            <a:pPr lvl="1" indent="-285750">
              <a:spcAft>
                <a:spcPct val="0"/>
              </a:spcAft>
              <a:buClr>
                <a:srgbClr val="000000"/>
              </a:buClr>
              <a:buFontTx/>
              <a:buChar char="–"/>
            </a:pPr>
            <a:r>
              <a:rPr lang="en-US" altLang="it-IT" sz="2800">
                <a:latin typeface="Arial" charset="0"/>
                <a:ea typeface="Arial" charset="0"/>
                <a:cs typeface="Arial" charset="0"/>
              </a:rPr>
              <a:t>called the </a:t>
            </a:r>
            <a:r>
              <a:rPr lang="en-US" altLang="it-IT" sz="2800" b="1" i="1">
                <a:solidFill>
                  <a:srgbClr val="1E4649"/>
                </a:solidFill>
                <a:latin typeface="Arial" charset="0"/>
                <a:ea typeface="Arial" charset="0"/>
                <a:cs typeface="Arial" charset="0"/>
              </a:rPr>
              <a:t>file structure of the computer</a:t>
            </a:r>
            <a:r>
              <a:rPr lang="en-US" altLang="it-IT" sz="2800" b="1">
                <a:latin typeface="Arial" charset="0"/>
                <a:ea typeface="Arial" charset="0"/>
                <a:cs typeface="Arial" charset="0"/>
              </a:rPr>
              <a:t> </a:t>
            </a:r>
            <a:r>
              <a:rPr lang="en-US" altLang="it-IT" sz="2800">
                <a:latin typeface="Arial" charset="0"/>
                <a:ea typeface="Arial" charset="0"/>
                <a:cs typeface="Arial" charset="0"/>
              </a:rPr>
              <a:t>and</a:t>
            </a:r>
            <a:r>
              <a:rPr lang="en-US" altLang="it-IT" sz="2800" b="1">
                <a:latin typeface="Arial" charset="0"/>
                <a:ea typeface="Arial" charset="0"/>
                <a:cs typeface="Arial" charset="0"/>
              </a:rPr>
              <a:t> </a:t>
            </a:r>
            <a:r>
              <a:rPr lang="en-US" altLang="it-IT" sz="2800">
                <a:latin typeface="Arial" charset="0"/>
                <a:ea typeface="Arial" charset="0"/>
                <a:cs typeface="Arial" charset="0"/>
              </a:rPr>
              <a:t>forms the </a:t>
            </a:r>
            <a:r>
              <a:rPr lang="en-US" altLang="it-IT" sz="2800" b="1">
                <a:solidFill>
                  <a:srgbClr val="1E4649"/>
                </a:solidFill>
                <a:latin typeface="Arial" charset="0"/>
                <a:ea typeface="Arial" charset="0"/>
                <a:cs typeface="Arial" charset="0"/>
              </a:rPr>
              <a:t>directory hierarchy</a:t>
            </a:r>
          </a:p>
          <a:p>
            <a:pPr indent="-342900">
              <a:spcBef>
                <a:spcPts val="600"/>
              </a:spcBef>
              <a:spcAft>
                <a:spcPct val="0"/>
              </a:spcAft>
              <a:buClr>
                <a:srgbClr val="000000"/>
              </a:buClr>
              <a:buFontTx/>
              <a:buChar char="•"/>
            </a:pPr>
            <a:r>
              <a:rPr lang="en-US" altLang="it-IT" sz="3200">
                <a:latin typeface="Arial" charset="0"/>
                <a:ea typeface="Arial" charset="0"/>
                <a:cs typeface="Arial" charset="0"/>
              </a:rPr>
              <a:t>Think of any hierarchy as a tree</a:t>
            </a:r>
          </a:p>
          <a:p>
            <a:pPr lvl="1" indent="-285750">
              <a:spcAft>
                <a:spcPct val="0"/>
              </a:spcAft>
              <a:buClr>
                <a:srgbClr val="000000"/>
              </a:buClr>
              <a:buFontTx/>
              <a:buChar char="–"/>
            </a:pPr>
            <a:r>
              <a:rPr lang="en-US" altLang="it-IT" sz="2800">
                <a:latin typeface="Arial" charset="0"/>
                <a:ea typeface="Arial" charset="0"/>
                <a:cs typeface="Arial" charset="0"/>
              </a:rPr>
              <a:t>folders are the branch points </a:t>
            </a:r>
          </a:p>
          <a:p>
            <a:pPr lvl="1" indent="-285750">
              <a:spcAft>
                <a:spcPct val="0"/>
              </a:spcAft>
              <a:buClr>
                <a:srgbClr val="000000"/>
              </a:buClr>
              <a:buFontTx/>
              <a:buChar char="–"/>
            </a:pPr>
            <a:r>
              <a:rPr lang="en-US" altLang="it-IT" sz="2800">
                <a:latin typeface="Arial" charset="0"/>
                <a:ea typeface="Arial" charset="0"/>
                <a:cs typeface="Arial" charset="0"/>
              </a:rPr>
              <a:t>files are the leaves</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70</a:t>
            </a:fld>
            <a:endParaRPr lang="nb-NO"/>
          </a:p>
        </p:txBody>
      </p:sp>
    </p:spTree>
  </p:cSld>
  <p:clrMapOvr>
    <a:masterClrMapping/>
  </p:clrMapOvr>
  <p:transition spd="slow">
    <p:cu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hape 457"/>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File Structure</a:t>
            </a:r>
          </a:p>
        </p:txBody>
      </p:sp>
      <p:sp>
        <p:nvSpPr>
          <p:cNvPr id="136195" name="Shape 458"/>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Directory Hierarchy</a:t>
            </a:r>
          </a:p>
          <a:p>
            <a:pPr lvl="1" indent="-285750">
              <a:spcAft>
                <a:spcPct val="0"/>
              </a:spcAft>
              <a:buClr>
                <a:srgbClr val="000000"/>
              </a:buClr>
              <a:buFontTx/>
              <a:buChar char="–"/>
            </a:pPr>
            <a:r>
              <a:rPr lang="en-US" altLang="it-IT" sz="2800">
                <a:latin typeface="Arial" charset="0"/>
                <a:ea typeface="Arial" charset="0"/>
                <a:cs typeface="Arial" charset="0"/>
              </a:rPr>
              <a:t>All hierarchies have branch points and leaves</a:t>
            </a:r>
          </a:p>
          <a:p>
            <a:pPr lvl="1" indent="-285750">
              <a:spcAft>
                <a:spcPct val="0"/>
              </a:spcAft>
              <a:buClr>
                <a:srgbClr val="000000"/>
              </a:buClr>
              <a:buFontTx/>
              <a:buChar char="–"/>
            </a:pPr>
            <a:r>
              <a:rPr lang="en-US" altLang="it-IT" sz="2800">
                <a:latin typeface="Arial" charset="0"/>
                <a:ea typeface="Arial" charset="0"/>
                <a:cs typeface="Arial" charset="0"/>
              </a:rPr>
              <a:t>Hierarchy trees are often drawn sideways or upside down</a:t>
            </a:r>
          </a:p>
          <a:p>
            <a:pPr lvl="1" indent="-285750">
              <a:spcAft>
                <a:spcPct val="0"/>
              </a:spcAft>
              <a:buClr>
                <a:srgbClr val="000000"/>
              </a:buClr>
              <a:buFontTx/>
              <a:buChar char="–"/>
            </a:pPr>
            <a:r>
              <a:rPr lang="en-US" altLang="it-IT" sz="2800">
                <a:latin typeface="Arial" charset="0"/>
                <a:ea typeface="Arial" charset="0"/>
                <a:cs typeface="Arial" charset="0"/>
              </a:rPr>
              <a:t>Two terms are standard, however:</a:t>
            </a:r>
          </a:p>
          <a:p>
            <a:pPr marL="1371600" lvl="2" indent="-520700">
              <a:spcBef>
                <a:spcPts val="400"/>
              </a:spcBef>
              <a:spcAft>
                <a:spcPct val="0"/>
              </a:spcAft>
              <a:buClr>
                <a:srgbClr val="1E4649"/>
              </a:buClr>
              <a:buFontTx/>
              <a:buAutoNum type="arabicPeriod"/>
            </a:pPr>
            <a:r>
              <a:rPr lang="en-US" altLang="it-IT" sz="2400" b="1" i="1">
                <a:solidFill>
                  <a:srgbClr val="1E4649"/>
                </a:solidFill>
                <a:latin typeface="Arial" charset="0"/>
                <a:ea typeface="Arial" charset="0"/>
                <a:cs typeface="Arial" charset="0"/>
              </a:rPr>
              <a:t>Down</a:t>
            </a:r>
            <a:r>
              <a:rPr lang="en-US" altLang="it-IT" sz="2400" i="1">
                <a:latin typeface="Arial" charset="0"/>
                <a:ea typeface="Arial" charset="0"/>
                <a:cs typeface="Arial" charset="0"/>
              </a:rPr>
              <a:t> </a:t>
            </a:r>
            <a:r>
              <a:rPr lang="en-US" altLang="it-IT" sz="2400">
                <a:latin typeface="Arial" charset="0"/>
                <a:ea typeface="Arial" charset="0"/>
                <a:cs typeface="Arial" charset="0"/>
              </a:rPr>
              <a:t>in the hierarchy means into subfolders (towards the leaves)</a:t>
            </a:r>
          </a:p>
          <a:p>
            <a:pPr marL="1371600" lvl="2" indent="-520700">
              <a:spcBef>
                <a:spcPts val="400"/>
              </a:spcBef>
              <a:spcAft>
                <a:spcPct val="0"/>
              </a:spcAft>
              <a:buClr>
                <a:srgbClr val="1E4649"/>
              </a:buClr>
              <a:buFontTx/>
              <a:buAutoNum type="arabicPeriod"/>
            </a:pPr>
            <a:r>
              <a:rPr lang="en-US" altLang="it-IT" sz="2400" b="1" i="1">
                <a:solidFill>
                  <a:srgbClr val="1E4649"/>
                </a:solidFill>
                <a:latin typeface="Arial" charset="0"/>
                <a:ea typeface="Arial" charset="0"/>
                <a:cs typeface="Arial" charset="0"/>
              </a:rPr>
              <a:t>Up</a:t>
            </a:r>
            <a:r>
              <a:rPr lang="en-US" altLang="it-IT" sz="2400" i="1">
                <a:latin typeface="Arial" charset="0"/>
                <a:ea typeface="Arial" charset="0"/>
                <a:cs typeface="Arial" charset="0"/>
              </a:rPr>
              <a:t> </a:t>
            </a:r>
            <a:r>
              <a:rPr lang="en-US" altLang="it-IT" sz="2400">
                <a:latin typeface="Arial" charset="0"/>
                <a:ea typeface="Arial" charset="0"/>
                <a:cs typeface="Arial" charset="0"/>
              </a:rPr>
              <a:t>in the hierarchy means into folders (toward the root)</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71</a:t>
            </a:fld>
            <a:endParaRPr lang="nb-NO"/>
          </a:p>
        </p:txBody>
      </p:sp>
    </p:spTree>
  </p:cSld>
  <p:clrMapOvr>
    <a:masterClrMapping/>
  </p:clrMapOvr>
  <p:transition spd="slow">
    <p:cu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24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35451" y="741364"/>
            <a:ext cx="3529013"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72</a:t>
            </a:fld>
            <a:endParaRPr lang="nb-NO"/>
          </a:p>
        </p:txBody>
      </p:sp>
    </p:spTree>
  </p:cSld>
  <p:clrMapOvr>
    <a:masterClrMapping/>
  </p:clrMapOvr>
  <p:transition spd="slow">
    <p:cu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hape 469"/>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File Structure</a:t>
            </a:r>
          </a:p>
        </p:txBody>
      </p:sp>
      <p:sp>
        <p:nvSpPr>
          <p:cNvPr id="140291" name="Shape 470"/>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Part of the directory hierarchy is shown in the pathnames of this URL: </a:t>
            </a:r>
            <a:r>
              <a:rPr lang="en-US" altLang="it-IT" sz="2400">
                <a:latin typeface="Arial" charset="0"/>
                <a:ea typeface="Arial" charset="0"/>
                <a:cs typeface="Arial" charset="0"/>
              </a:rPr>
              <a:t>http://www.nps.gov/yell/photosmultimedia/webcams.htm</a:t>
            </a:r>
          </a:p>
          <a:p>
            <a:pPr indent="-342900">
              <a:spcBef>
                <a:spcPts val="600"/>
              </a:spcBef>
              <a:spcAft>
                <a:spcPct val="0"/>
              </a:spcAft>
              <a:buClr>
                <a:srgbClr val="000000"/>
              </a:buClr>
              <a:buFontTx/>
              <a:buChar char="•"/>
            </a:pPr>
            <a:r>
              <a:rPr lang="en-US" altLang="it-IT" sz="3200">
                <a:latin typeface="Arial" charset="0"/>
                <a:ea typeface="Arial" charset="0"/>
                <a:cs typeface="Arial" charset="0"/>
              </a:rPr>
              <a:t>The page is specified by the </a:t>
            </a:r>
            <a:r>
              <a:rPr lang="en-US" altLang="it-IT" sz="3200" b="1" i="1">
                <a:solidFill>
                  <a:srgbClr val="1E4649"/>
                </a:solidFill>
                <a:latin typeface="Arial" charset="0"/>
                <a:ea typeface="Arial" charset="0"/>
                <a:cs typeface="Arial" charset="0"/>
              </a:rPr>
              <a:t>pathname </a:t>
            </a:r>
            <a:r>
              <a:rPr lang="en-US" altLang="it-IT" sz="3200">
                <a:latin typeface="Arial" charset="0"/>
                <a:ea typeface="Arial" charset="0"/>
                <a:cs typeface="Arial" charset="0"/>
              </a:rPr>
              <a:t>that tells the computer how to navigate through the directory hierarchy to the file</a:t>
            </a:r>
          </a:p>
          <a:p>
            <a:pPr indent="-342900">
              <a:spcBef>
                <a:spcPts val="600"/>
              </a:spcBef>
              <a:spcAft>
                <a:spcPct val="0"/>
              </a:spcAft>
              <a:buClr>
                <a:srgbClr val="000000"/>
              </a:buClr>
              <a:buFontTx/>
              <a:buChar char="•"/>
            </a:pPr>
            <a:r>
              <a:rPr lang="en-US" altLang="it-IT" sz="3200">
                <a:latin typeface="Arial" charset="0"/>
                <a:ea typeface="Arial" charset="0"/>
                <a:cs typeface="Arial" charset="0"/>
              </a:rPr>
              <a:t>Each time there is a slash (/), we move into a subfolder or to the file</a:t>
            </a:r>
          </a:p>
          <a:p>
            <a:pPr indent="-342900">
              <a:spcBef>
                <a:spcPts val="600"/>
              </a:spcBef>
              <a:spcAft>
                <a:spcPct val="0"/>
              </a:spcAft>
              <a:buClr>
                <a:srgbClr val="000000"/>
              </a:buClr>
              <a:buFontTx/>
              <a:buChar char="•"/>
            </a:pPr>
            <a:r>
              <a:rPr lang="en-US" altLang="it-IT" sz="3200">
                <a:latin typeface="Arial" charset="0"/>
                <a:ea typeface="Arial" charset="0"/>
                <a:cs typeface="Arial" charset="0"/>
              </a:rPr>
              <a:t>We go </a:t>
            </a:r>
            <a:r>
              <a:rPr lang="en-US" altLang="it-IT" sz="3200" i="1">
                <a:latin typeface="Arial" charset="0"/>
                <a:ea typeface="Arial" charset="0"/>
                <a:cs typeface="Arial" charset="0"/>
              </a:rPr>
              <a:t>down</a:t>
            </a:r>
            <a:r>
              <a:rPr lang="en-US" altLang="it-IT" sz="3200">
                <a:latin typeface="Arial" charset="0"/>
                <a:ea typeface="Arial" charset="0"/>
                <a:cs typeface="Arial" charset="0"/>
              </a:rPr>
              <a:t> in the hierarchy</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73</a:t>
            </a:fld>
            <a:endParaRPr lang="nb-NO"/>
          </a:p>
        </p:txBody>
      </p:sp>
    </p:spTree>
  </p:cSld>
  <p:clrMapOvr>
    <a:masterClrMapping/>
  </p:clrMapOvr>
  <p:transition spd="slow">
    <p:cu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33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90964" y="1000125"/>
            <a:ext cx="4410075"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74</a:t>
            </a:fld>
            <a:endParaRPr lang="nb-NO"/>
          </a:p>
        </p:txBody>
      </p:sp>
    </p:spTree>
  </p:cSld>
  <p:clrMapOvr>
    <a:masterClrMapping/>
  </p:clrMapOvr>
  <p:transition spd="slow">
    <p:cu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hape 480"/>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Organizing the Folder</a:t>
            </a:r>
          </a:p>
        </p:txBody>
      </p:sp>
      <p:sp>
        <p:nvSpPr>
          <p:cNvPr id="144387" name="Shape 481"/>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Normally, the last item in the sequence is a file name</a:t>
            </a:r>
          </a:p>
          <a:p>
            <a:pPr indent="-342900">
              <a:spcBef>
                <a:spcPts val="600"/>
              </a:spcBef>
              <a:spcAft>
                <a:spcPct val="0"/>
              </a:spcAft>
              <a:buClr>
                <a:srgbClr val="000000"/>
              </a:buClr>
              <a:buFontTx/>
              <a:buChar char="•"/>
            </a:pPr>
            <a:r>
              <a:rPr lang="en-US" altLang="it-IT" sz="3200">
                <a:latin typeface="Arial" charset="0"/>
                <a:ea typeface="Arial" charset="0"/>
                <a:cs typeface="Arial" charset="0"/>
              </a:rPr>
              <a:t>This is not always necessary or true</a:t>
            </a:r>
          </a:p>
          <a:p>
            <a:pPr indent="-342900">
              <a:spcBef>
                <a:spcPts val="600"/>
              </a:spcBef>
              <a:spcAft>
                <a:spcPct val="0"/>
              </a:spcAft>
              <a:buClr>
                <a:srgbClr val="000000"/>
              </a:buClr>
              <a:buFontTx/>
              <a:buChar char="•"/>
            </a:pPr>
            <a:r>
              <a:rPr lang="en-US" altLang="it-IT" sz="3200">
                <a:latin typeface="Arial" charset="0"/>
                <a:ea typeface="Arial" charset="0"/>
                <a:cs typeface="Arial" charset="0"/>
              </a:rPr>
              <a:t>When a URL ends in a slash, the last item is a folder name, and the server delivers a particular file from it, usually  index.htm or index.html</a:t>
            </a:r>
          </a:p>
          <a:p>
            <a:pPr lvl="1" indent="-285750">
              <a:spcAft>
                <a:spcPct val="0"/>
              </a:spcAft>
              <a:buClr>
                <a:srgbClr val="000000"/>
              </a:buClr>
              <a:buFontTx/>
              <a:buChar char="–"/>
            </a:pPr>
            <a:r>
              <a:rPr lang="en-US" altLang="it-IT" sz="2800">
                <a:latin typeface="Arial" charset="0"/>
                <a:ea typeface="Arial" charset="0"/>
                <a:cs typeface="Arial" charset="0"/>
              </a:rPr>
              <a:t>The index.html file exists only if it was built</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75</a:t>
            </a:fld>
            <a:endParaRPr lang="nb-NO"/>
          </a:p>
        </p:txBody>
      </p:sp>
    </p:spTree>
  </p:cSld>
  <p:clrMapOvr>
    <a:masterClrMapping/>
  </p:clrMapOvr>
  <p:transition spd="slow">
    <p:cu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hape 486"/>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Organizing the Folder</a:t>
            </a:r>
          </a:p>
        </p:txBody>
      </p:sp>
      <p:sp>
        <p:nvSpPr>
          <p:cNvPr id="146435" name="Shape 487"/>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Why have a hierarchy?</a:t>
            </a:r>
          </a:p>
          <a:p>
            <a:pPr lvl="1" indent="-285750">
              <a:spcAft>
                <a:spcPct val="0"/>
              </a:spcAft>
              <a:buClr>
                <a:srgbClr val="000000"/>
              </a:buClr>
              <a:buFontTx/>
              <a:buChar char="–"/>
            </a:pPr>
            <a:r>
              <a:rPr lang="en-US" altLang="it-IT" sz="2800">
                <a:latin typeface="Arial" charset="0"/>
                <a:ea typeface="Arial" charset="0"/>
                <a:cs typeface="Arial" charset="0"/>
              </a:rPr>
              <a:t>Most people build hierarchies to organize their own thinking and work</a:t>
            </a:r>
          </a:p>
          <a:p>
            <a:pPr lvl="1" indent="-285750">
              <a:spcAft>
                <a:spcPct val="0"/>
              </a:spcAft>
              <a:buClr>
                <a:srgbClr val="000000"/>
              </a:buClr>
              <a:buFontTx/>
              <a:buChar char="–"/>
            </a:pPr>
            <a:r>
              <a:rPr lang="en-US" altLang="it-IT" sz="2800">
                <a:latin typeface="Arial" charset="0"/>
                <a:ea typeface="Arial" charset="0"/>
                <a:cs typeface="Arial" charset="0"/>
              </a:rPr>
              <a:t>Directories cost nothing</a:t>
            </a:r>
          </a:p>
          <a:p>
            <a:pPr lvl="1" indent="-285750">
              <a:spcAft>
                <a:spcPct val="0"/>
              </a:spcAft>
              <a:buClr>
                <a:srgbClr val="000000"/>
              </a:buClr>
              <a:buFontTx/>
              <a:buChar char="–"/>
            </a:pPr>
            <a:r>
              <a:rPr lang="en-US" altLang="it-IT" sz="2800">
                <a:latin typeface="Arial" charset="0"/>
                <a:ea typeface="Arial" charset="0"/>
                <a:cs typeface="Arial" charset="0"/>
              </a:rPr>
              <a:t>There is no reason not to use them</a:t>
            </a:r>
          </a:p>
          <a:p>
            <a:pPr lvl="1" indent="-285750">
              <a:spcAft>
                <a:spcPct val="0"/>
              </a:spcAft>
              <a:buClr>
                <a:srgbClr val="000000"/>
              </a:buClr>
              <a:buFontTx/>
              <a:buChar char="–"/>
            </a:pPr>
            <a:r>
              <a:rPr lang="en-US" altLang="it-IT" sz="2800">
                <a:latin typeface="Arial" charset="0"/>
                <a:ea typeface="Arial" charset="0"/>
                <a:cs typeface="Arial" charset="0"/>
              </a:rPr>
              <a:t>It is highly recommended</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76</a:t>
            </a:fld>
            <a:endParaRPr lang="nb-NO"/>
          </a:p>
        </p:txBody>
      </p:sp>
    </p:spTree>
  </p:cSld>
  <p:clrMapOvr>
    <a:masterClrMapping/>
  </p:clrMapOvr>
  <p:transition spd="slow">
    <p:cu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Shape 492"/>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Summary</a:t>
            </a:r>
          </a:p>
        </p:txBody>
      </p:sp>
      <p:sp>
        <p:nvSpPr>
          <p:cNvPr id="148483" name="Shape 493"/>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a:latin typeface="Arial" charset="0"/>
                <a:ea typeface="Arial" charset="0"/>
                <a:cs typeface="Arial" charset="0"/>
              </a:rPr>
              <a:t>In this chapter we discussed the basics of networking, including the following:</a:t>
            </a:r>
          </a:p>
          <a:p>
            <a:pPr lvl="1" indent="-285750">
              <a:spcAft>
                <a:spcPct val="0"/>
              </a:spcAft>
              <a:buClr>
                <a:srgbClr val="000000"/>
              </a:buClr>
              <a:buFontTx/>
              <a:buChar char="–"/>
            </a:pPr>
            <a:r>
              <a:rPr lang="en-US" altLang="it-IT" sz="2800">
                <a:latin typeface="Arial" charset="0"/>
                <a:ea typeface="Arial" charset="0"/>
                <a:cs typeface="Arial" charset="0"/>
              </a:rPr>
              <a:t>Basic types of communication: point-to-point, multicast, broadcast, synchronous, and asynchronous</a:t>
            </a:r>
          </a:p>
          <a:p>
            <a:pPr lvl="1" indent="-285750">
              <a:spcAft>
                <a:spcPct val="0"/>
              </a:spcAft>
              <a:buClr>
                <a:srgbClr val="000000"/>
              </a:buClr>
              <a:buFontTx/>
              <a:buChar char="–"/>
            </a:pPr>
            <a:r>
              <a:rPr lang="en-US" altLang="it-IT" sz="2800">
                <a:latin typeface="Arial" charset="0"/>
                <a:ea typeface="Arial" charset="0"/>
                <a:cs typeface="Arial" charset="0"/>
              </a:rPr>
              <a:t>Networking, including IP addresses, domains, IP packets, IP protocol, WANS and LANS, Ethernet protocol, ISPs, enterprise networks, and wireless networks</a:t>
            </a: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77</a:t>
            </a:fld>
            <a:endParaRPr lang="nb-NO"/>
          </a:p>
        </p:txBody>
      </p:sp>
    </p:spTree>
  </p:cSld>
  <p:clrMapOvr>
    <a:masterClrMapping/>
  </p:clrMapOvr>
  <p:transition spd="slow">
    <p:cu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hape 498"/>
          <p:cNvSpPr txBox="1">
            <a:spLocks noGrp="1"/>
          </p:cNvSpPr>
          <p:nvPr>
            <p:ph type="title"/>
          </p:nvPr>
        </p:nvSpPr>
        <p:spPr/>
        <p:txBody>
          <a:bodyPr vert="horz" lIns="91440" tIns="45700" rIns="91440" bIns="45700" rtlCol="0" anchor="ctr">
            <a:normAutofit/>
          </a:bodyPr>
          <a:lstStyle/>
          <a:p>
            <a:pPr eaLnBrk="1" hangingPunct="1">
              <a:spcBef>
                <a:spcPct val="0"/>
              </a:spcBef>
              <a:spcAft>
                <a:spcPct val="0"/>
              </a:spcAft>
              <a:buClr>
                <a:srgbClr val="000000"/>
              </a:buClr>
              <a:buSzPct val="25000"/>
            </a:pPr>
            <a:r>
              <a:rPr lang="en-US" altLang="it-IT">
                <a:latin typeface="Arial" charset="0"/>
                <a:ea typeface="Arial" charset="0"/>
                <a:cs typeface="Arial" charset="0"/>
              </a:rPr>
              <a:t>Summary</a:t>
            </a:r>
          </a:p>
        </p:txBody>
      </p:sp>
      <p:sp>
        <p:nvSpPr>
          <p:cNvPr id="150531" name="Shape 499"/>
          <p:cNvSpPr txBox="1">
            <a:spLocks noGrp="1"/>
          </p:cNvSpPr>
          <p:nvPr>
            <p:ph idx="1"/>
          </p:nvPr>
        </p:nvSpPr>
        <p:spPr/>
        <p:txBody>
          <a:bodyPr vert="horz" lIns="91440" tIns="45700" rIns="91440" bIns="45700" rtlCol="0">
            <a:normAutofit/>
          </a:bodyPr>
          <a:lstStyle/>
          <a:p>
            <a:pPr indent="-342900">
              <a:spcBef>
                <a:spcPct val="0"/>
              </a:spcBef>
              <a:spcAft>
                <a:spcPct val="0"/>
              </a:spcAft>
              <a:buClr>
                <a:srgbClr val="000000"/>
              </a:buClr>
              <a:buFontTx/>
              <a:buChar char="•"/>
            </a:pPr>
            <a:r>
              <a:rPr lang="en-US" altLang="it-IT" sz="3200" dirty="0">
                <a:latin typeface="Arial" charset="0"/>
                <a:ea typeface="Arial" charset="0"/>
                <a:cs typeface="Arial" charset="0"/>
              </a:rPr>
              <a:t>In this chapter we discussed the basics of networking, including the following:</a:t>
            </a:r>
          </a:p>
          <a:p>
            <a:pPr lvl="1" indent="-285750">
              <a:spcAft>
                <a:spcPct val="0"/>
              </a:spcAft>
              <a:buClr>
                <a:srgbClr val="000000"/>
              </a:buClr>
              <a:buFontTx/>
              <a:buChar char="–"/>
            </a:pPr>
            <a:r>
              <a:rPr lang="en-US" altLang="it-IT" sz="2800" dirty="0">
                <a:latin typeface="Arial" charset="0"/>
                <a:ea typeface="Arial" charset="0"/>
                <a:cs typeface="Arial" charset="0"/>
              </a:rPr>
              <a:t>The difference between the Internet and the World Wide Web</a:t>
            </a:r>
          </a:p>
          <a:p>
            <a:pPr lvl="1" indent="-285750">
              <a:spcAft>
                <a:spcPct val="0"/>
              </a:spcAft>
              <a:buClr>
                <a:srgbClr val="000000"/>
              </a:buClr>
              <a:buFontTx/>
              <a:buChar char="–"/>
            </a:pPr>
            <a:r>
              <a:rPr lang="en-US" altLang="it-IT" sz="2800">
                <a:latin typeface="Arial" charset="0"/>
                <a:ea typeface="Arial" charset="0"/>
                <a:cs typeface="Arial" charset="0"/>
              </a:rPr>
              <a:t>File hierarchies</a:t>
            </a:r>
            <a:endParaRPr lang="en-US" altLang="it-IT" sz="2800" dirty="0">
              <a:latin typeface="Arial" charset="0"/>
              <a:ea typeface="Arial" charset="0"/>
              <a:cs typeface="Arial" charset="0"/>
            </a:endParaRPr>
          </a:p>
        </p:txBody>
      </p:sp>
      <p:sp>
        <p:nvSpPr>
          <p:cNvPr id="2" name="Segnaposto piè di pagina 1"/>
          <p:cNvSpPr>
            <a:spLocks noGrp="1"/>
          </p:cNvSpPr>
          <p:nvPr>
            <p:ph type="ftr" sz="quarter" idx="11"/>
          </p:nvPr>
        </p:nvSpPr>
        <p:spPr/>
        <p:txBody>
          <a:bodyPr/>
          <a:lstStyle/>
          <a:p>
            <a:r>
              <a:rPr lang="it-IT"/>
              <a:t>Claudio Sartori - Informatics - Networking</a:t>
            </a:r>
          </a:p>
        </p:txBody>
      </p:sp>
      <p:sp>
        <p:nvSpPr>
          <p:cNvPr id="3" name="Segnaposto numero diapositiva 2"/>
          <p:cNvSpPr>
            <a:spLocks noGrp="1"/>
          </p:cNvSpPr>
          <p:nvPr>
            <p:ph type="sldNum" sz="quarter" idx="12"/>
          </p:nvPr>
        </p:nvSpPr>
        <p:spPr/>
        <p:txBody>
          <a:bodyPr/>
          <a:lstStyle/>
          <a:p>
            <a:fld id="{EC6182FC-1C34-DE4A-9EAC-E24BE6D1E839}" type="slidenum">
              <a:rPr lang="nb-NO"/>
              <a:t>78</a:t>
            </a:fld>
            <a:endParaRPr lang="nb-NO"/>
          </a:p>
        </p:txBody>
      </p:sp>
    </p:spTree>
  </p:cSld>
  <p:clrMapOvr>
    <a:masterClrMapping/>
  </p:clrMapOvr>
  <p:transition spd="slow">
    <p:cut/>
  </p:transition>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rmatics_wide" id="{E2B99E26-2289-5D46-AC4C-DE009D56DCBC}" vid="{EBADDAE8-0682-3046-BBFD-495CD8451855}"/>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TotalTime>
  <Words>4524</Words>
  <Application>Microsoft Office PowerPoint</Application>
  <PresentationFormat>Widescreen</PresentationFormat>
  <Paragraphs>539</Paragraphs>
  <Slides>78</Slides>
  <Notes>74</Notes>
  <HiddenSlides>0</HiddenSlides>
  <MMClips>0</MMClips>
  <ScaleCrop>false</ScaleCrop>
  <HeadingPairs>
    <vt:vector size="4" baseType="variant">
      <vt:variant>
        <vt:lpstr>Theme</vt:lpstr>
      </vt:variant>
      <vt:variant>
        <vt:i4>1</vt:i4>
      </vt:variant>
      <vt:variant>
        <vt:lpstr>Slide Titles</vt:lpstr>
      </vt:variant>
      <vt:variant>
        <vt:i4>78</vt:i4>
      </vt:variant>
    </vt:vector>
  </HeadingPairs>
  <TitlesOfParts>
    <vt:vector size="79" baseType="lpstr">
      <vt:lpstr>Tema di Office</vt:lpstr>
      <vt:lpstr>Claudio Sartori  Department of Computer Science and Engineering claudio.sartori@unibo.it https://www.unibo.it/sitoweb/claudio.sartori/</vt:lpstr>
      <vt:lpstr>Learning Objectives</vt:lpstr>
      <vt:lpstr>Comparing Communication Types</vt:lpstr>
      <vt:lpstr>General Communication</vt:lpstr>
      <vt:lpstr>General Communication</vt:lpstr>
      <vt:lpstr>Example of broadcast in internet</vt:lpstr>
      <vt:lpstr>Example of multicast in internet</vt:lpstr>
      <vt:lpstr>Example of unicast in internet</vt:lpstr>
      <vt:lpstr>Internet’s Communication Properties</vt:lpstr>
      <vt:lpstr>Internet’s Communication Properties</vt:lpstr>
      <vt:lpstr>Internet’s Communication Properties</vt:lpstr>
      <vt:lpstr>Internet Schematic Diagram</vt:lpstr>
      <vt:lpstr>Client/Server Structure</vt:lpstr>
      <vt:lpstr>Basic Client/Server Interaction</vt:lpstr>
      <vt:lpstr>Client/Server Structure</vt:lpstr>
      <vt:lpstr>Many Brief Relationships</vt:lpstr>
      <vt:lpstr>Client/Server Relationships</vt:lpstr>
      <vt:lpstr>Getting More Connected</vt:lpstr>
      <vt:lpstr>Getting More Connected</vt:lpstr>
      <vt:lpstr>Appearing to Stay Connected</vt:lpstr>
      <vt:lpstr>Appearing to Stay Connected</vt:lpstr>
      <vt:lpstr>Computer Addresses</vt:lpstr>
      <vt:lpstr>Computer Addresses</vt:lpstr>
      <vt:lpstr>Traceroute</vt:lpstr>
      <vt:lpstr>TCP/IP</vt:lpstr>
      <vt:lpstr>TCP/IP</vt:lpstr>
      <vt:lpstr>IP Packet – what's in the header</vt:lpstr>
      <vt:lpstr>IP Packet – what's in the header</vt:lpstr>
      <vt:lpstr>Packets Are Independent</vt:lpstr>
      <vt:lpstr>Packets Are Independent</vt:lpstr>
      <vt:lpstr>Far and Near: WAN and LAN</vt:lpstr>
      <vt:lpstr>Far and Near: WAN and LAN</vt:lpstr>
      <vt:lpstr>Ethernet</vt:lpstr>
      <vt:lpstr>Ethernet Party Analogy</vt:lpstr>
      <vt:lpstr>Ethernet Party Analogy</vt:lpstr>
      <vt:lpstr>Ethernet Party Analogy</vt:lpstr>
      <vt:lpstr>Ethernet Party Analogy</vt:lpstr>
      <vt:lpstr>Ethernet Party Analogy</vt:lpstr>
      <vt:lpstr>Connecting to the Internet</vt:lpstr>
      <vt:lpstr>1. Connections by ISP</vt:lpstr>
      <vt:lpstr>1. Connections by ISP</vt:lpstr>
      <vt:lpstr>PowerPoint Presentation</vt:lpstr>
      <vt:lpstr>2. Enterprise Network Connections</vt:lpstr>
      <vt:lpstr>Wireless Networks</vt:lpstr>
      <vt:lpstr>PowerPoint Presentation</vt:lpstr>
      <vt:lpstr>Computer Addresses</vt:lpstr>
      <vt:lpstr>Computer Addresses</vt:lpstr>
      <vt:lpstr>Computer Addresses</vt:lpstr>
      <vt:lpstr>The .edu Domain</vt:lpstr>
      <vt:lpstr>The .edu Domain</vt:lpstr>
      <vt:lpstr>DNS Servers</vt:lpstr>
      <vt:lpstr>DNS Servers</vt:lpstr>
      <vt:lpstr>DNS Lookup</vt:lpstr>
      <vt:lpstr>DNS Lookup</vt:lpstr>
      <vt:lpstr>Top-Level Domains</vt:lpstr>
      <vt:lpstr>Top-Level Domains</vt:lpstr>
      <vt:lpstr>Top-Level Domains</vt:lpstr>
      <vt:lpstr>PowerPoint Presentation</vt:lpstr>
      <vt:lpstr>PowerPoint Presentation</vt:lpstr>
      <vt:lpstr>The World Wide Web</vt:lpstr>
      <vt:lpstr>The World Wide Web</vt:lpstr>
      <vt:lpstr>Requesting a Web Page</vt:lpstr>
      <vt:lpstr>Requesting a Web Page</vt:lpstr>
      <vt:lpstr>Get It Right</vt:lpstr>
      <vt:lpstr>Describing a Web Page</vt:lpstr>
      <vt:lpstr>Describing a Web Page</vt:lpstr>
      <vt:lpstr>PowerPoint Presentation</vt:lpstr>
      <vt:lpstr>The Internet and the Web</vt:lpstr>
      <vt:lpstr>File Structure</vt:lpstr>
      <vt:lpstr>File Structure</vt:lpstr>
      <vt:lpstr>File Structure</vt:lpstr>
      <vt:lpstr>PowerPoint Presentation</vt:lpstr>
      <vt:lpstr>File Structure</vt:lpstr>
      <vt:lpstr>PowerPoint Presentation</vt:lpstr>
      <vt:lpstr>Organizing the Folder</vt:lpstr>
      <vt:lpstr>Organizing the Folder</vt:lpstr>
      <vt:lpstr>Summary</vt:lpstr>
      <vt:lpstr>Summary</vt:lpstr>
    </vt:vector>
  </TitlesOfParts>
  <Manager/>
  <Company>University of Bologna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Networking</dc:title>
  <dc:subject>Informatics - slides</dc:subject>
  <dc:creator>Claudio Sartori</dc:creator>
  <cp:keywords/>
  <dc:description/>
  <cp:lastModifiedBy>Claudio Sartori</cp:lastModifiedBy>
  <cp:revision>31</cp:revision>
  <cp:lastPrinted>2023-03-19T10:17:13Z</cp:lastPrinted>
  <dcterms:created xsi:type="dcterms:W3CDTF">2016-02-11T16:16:37Z</dcterms:created>
  <dcterms:modified xsi:type="dcterms:W3CDTF">2025-02-11T10:06:07Z</dcterms:modified>
  <cp:category/>
</cp:coreProperties>
</file>