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354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401" r:id="rId40"/>
    <p:sldId id="402" r:id="rId41"/>
    <p:sldId id="403" r:id="rId42"/>
    <p:sldId id="404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5" r:id="rId52"/>
    <p:sldId id="406" r:id="rId53"/>
    <p:sldId id="407" r:id="rId54"/>
    <p:sldId id="408" r:id="rId55"/>
    <p:sldId id="409" r:id="rId56"/>
    <p:sldId id="410" r:id="rId57"/>
    <p:sldId id="429" r:id="rId58"/>
    <p:sldId id="411" r:id="rId59"/>
    <p:sldId id="414" r:id="rId60"/>
    <p:sldId id="430" r:id="rId61"/>
    <p:sldId id="415" r:id="rId62"/>
    <p:sldId id="416" r:id="rId63"/>
    <p:sldId id="428" r:id="rId64"/>
    <p:sldId id="417" r:id="rId65"/>
    <p:sldId id="418" r:id="rId66"/>
    <p:sldId id="413" r:id="rId67"/>
    <p:sldId id="419" r:id="rId68"/>
    <p:sldId id="420" r:id="rId69"/>
    <p:sldId id="421" r:id="rId70"/>
    <p:sldId id="422" r:id="rId71"/>
    <p:sldId id="423" r:id="rId72"/>
    <p:sldId id="424" r:id="rId73"/>
    <p:sldId id="425" r:id="rId74"/>
    <p:sldId id="426" r:id="rId75"/>
    <p:sldId id="427" r:id="rId7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D87F2-3327-A34F-AE19-E5F83EFAD085}" v="1" dt="2022-02-25T07:59:57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93605"/>
  </p:normalViewPr>
  <p:slideViewPr>
    <p:cSldViewPr snapToGrid="0" snapToObjects="1">
      <p:cViewPr varScale="1">
        <p:scale>
          <a:sx n="120" d="100"/>
          <a:sy n="120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Sartori" userId="d285a647-44b1-4408-9e08-0602e566fa11" providerId="ADAL" clId="{BCB030EB-BA8A-034C-8106-C19EA63FFC71}"/>
    <pc:docChg chg="modSld">
      <pc:chgData name="Claudio Sartori" userId="d285a647-44b1-4408-9e08-0602e566fa11" providerId="ADAL" clId="{BCB030EB-BA8A-034C-8106-C19EA63FFC71}" dt="2021-05-04T16:32:44.260" v="7" actId="207"/>
      <pc:docMkLst>
        <pc:docMk/>
      </pc:docMkLst>
      <pc:sldChg chg="modSp mod">
        <pc:chgData name="Claudio Sartori" userId="d285a647-44b1-4408-9e08-0602e566fa11" providerId="ADAL" clId="{BCB030EB-BA8A-034C-8106-C19EA63FFC71}" dt="2021-05-04T16:32:44.260" v="7" actId="207"/>
        <pc:sldMkLst>
          <pc:docMk/>
          <pc:sldMk cId="1660027916" sldId="428"/>
        </pc:sldMkLst>
        <pc:spChg chg="mod">
          <ac:chgData name="Claudio Sartori" userId="d285a647-44b1-4408-9e08-0602e566fa11" providerId="ADAL" clId="{BCB030EB-BA8A-034C-8106-C19EA63FFC71}" dt="2021-05-04T16:32:44.260" v="7" actId="207"/>
          <ac:spMkLst>
            <pc:docMk/>
            <pc:sldMk cId="1660027916" sldId="428"/>
            <ac:spMk id="2" creationId="{00000000-0000-0000-0000-000000000000}"/>
          </ac:spMkLst>
        </pc:spChg>
      </pc:sldChg>
    </pc:docChg>
  </pc:docChgLst>
  <pc:docChgLst>
    <pc:chgData name="Claudio Sartori" userId="d285a647-44b1-4408-9e08-0602e566fa11" providerId="ADAL" clId="{075D87F2-3327-A34F-AE19-E5F83EFAD085}"/>
    <pc:docChg chg="custSel modSld">
      <pc:chgData name="Claudio Sartori" userId="d285a647-44b1-4408-9e08-0602e566fa11" providerId="ADAL" clId="{075D87F2-3327-A34F-AE19-E5F83EFAD085}" dt="2022-03-09T10:54:39.319" v="110" actId="20577"/>
      <pc:docMkLst>
        <pc:docMk/>
      </pc:docMkLst>
      <pc:sldChg chg="modSp mod">
        <pc:chgData name="Claudio Sartori" userId="d285a647-44b1-4408-9e08-0602e566fa11" providerId="ADAL" clId="{075D87F2-3327-A34F-AE19-E5F83EFAD085}" dt="2022-03-09T10:53:35.669" v="74" actId="20577"/>
        <pc:sldMkLst>
          <pc:docMk/>
          <pc:sldMk cId="0" sldId="358"/>
        </pc:sldMkLst>
        <pc:spChg chg="mod">
          <ac:chgData name="Claudio Sartori" userId="d285a647-44b1-4408-9e08-0602e566fa11" providerId="ADAL" clId="{075D87F2-3327-A34F-AE19-E5F83EFAD085}" dt="2022-03-09T10:53:35.669" v="74" actId="20577"/>
          <ac:spMkLst>
            <pc:docMk/>
            <pc:sldMk cId="0" sldId="358"/>
            <ac:spMk id="9219" creationId="{00000000-0000-0000-0000-000000000000}"/>
          </ac:spMkLst>
        </pc:spChg>
      </pc:sldChg>
      <pc:sldChg chg="modSp mod">
        <pc:chgData name="Claudio Sartori" userId="d285a647-44b1-4408-9e08-0602e566fa11" providerId="ADAL" clId="{075D87F2-3327-A34F-AE19-E5F83EFAD085}" dt="2022-03-09T10:54:13.464" v="98" actId="20577"/>
        <pc:sldMkLst>
          <pc:docMk/>
          <pc:sldMk cId="0" sldId="388"/>
        </pc:sldMkLst>
        <pc:spChg chg="mod">
          <ac:chgData name="Claudio Sartori" userId="d285a647-44b1-4408-9e08-0602e566fa11" providerId="ADAL" clId="{075D87F2-3327-A34F-AE19-E5F83EFAD085}" dt="2022-03-09T10:54:13.464" v="98" actId="20577"/>
          <ac:spMkLst>
            <pc:docMk/>
            <pc:sldMk cId="0" sldId="388"/>
            <ac:spMk id="70659" creationId="{00000000-0000-0000-0000-000000000000}"/>
          </ac:spMkLst>
        </pc:spChg>
      </pc:sldChg>
      <pc:sldChg chg="modSp mod">
        <pc:chgData name="Claudio Sartori" userId="d285a647-44b1-4408-9e08-0602e566fa11" providerId="ADAL" clId="{075D87F2-3327-A34F-AE19-E5F83EFAD085}" dt="2022-03-09T10:54:33.408" v="106" actId="20577"/>
        <pc:sldMkLst>
          <pc:docMk/>
          <pc:sldMk cId="3559588817" sldId="396"/>
        </pc:sldMkLst>
        <pc:spChg chg="mod">
          <ac:chgData name="Claudio Sartori" userId="d285a647-44b1-4408-9e08-0602e566fa11" providerId="ADAL" clId="{075D87F2-3327-A34F-AE19-E5F83EFAD085}" dt="2022-03-09T10:54:33.408" v="106" actId="20577"/>
          <ac:spMkLst>
            <pc:docMk/>
            <pc:sldMk cId="3559588817" sldId="396"/>
            <ac:spMk id="87043" creationId="{00000000-0000-0000-0000-000000000000}"/>
          </ac:spMkLst>
        </pc:spChg>
      </pc:sldChg>
      <pc:sldChg chg="modSp mod">
        <pc:chgData name="Claudio Sartori" userId="d285a647-44b1-4408-9e08-0602e566fa11" providerId="ADAL" clId="{075D87F2-3327-A34F-AE19-E5F83EFAD085}" dt="2022-03-09T10:53:45.074" v="78" actId="20577"/>
        <pc:sldMkLst>
          <pc:docMk/>
          <pc:sldMk cId="0" sldId="402"/>
        </pc:sldMkLst>
        <pc:spChg chg="mod">
          <ac:chgData name="Claudio Sartori" userId="d285a647-44b1-4408-9e08-0602e566fa11" providerId="ADAL" clId="{075D87F2-3327-A34F-AE19-E5F83EFAD085}" dt="2022-03-09T10:53:45.074" v="78" actId="20577"/>
          <ac:spMkLst>
            <pc:docMk/>
            <pc:sldMk cId="0" sldId="402"/>
            <ac:spMk id="99331" creationId="{00000000-0000-0000-0000-000000000000}"/>
          </ac:spMkLst>
        </pc:spChg>
      </pc:sldChg>
      <pc:sldChg chg="modSp mod">
        <pc:chgData name="Claudio Sartori" userId="d285a647-44b1-4408-9e08-0602e566fa11" providerId="ADAL" clId="{075D87F2-3327-A34F-AE19-E5F83EFAD085}" dt="2022-03-09T10:53:50.592" v="82" actId="20577"/>
        <pc:sldMkLst>
          <pc:docMk/>
          <pc:sldMk cId="0" sldId="405"/>
        </pc:sldMkLst>
        <pc:spChg chg="mod">
          <ac:chgData name="Claudio Sartori" userId="d285a647-44b1-4408-9e08-0602e566fa11" providerId="ADAL" clId="{075D87F2-3327-A34F-AE19-E5F83EFAD085}" dt="2022-03-09T10:53:50.592" v="82" actId="20577"/>
          <ac:spMkLst>
            <pc:docMk/>
            <pc:sldMk cId="0" sldId="405"/>
            <ac:spMk id="105475" creationId="{00000000-0000-0000-0000-000000000000}"/>
          </ac:spMkLst>
        </pc:spChg>
      </pc:sldChg>
      <pc:sldChg chg="modSp mod">
        <pc:chgData name="Claudio Sartori" userId="d285a647-44b1-4408-9e08-0602e566fa11" providerId="ADAL" clId="{075D87F2-3327-A34F-AE19-E5F83EFAD085}" dt="2022-03-09T10:54:39.319" v="110" actId="20577"/>
        <pc:sldMkLst>
          <pc:docMk/>
          <pc:sldMk cId="943391098" sldId="413"/>
        </pc:sldMkLst>
        <pc:spChg chg="mod">
          <ac:chgData name="Claudio Sartori" userId="d285a647-44b1-4408-9e08-0602e566fa11" providerId="ADAL" clId="{075D87F2-3327-A34F-AE19-E5F83EFAD085}" dt="2022-02-25T08:01:18.809" v="70" actId="114"/>
          <ac:spMkLst>
            <pc:docMk/>
            <pc:sldMk cId="943391098" sldId="413"/>
            <ac:spMk id="9" creationId="{00000000-0000-0000-0000-000000000000}"/>
          </ac:spMkLst>
        </pc:spChg>
        <pc:graphicFrameChg chg="modGraphic">
          <ac:chgData name="Claudio Sartori" userId="d285a647-44b1-4408-9e08-0602e566fa11" providerId="ADAL" clId="{075D87F2-3327-A34F-AE19-E5F83EFAD085}" dt="2022-03-09T10:54:39.319" v="110" actId="20577"/>
          <ac:graphicFrameMkLst>
            <pc:docMk/>
            <pc:sldMk cId="943391098" sldId="413"/>
            <ac:graphicFrameMk id="11" creationId="{00000000-0000-0000-0000-000000000000}"/>
          </ac:graphicFrameMkLst>
        </pc:graphicFrameChg>
      </pc:sldChg>
      <pc:sldChg chg="modSp mod">
        <pc:chgData name="Claudio Sartori" userId="d285a647-44b1-4408-9e08-0602e566fa11" providerId="ADAL" clId="{075D87F2-3327-A34F-AE19-E5F83EFAD085}" dt="2022-03-09T10:54:01.544" v="90" actId="20577"/>
        <pc:sldMkLst>
          <pc:docMk/>
          <pc:sldMk cId="2010480989" sldId="415"/>
        </pc:sldMkLst>
        <pc:graphicFrameChg chg="modGraphic">
          <ac:chgData name="Claudio Sartori" userId="d285a647-44b1-4408-9e08-0602e566fa11" providerId="ADAL" clId="{075D87F2-3327-A34F-AE19-E5F83EFAD085}" dt="2022-03-09T10:54:01.544" v="90" actId="20577"/>
          <ac:graphicFrameMkLst>
            <pc:docMk/>
            <pc:sldMk cId="2010480989" sldId="415"/>
            <ac:graphicFrameMk id="6" creationId="{00000000-0000-0000-0000-000000000000}"/>
          </ac:graphicFrameMkLst>
        </pc:graphicFrameChg>
      </pc:sldChg>
      <pc:sldChg chg="modSp mod">
        <pc:chgData name="Claudio Sartori" userId="d285a647-44b1-4408-9e08-0602e566fa11" providerId="ADAL" clId="{075D87F2-3327-A34F-AE19-E5F83EFAD085}" dt="2022-03-09T10:54:29.575" v="102" actId="20577"/>
        <pc:sldMkLst>
          <pc:docMk/>
          <pc:sldMk cId="1630535240" sldId="416"/>
        </pc:sldMkLst>
        <pc:graphicFrameChg chg="modGraphic">
          <ac:chgData name="Claudio Sartori" userId="d285a647-44b1-4408-9e08-0602e566fa11" providerId="ADAL" clId="{075D87F2-3327-A34F-AE19-E5F83EFAD085}" dt="2022-03-09T10:54:29.575" v="102" actId="20577"/>
          <ac:graphicFrameMkLst>
            <pc:docMk/>
            <pc:sldMk cId="1630535240" sldId="416"/>
            <ac:graphicFrameMk id="6" creationId="{00000000-0000-0000-0000-000000000000}"/>
          </ac:graphicFrameMkLst>
        </pc:graphicFrameChg>
      </pc:sldChg>
      <pc:sldChg chg="modSp mod">
        <pc:chgData name="Claudio Sartori" userId="d285a647-44b1-4408-9e08-0602e566fa11" providerId="ADAL" clId="{075D87F2-3327-A34F-AE19-E5F83EFAD085}" dt="2022-03-09T10:54:09.553" v="94" actId="20577"/>
        <pc:sldMkLst>
          <pc:docMk/>
          <pc:sldMk cId="1870104266" sldId="418"/>
        </pc:sldMkLst>
        <pc:spChg chg="mod">
          <ac:chgData name="Claudio Sartori" userId="d285a647-44b1-4408-9e08-0602e566fa11" providerId="ADAL" clId="{075D87F2-3327-A34F-AE19-E5F83EFAD085}" dt="2022-03-09T10:54:09.553" v="94" actId="20577"/>
          <ac:spMkLst>
            <pc:docMk/>
            <pc:sldMk cId="1870104266" sldId="41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39E32-A57E-BE41-865A-B84418AC8ECD}" type="datetimeFigureOut">
              <a:t>11/02/25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DF862-A445-3043-ACC2-C5B17166A0A6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1595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Shape 5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it-IT" altLang="it-IT"/>
          </a:p>
        </p:txBody>
      </p:sp>
      <p:sp>
        <p:nvSpPr>
          <p:cNvPr id="4098" name="Shape 53"/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  <p:extLst>
      <p:ext uri="{BB962C8B-B14F-4D97-AF65-F5344CB8AC3E}">
        <p14:creationId xmlns:p14="http://schemas.microsoft.com/office/powerpoint/2010/main" val="1466099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5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6147" name="Shape 5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305441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 64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8195" name="Shape 65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061861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70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243" name="Shape 71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116132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hape 77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2291" name="Shape 78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566195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83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4339" name="Shape 84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543930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89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6387" name="Shape 90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145494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9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8435" name="Shape 9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936464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101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20483" name="Shape 102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45958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109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22531" name="Shape 110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071905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hape 11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24579" name="Shape 11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069125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hape 121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26627" name="Shape 122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789814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hape 127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28675" name="Shape 128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807862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hape 13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30723" name="Shape 13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352648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hape 141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32771" name="Shape 142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693788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hape 147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34819" name="Shape 148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812347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hape 153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36867" name="Shape 154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21408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hape 15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 cap="flat">
            <a:solidFill>
              <a:srgbClr val="000000"/>
            </a:solidFill>
            <a:round/>
            <a:headEnd type="none" w="med" len="med"/>
            <a:tailEnd type="none" w="med" len="med"/>
          </a:ln>
        </p:spPr>
      </p:sp>
      <p:sp>
        <p:nvSpPr>
          <p:cNvPr id="38915" name="Shape 160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751006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hape 16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40963" name="Shape 16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273144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hape 171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43011" name="Shape 172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20166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hape 179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45059" name="Shape 180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21739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hape 187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47107" name="Shape 188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885934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hape 193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49155" name="Shape 194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398277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hape 199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51203" name="Shape 200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934275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hape 20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53251" name="Shape 20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118696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hape 211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55299" name="Shape 212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501724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hape 217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57347" name="Shape 218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08822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hape 223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59395" name="Shape 224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464417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hape 229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61443" name="Shape 230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546593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hape 23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63491" name="Shape 23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9045834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hape 241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 cap="flat">
            <a:solidFill>
              <a:srgbClr val="000000"/>
            </a:solidFill>
            <a:round/>
            <a:headEnd type="none" w="med" len="med"/>
            <a:tailEnd type="none" w="med" len="med"/>
          </a:ln>
        </p:spPr>
      </p:sp>
      <p:sp>
        <p:nvSpPr>
          <p:cNvPr id="65539" name="Shape 24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96836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hape 246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67587" name="Shape 247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118530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hape 25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69635" name="Shape 253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699987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hape 25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71683" name="Shape 25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795436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hape 265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73731" name="Shape 266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6058591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hape 27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75779" name="Shape 273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009308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hape 27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77827" name="Shape 27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979929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hape 286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79875" name="Shape 287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416920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hape 340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98307" name="Shape 341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1205229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hape 346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0355" name="Shape 347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3444814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hape 35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2403" name="Shape 353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8766451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hape 35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4451" name="Shape 35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0372680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hape 29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81923" name="Shape 293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30068810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hape 29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83971" name="Shape 29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6733698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hape 304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86019" name="Shape 305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1843471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hape 310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88067" name="Shape 311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25052076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hape 316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90115" name="Shape 317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37422763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hape 32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92163" name="Shape 323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30476372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hape 328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94211" name="Shape 329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41452472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hape 334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96259" name="Shape 335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35376648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hape 364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6499" name="Shape 365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8848653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hape 370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08547" name="Shape 371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6083374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hape 376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 altLang="it-IT"/>
          </a:p>
        </p:txBody>
      </p:sp>
      <p:sp>
        <p:nvSpPr>
          <p:cNvPr id="110595" name="Shape 377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  <p:extLst>
      <p:ext uri="{BB962C8B-B14F-4D97-AF65-F5344CB8AC3E}">
        <p14:creationId xmlns:p14="http://schemas.microsoft.com/office/powerpoint/2010/main" val="157845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81799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73152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it-IT"/>
              <a:t>Claudio Sartori - Informatics - Digital Representation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685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62832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1816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it-IT"/>
              <a:t>Claudio Sartori - Informatics - Digital Representation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00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11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80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>
          <a:xfrm>
            <a:off x="705678" y="6356350"/>
            <a:ext cx="7447722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it-IT"/>
              <a:t>Claudio Sartori - Informatics - Digital Representation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73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820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882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94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66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GB" dirty="0"/>
              <a:t>Claudio Sartori - Informatics - Digital Representation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EC6182FC-1C34-DE4A-9EAC-E24BE6D1E839}" type="slidenum">
              <a:rPr lang="it-IT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22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-schmidt.net/FloatConverter/IEEE754.html" TargetMode="External"/><Relationship Id="rId2" Type="http://schemas.openxmlformats.org/officeDocument/2006/relationships/hyperlink" Target="https://en.wikipedia.org/wiki/Double-precision_floating-point_format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itolo 1"/>
          <p:cNvSpPr txBox="1">
            <a:spLocks noGrp="1"/>
          </p:cNvSpPr>
          <p:nvPr>
            <p:ph type="title"/>
          </p:nvPr>
        </p:nvSpPr>
        <p:spPr>
          <a:xfrm>
            <a:off x="2127113" y="4818063"/>
            <a:ext cx="8010800" cy="1549400"/>
          </a:xfrm>
        </p:spPr>
        <p:txBody>
          <a:bodyPr>
            <a:noAutofit/>
          </a:bodyPr>
          <a:lstStyle/>
          <a:p>
            <a:pPr algn="ctr">
              <a:spcBef>
                <a:spcPct val="0"/>
              </a:spcBef>
            </a:pP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Claudio Sartori </a:t>
            </a:r>
            <a:br>
              <a:rPr lang="it-IT" altLang="it-IT" sz="1800" dirty="0">
                <a:latin typeface="Arial" charset="0"/>
                <a:ea typeface="Arial" charset="0"/>
                <a:cs typeface="Arial" charset="0"/>
              </a:rPr>
            </a:b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Department</a:t>
            </a: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 of Computer Science and </a:t>
            </a: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Engineering</a:t>
            </a:r>
            <a:br>
              <a:rPr lang="it-IT" altLang="it-IT" sz="1800" dirty="0">
                <a:latin typeface="Arial" charset="0"/>
                <a:ea typeface="Arial" charset="0"/>
                <a:cs typeface="Arial" charset="0"/>
              </a:rPr>
            </a:b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claudio.sartori@unibo.it</a:t>
            </a:r>
            <a:br>
              <a:rPr lang="it-IT" altLang="it-IT" sz="1800" dirty="0">
                <a:latin typeface="Arial" charset="0"/>
                <a:ea typeface="Arial" charset="0"/>
                <a:cs typeface="Arial" charset="0"/>
              </a:rPr>
            </a:b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https</a:t>
            </a: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://</a:t>
            </a: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www.unibo.it</a:t>
            </a: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/</a:t>
            </a: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sitoweb</a:t>
            </a: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/</a:t>
            </a:r>
            <a:r>
              <a:rPr lang="it-IT" altLang="it-IT" sz="1800" dirty="0" err="1">
                <a:latin typeface="Arial" charset="0"/>
                <a:ea typeface="Arial" charset="0"/>
                <a:cs typeface="Arial" charset="0"/>
              </a:rPr>
              <a:t>claudio.sartori</a:t>
            </a:r>
            <a:r>
              <a:rPr lang="it-IT" altLang="it-IT" sz="1800" dirty="0">
                <a:latin typeface="Arial" charset="0"/>
                <a:ea typeface="Arial" charset="0"/>
                <a:cs typeface="Arial" charset="0"/>
              </a:rPr>
              <a:t>/</a:t>
            </a:r>
            <a:br>
              <a:rPr lang="it-IT" altLang="it-IT" sz="1800">
                <a:latin typeface="Arial" charset="0"/>
                <a:ea typeface="Arial" charset="0"/>
                <a:cs typeface="Arial" charset="0"/>
              </a:rPr>
            </a:br>
            <a:endParaRPr lang="it-IT" altLang="it-IT" sz="18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074" name="Segnaposto testo 2"/>
          <p:cNvSpPr txBox="1">
            <a:spLocks noGrp="1"/>
          </p:cNvSpPr>
          <p:nvPr>
            <p:ph type="body" idx="1"/>
          </p:nvPr>
        </p:nvSpPr>
        <p:spPr>
          <a:xfrm>
            <a:off x="2246313" y="1265238"/>
            <a:ext cx="7772400" cy="3141662"/>
          </a:xfrm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it-IT" altLang="it-IT" sz="660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Informatics</a:t>
            </a:r>
            <a:endParaRPr lang="it-IT" altLang="it-IT" sz="6000">
              <a:solidFill>
                <a:schemeClr val="tx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br>
              <a:rPr lang="it-IT" altLang="it-IT" sz="440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it-IT" altLang="it-IT" sz="4400">
                <a:solidFill>
                  <a:schemeClr val="tx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Digital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377865310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5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Learning Objectives</a:t>
            </a:r>
          </a:p>
        </p:txBody>
      </p:sp>
      <p:sp>
        <p:nvSpPr>
          <p:cNvPr id="5123" name="Shape 56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Explain the link between patterns, symbols, and information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Determine possible binary encodings using a physical phenomenon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Encode and decode ASCII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Represent numbers in binary form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Compare two different encoding methods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Explain how structure tags (metadata) encode the Oxford English Dictionary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61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Digitizing Discrete Information</a:t>
            </a:r>
          </a:p>
        </p:txBody>
      </p:sp>
      <p:sp>
        <p:nvSpPr>
          <p:cNvPr id="7171" name="Shape 62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dictionary definition of digitize is to represent information with digits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Digit means the ten Arabic numerals </a:t>
            </a:r>
            <a:br>
              <a:rPr lang="en-US" altLang="it-IT" sz="3200">
                <a:latin typeface="Arial" charset="0"/>
                <a:ea typeface="Arial" charset="0"/>
                <a:cs typeface="Arial" charset="0"/>
              </a:rPr>
            </a:b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0 through 9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67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Limitation of Digits</a:t>
            </a:r>
          </a:p>
        </p:txBody>
      </p:sp>
      <p:sp>
        <p:nvSpPr>
          <p:cNvPr id="9219" name="Shape 68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 limitation of the dictionary definition of digitize is that it calls for the use of the ten digits, that produces a whole number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Digitizing in computing can use almost any symbol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Having a bigger telephone number does not make you a better person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Shape 7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757489"/>
            <a:ext cx="8001000" cy="3324225"/>
          </a:xfrm>
          <a:prstGeom prst="rect">
            <a:avLst/>
          </a:prstGeom>
          <a:noFill/>
          <a:ln w="9525">
            <a:solidFill>
              <a:srgbClr val="2626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Shape 74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Alternative Representations</a:t>
            </a:r>
          </a:p>
        </p:txBody>
      </p:sp>
      <p:sp>
        <p:nvSpPr>
          <p:cNvPr id="11268" name="Shape 75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292100" inden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Digitizing can use almost any symbols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80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Symbols, Briefly</a:t>
            </a:r>
          </a:p>
        </p:txBody>
      </p:sp>
      <p:sp>
        <p:nvSpPr>
          <p:cNvPr id="13315" name="Shape 81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One practical advantage of digits is that digits have short names (one, two, etc)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Imagine speaking your phone number the multiple syllable names: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“asterisk, exclamation, closing parenthesis”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IT uses these symbols, but have given them shorter names: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exclamation point . . . is </a:t>
            </a:r>
            <a:r>
              <a:rPr lang="en-US" altLang="it-IT" sz="28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bang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asterisk . . . is </a:t>
            </a:r>
            <a:r>
              <a:rPr lang="en-US" altLang="it-IT" sz="28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star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6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86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Ordering Symbols</a:t>
            </a:r>
          </a:p>
        </p:txBody>
      </p:sp>
      <p:sp>
        <p:nvSpPr>
          <p:cNvPr id="87" name="Shape 87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Autofit/>
          </a:bodyPr>
          <a:lstStyle/>
          <a:p>
            <a:pPr indent="-342900">
              <a:spcBef>
                <a:spcPts val="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Another advantage of digits is that the items can be listed in numerical order</a:t>
            </a:r>
          </a:p>
          <a:p>
            <a:pPr indent="-342900">
              <a:spcBef>
                <a:spcPts val="60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Sometimes ordering items is useful</a:t>
            </a:r>
          </a:p>
          <a:p>
            <a:pPr indent="-342900">
              <a:spcBef>
                <a:spcPts val="600"/>
              </a:spcBef>
              <a:buClr>
                <a:srgbClr val="1E4649"/>
              </a:buClr>
              <a:buSzPct val="100000"/>
              <a:defRPr/>
            </a:pPr>
            <a:r>
              <a:rPr lang="en-US" sz="3200" b="1" i="1">
                <a:solidFill>
                  <a:srgbClr val="1E4649"/>
                </a:solidFill>
                <a:sym typeface="Arial"/>
              </a:rPr>
              <a:t>collating sequence: </a:t>
            </a:r>
            <a:r>
              <a:rPr lang="en-US" sz="3200">
                <a:sym typeface="Arial"/>
              </a:rPr>
              <a:t>placing information in order by using non-digit  symbols</a:t>
            </a:r>
          </a:p>
          <a:p>
            <a:pPr lvl="1" indent="-285750">
              <a:buClr>
                <a:srgbClr val="000000"/>
              </a:buClr>
              <a:buSzPct val="100000"/>
              <a:defRPr/>
            </a:pPr>
            <a:r>
              <a:rPr lang="en-US" sz="2800">
                <a:sym typeface="Arial"/>
              </a:rPr>
              <a:t>need to agree on an ordering for the basic symbols</a:t>
            </a:r>
          </a:p>
          <a:p>
            <a:pPr indent="25400">
              <a:spcBef>
                <a:spcPts val="500"/>
              </a:spcBef>
              <a:buClr>
                <a:srgbClr val="000000"/>
              </a:buClr>
              <a:buSzPct val="87500"/>
              <a:defRPr/>
            </a:pPr>
            <a:r>
              <a:rPr lang="en-US" sz="3200">
                <a:solidFill>
                  <a:schemeClr val="dk1"/>
                </a:solidFill>
                <a:sym typeface="Arial"/>
              </a:rPr>
              <a:t>Today, digitizing means representing information by symbols</a:t>
            </a:r>
          </a:p>
          <a:p>
            <a:pPr marL="0" indent="0">
              <a:spcBef>
                <a:spcPts val="500"/>
              </a:spcBef>
              <a:buNone/>
              <a:defRPr/>
            </a:pPr>
            <a:endParaRPr sz="3200">
              <a:sym typeface="Arial"/>
            </a:endParaRP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7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92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Fundamental Information Representation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endParaRPr lang="it-IT" altLang="it-IT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411" name="Shape 93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 computer represents information by the presence or absence of some physical phenomenon</a:t>
            </a:r>
          </a:p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This gives two symbols: a binary system</a:t>
            </a:r>
          </a:p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name the two states 1 and 0</a:t>
            </a:r>
          </a:p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can then build larger symbols using these two basic ones</a:t>
            </a:r>
          </a:p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phenomenon can be charge, current, magnetization, or many other things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8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98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Binary Representation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Autofit/>
          </a:bodyPr>
          <a:lstStyle/>
          <a:p>
            <a:pPr indent="-342900">
              <a:spcBef>
                <a:spcPts val="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Only two states are available</a:t>
            </a:r>
          </a:p>
          <a:p>
            <a:pPr indent="-342900">
              <a:spcBef>
                <a:spcPts val="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olidFill>
                  <a:schemeClr val="dk1"/>
                </a:solidFill>
                <a:sym typeface="Arial"/>
              </a:rPr>
              <a:t>Such a formulation is said to be discrete</a:t>
            </a:r>
          </a:p>
          <a:p>
            <a:pPr indent="-342900">
              <a:spcBef>
                <a:spcPts val="0"/>
              </a:spcBef>
              <a:buSzPct val="100000"/>
              <a:defRPr/>
            </a:pPr>
            <a:r>
              <a:rPr lang="en-US" sz="3200">
                <a:solidFill>
                  <a:schemeClr val="dk1"/>
                </a:solidFill>
                <a:sym typeface="Arial"/>
              </a:rPr>
              <a:t>Discrete means “</a:t>
            </a:r>
            <a:r>
              <a:rPr lang="en-US" sz="3200" b="1" i="1">
                <a:solidFill>
                  <a:srgbClr val="1E4649"/>
                </a:solidFill>
                <a:sym typeface="Arial"/>
              </a:rPr>
              <a:t>distinct</a:t>
            </a:r>
            <a:r>
              <a:rPr lang="en-US" sz="3200">
                <a:solidFill>
                  <a:schemeClr val="dk1"/>
                </a:solidFill>
                <a:sym typeface="Arial"/>
              </a:rPr>
              <a:t>” or “</a:t>
            </a:r>
            <a:r>
              <a:rPr lang="en-US" sz="3200" b="1" i="1">
                <a:solidFill>
                  <a:srgbClr val="1E4649"/>
                </a:solidFill>
                <a:sym typeface="Arial"/>
              </a:rPr>
              <a:t>separable</a:t>
            </a:r>
            <a:r>
              <a:rPr lang="en-US" sz="3200">
                <a:solidFill>
                  <a:schemeClr val="dk1"/>
                </a:solidFill>
                <a:sym typeface="Arial"/>
              </a:rPr>
              <a:t>”</a:t>
            </a:r>
          </a:p>
          <a:p>
            <a:pPr lvl="1" indent="457200">
              <a:spcBef>
                <a:spcPts val="0"/>
              </a:spcBef>
              <a:buSzPct val="100000"/>
              <a:defRPr/>
            </a:pPr>
            <a:r>
              <a:rPr lang="en-US" sz="2800">
                <a:solidFill>
                  <a:schemeClr val="dk1"/>
                </a:solidFill>
                <a:sym typeface="Arial"/>
              </a:rPr>
              <a:t>It is not possible to transform one value into another by tiny gradations</a:t>
            </a:r>
          </a:p>
          <a:p>
            <a:pPr lvl="1" indent="457200">
              <a:spcBef>
                <a:spcPts val="0"/>
              </a:spcBef>
              <a:buSzPct val="100000"/>
              <a:defRPr/>
            </a:pPr>
            <a:r>
              <a:rPr lang="en-US" sz="2800">
                <a:solidFill>
                  <a:schemeClr val="dk1"/>
                </a:solidFill>
                <a:sym typeface="Arial"/>
              </a:rPr>
              <a:t>There are no “</a:t>
            </a:r>
            <a:r>
              <a:rPr lang="en-US" sz="2800" b="1">
                <a:solidFill>
                  <a:schemeClr val="dk1"/>
                </a:solidFill>
                <a:sym typeface="Arial"/>
              </a:rPr>
              <a:t>sha</a:t>
            </a:r>
            <a:r>
              <a:rPr lang="en-US" sz="2800" b="1">
                <a:solidFill>
                  <a:srgbClr val="404040"/>
                </a:solidFill>
                <a:sym typeface="Arial"/>
              </a:rPr>
              <a:t>des</a:t>
            </a:r>
            <a:r>
              <a:rPr lang="en-US" sz="2800" b="1">
                <a:solidFill>
                  <a:schemeClr val="dk1"/>
                </a:solidFill>
                <a:sym typeface="Arial"/>
              </a:rPr>
              <a:t> </a:t>
            </a:r>
            <a:r>
              <a:rPr lang="en-US" sz="2800" b="1">
                <a:solidFill>
                  <a:srgbClr val="606060"/>
                </a:solidFill>
                <a:sym typeface="Arial"/>
              </a:rPr>
              <a:t>of g</a:t>
            </a:r>
            <a:r>
              <a:rPr lang="en-US" sz="2800" b="1">
                <a:solidFill>
                  <a:srgbClr val="7F7F7F"/>
                </a:solidFill>
                <a:sym typeface="Arial"/>
              </a:rPr>
              <a:t>ray</a:t>
            </a:r>
            <a:r>
              <a:rPr lang="en-US" sz="2800">
                <a:solidFill>
                  <a:schemeClr val="dk1"/>
                </a:solidFill>
                <a:sym typeface="Arial"/>
              </a:rPr>
              <a:t>”</a:t>
            </a:r>
          </a:p>
          <a:p>
            <a:pPr marL="0" indent="0">
              <a:spcBef>
                <a:spcPts val="600"/>
              </a:spcBef>
              <a:buNone/>
              <a:defRPr/>
            </a:pPr>
            <a:endParaRPr>
              <a:sym typeface="Arial"/>
            </a:endParaRP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9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hape 104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 Binary System</a:t>
            </a:r>
          </a:p>
        </p:txBody>
      </p:sp>
      <p:sp>
        <p:nvSpPr>
          <p:cNvPr id="21507" name="Shape 105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4038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binary encoding has two patterns: present and absent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Two patterns make it a binary system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There is 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no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 law that says:</a:t>
            </a:r>
          </a:p>
          <a:p>
            <a:pPr marL="800100" lvl="1" indent="-342900">
              <a:buClr>
                <a:srgbClr val="000000"/>
              </a:buClr>
              <a:buFontTx/>
              <a:buChar char="•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on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 means “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present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” 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off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 means “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absent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”</a:t>
            </a:r>
          </a:p>
          <a:p>
            <a:pPr marL="342900" indent="-342900"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assignment is arbitrary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10</a:t>
            </a:fld>
            <a:endParaRPr lang="nb-NO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26E951B-7817-0948-948C-E7C80810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1797326"/>
            <a:ext cx="3644900" cy="2971800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112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Bits Form Symbols</a:t>
            </a:r>
          </a:p>
        </p:txBody>
      </p:sp>
      <p:sp>
        <p:nvSpPr>
          <p:cNvPr id="23555" name="Shape 113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 i="1">
                <a:latin typeface="Arial" charset="0"/>
                <a:ea typeface="Arial" charset="0"/>
                <a:cs typeface="Arial" charset="0"/>
              </a:rPr>
              <a:t>In the binary representation, the unit is a specific place (in space and time), where the presence or absence of the phenomenon can be set and detected.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binary unit is known as a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bit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1E4649"/>
              </a:buClr>
              <a:buFontTx/>
              <a:buChar char="•"/>
            </a:pP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Bit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is a contraction for “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inary dig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it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”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Bit sequences can be interpreted as binary numbers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Groups of bits form symbols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11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hape 118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Bits in Computer Memory</a:t>
            </a:r>
          </a:p>
        </p:txBody>
      </p:sp>
      <p:sp>
        <p:nvSpPr>
          <p:cNvPr id="119" name="Shape 119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Autofit/>
          </a:bodyPr>
          <a:lstStyle/>
          <a:p>
            <a:pPr indent="-342900">
              <a:spcBef>
                <a:spcPts val="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Memory is arranged inside a computer in a very long sequence of bits</a:t>
            </a:r>
          </a:p>
          <a:p>
            <a:pPr lvl="1" indent="-285750">
              <a:buClr>
                <a:srgbClr val="000000"/>
              </a:buClr>
              <a:buSzPct val="100000"/>
              <a:defRPr/>
            </a:pPr>
            <a:r>
              <a:rPr lang="en-US" sz="2800">
                <a:sym typeface="Arial"/>
              </a:rPr>
              <a:t>the physical phenomenon can be encoded, the information can be </a:t>
            </a:r>
            <a:r>
              <a:rPr lang="en-US" sz="2800" b="1" i="1">
                <a:solidFill>
                  <a:srgbClr val="1E4649"/>
                </a:solidFill>
                <a:sym typeface="Arial"/>
              </a:rPr>
              <a:t>set </a:t>
            </a:r>
            <a:r>
              <a:rPr lang="en-US" sz="2800">
                <a:sym typeface="Arial"/>
              </a:rPr>
              <a:t>and </a:t>
            </a:r>
            <a:r>
              <a:rPr lang="en-US" sz="2800" b="1" i="1">
                <a:solidFill>
                  <a:srgbClr val="1E4649"/>
                </a:solidFill>
                <a:sym typeface="Arial"/>
              </a:rPr>
              <a:t>detected </a:t>
            </a:r>
            <a:r>
              <a:rPr lang="en-US" sz="2800">
                <a:solidFill>
                  <a:srgbClr val="0D0D0D"/>
                </a:solidFill>
                <a:sym typeface="Arial"/>
              </a:rPr>
              <a:t>to </a:t>
            </a:r>
            <a:r>
              <a:rPr lang="en-US" sz="2800" b="1" i="1">
                <a:solidFill>
                  <a:srgbClr val="1E4649"/>
                </a:solidFill>
                <a:sym typeface="Arial"/>
              </a:rPr>
              <a:t>present </a:t>
            </a:r>
            <a:r>
              <a:rPr lang="en-US" sz="2800">
                <a:solidFill>
                  <a:srgbClr val="0D0D0D"/>
                </a:solidFill>
                <a:sym typeface="Arial"/>
              </a:rPr>
              <a:t>or </a:t>
            </a:r>
            <a:r>
              <a:rPr lang="en-US" sz="2800" b="1" i="1">
                <a:solidFill>
                  <a:srgbClr val="1E4649"/>
                </a:solidFill>
                <a:sym typeface="Arial"/>
              </a:rPr>
              <a:t>absent</a:t>
            </a:r>
          </a:p>
          <a:p>
            <a:pPr indent="38100">
              <a:buNone/>
              <a:defRPr/>
            </a:pPr>
            <a:endParaRPr b="1" i="1">
              <a:solidFill>
                <a:srgbClr val="1E4649"/>
              </a:solidFill>
              <a:sym typeface="Arial"/>
            </a:endParaRP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hape 124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Alternative binary Encodings</a:t>
            </a:r>
          </a:p>
        </p:txBody>
      </p:sp>
      <p:sp>
        <p:nvSpPr>
          <p:cNvPr id="27651" name="Shape 125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There is no limit to the ways to encode two physical states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stones on all squares, but with white (absent) and black (present) stones for the two states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multiple stones of two colors per square, more white stones than black means 1 and more black stones than white means 0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And so forth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13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130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Combining Bit Patterns</a:t>
            </a:r>
          </a:p>
        </p:txBody>
      </p:sp>
      <p:sp>
        <p:nvSpPr>
          <p:cNvPr id="29699" name="Shape 131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5562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two-bit patterns gives limited resources for digitizing information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Only two values can 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be represented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two patterns must 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be combined into 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sequences to create 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enough symbols to encode the intended information</a:t>
            </a: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814" y="2574925"/>
            <a:ext cx="4217987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14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hape 138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Binary Explained</a:t>
            </a:r>
          </a:p>
        </p:txBody>
      </p:sp>
      <p:sp>
        <p:nvSpPr>
          <p:cNvPr id="139" name="Shape 139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Autofit/>
          </a:bodyPr>
          <a:lstStyle/>
          <a:p>
            <a:pPr indent="-342900">
              <a:spcBef>
                <a:spcPts val="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Computers use base-2 to represent numbers using the </a:t>
            </a:r>
            <a:r>
              <a:rPr lang="en-US" sz="3200" b="1" i="1">
                <a:solidFill>
                  <a:srgbClr val="1E4649"/>
                </a:solidFill>
                <a:sym typeface="Arial"/>
              </a:rPr>
              <a:t>binary number system</a:t>
            </a:r>
          </a:p>
          <a:p>
            <a:pPr indent="-342900">
              <a:spcBef>
                <a:spcPts val="600"/>
              </a:spcBef>
              <a:buClr>
                <a:srgbClr val="000000"/>
              </a:buClr>
              <a:buSzPct val="100000"/>
              <a:defRPr/>
            </a:pPr>
            <a:r>
              <a:rPr lang="en-US" sz="3200">
                <a:sym typeface="Arial"/>
              </a:rPr>
              <a:t>When counting in binary you are limited to only use 0 and 1</a:t>
            </a:r>
          </a:p>
          <a:p>
            <a:pPr lvl="1" indent="-285750">
              <a:buClr>
                <a:srgbClr val="000000"/>
              </a:buClr>
              <a:buSzPct val="100000"/>
              <a:defRPr/>
            </a:pPr>
            <a:r>
              <a:rPr lang="en-US" sz="2800">
                <a:sym typeface="Arial"/>
              </a:rPr>
              <a:t>0, 1, 10, 11, 100, 101, 110, 111, 1000, …</a:t>
            </a:r>
          </a:p>
          <a:p>
            <a:pPr indent="38100">
              <a:buNone/>
              <a:defRPr/>
            </a:pPr>
            <a:endParaRPr>
              <a:sym typeface="Arial"/>
            </a:endParaRP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15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hape 144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Hex Explained</a:t>
            </a:r>
          </a:p>
        </p:txBody>
      </p:sp>
      <p:sp>
        <p:nvSpPr>
          <p:cNvPr id="33795" name="Shape 145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1E4649"/>
              </a:buClr>
              <a:buFontTx/>
              <a:buChar char="•"/>
            </a:pP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Hex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digits, short for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hex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adecimal digits, are base-16 numbers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Uses decimal numbers, and then the first six Latin letters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0, 1, 2, 3, 4, 5, 6, 7, 8, 9, A, B, C, D, E, F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There needed to be a better way to write bit sequences…hexadecimal digits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16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hape 150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Changing Hex to Binary</a:t>
            </a:r>
          </a:p>
        </p:txBody>
      </p:sp>
      <p:sp>
        <p:nvSpPr>
          <p:cNvPr id="35843" name="Shape 151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32 bits below represent a computer instruction</a:t>
            </a:r>
          </a:p>
          <a:p>
            <a:pPr marL="857250" lvl="2" indent="-6350">
              <a:spcAft>
                <a:spcPct val="0"/>
              </a:spcAft>
              <a:buClr>
                <a:srgbClr val="000000"/>
              </a:buClr>
              <a:buSzPct val="25000"/>
              <a:buNone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1000 1110 1101 1000 1010 0011 1010 0000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Writing so many 0’s and 1’s is tedious and error prone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can convert each each four-bit group to hex, giving the shorter version: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25000"/>
              <a:buNone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	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8E D8 A3 A0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17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hape 15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Hexadecimal Digits</a:t>
            </a:r>
          </a:p>
        </p:txBody>
      </p:sp>
      <p:sp>
        <p:nvSpPr>
          <p:cNvPr id="37891" name="Shape 15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None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Each hex digit codes a four-bit group: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None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		</a:t>
            </a:r>
            <a:r>
              <a:rPr lang="en-US" altLang="it-IT" sz="2600">
                <a:latin typeface="Arial" charset="0"/>
                <a:ea typeface="Arial" charset="0"/>
                <a:cs typeface="Arial" charset="0"/>
              </a:rPr>
              <a:t>0000	0		0100	4		1000	8		1100	C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None/>
            </a:pPr>
            <a:r>
              <a:rPr lang="en-US" altLang="it-IT" sz="2600">
                <a:latin typeface="Arial" charset="0"/>
                <a:ea typeface="Arial" charset="0"/>
                <a:cs typeface="Arial" charset="0"/>
              </a:rPr>
              <a:t>		0001	1		0101	5		1001	9		1101	D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None/>
            </a:pPr>
            <a:r>
              <a:rPr lang="en-US" altLang="it-IT" sz="2600">
                <a:latin typeface="Arial" charset="0"/>
                <a:ea typeface="Arial" charset="0"/>
                <a:cs typeface="Arial" charset="0"/>
              </a:rPr>
              <a:t>		0010	2		0110	6		1010	A		1110	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None/>
            </a:pPr>
            <a:r>
              <a:rPr lang="en-US" altLang="it-IT" sz="2600">
                <a:latin typeface="Arial" charset="0"/>
                <a:ea typeface="Arial" charset="0"/>
                <a:cs typeface="Arial" charset="0"/>
              </a:rPr>
              <a:t>		0011	3		0111	7		1011	B		1111	F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18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hape 162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Digitizing Numbers in Binary</a:t>
            </a:r>
          </a:p>
        </p:txBody>
      </p:sp>
      <p:sp>
        <p:nvSpPr>
          <p:cNvPr id="39939" name="Shape 163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two earliest uses of binary digits were to: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Encode numbers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Encode keyboard characters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Representations for sound, images, video, and other types of information are also important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19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hape 168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Place Value in a Decimal Number</a:t>
            </a:r>
          </a:p>
        </p:txBody>
      </p:sp>
      <p:sp>
        <p:nvSpPr>
          <p:cNvPr id="41987" name="Shape 169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Recall that To find the quantity expressed by a decimal number: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 digit in a place is multiplied by the place value and the results are added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Example, 1,010 (base 10) is: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Digit in the 1’s place is multiplied by its place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Digit in the 10’s place is multiplied by its place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and so on: </a:t>
            </a:r>
            <a:br>
              <a:rPr lang="en-US" altLang="it-IT" sz="2800">
                <a:latin typeface="Arial" charset="0"/>
                <a:ea typeface="Arial" charset="0"/>
                <a:cs typeface="Arial" charset="0"/>
              </a:rPr>
            </a:b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(0 × 1) + (1 × 10) + (0 × 100) + (1 × 1000)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20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hape 174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Place Value in a Binary Number</a:t>
            </a:r>
          </a:p>
        </p:txBody>
      </p:sp>
      <p:sp>
        <p:nvSpPr>
          <p:cNvPr id="44035" name="Shape 175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4038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Binary works the same way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base is 2 instead of 10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Instead of the decimal place values: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1, 10, 100, 1000, . . . ,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binary place  values are: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1, 2, 4, 8, 16, . . . ,</a:t>
            </a:r>
          </a:p>
        </p:txBody>
      </p:sp>
      <p:pic>
        <p:nvPicPr>
          <p:cNvPr id="4403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76513"/>
            <a:ext cx="4229100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21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hape 18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Place Value in a Binary Number</a:t>
            </a:r>
          </a:p>
        </p:txBody>
      </p:sp>
      <p:sp>
        <p:nvSpPr>
          <p:cNvPr id="46083" name="Shape 183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8229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1010 in binary: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(1 × 8) + (0 × 4) + (1 × 2) + (0 × 1)</a:t>
            </a:r>
          </a:p>
        </p:txBody>
      </p:sp>
      <p:pic>
        <p:nvPicPr>
          <p:cNvPr id="4608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4" y="3468688"/>
            <a:ext cx="75723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2600325"/>
            <a:ext cx="83121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23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hape 196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Digitizing Text</a:t>
            </a:r>
          </a:p>
        </p:txBody>
      </p:sp>
      <p:sp>
        <p:nvSpPr>
          <p:cNvPr id="50179" name="Shape 197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number of bits determines the number of symbols available for representing values: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 i="1">
                <a:latin typeface="Arial" charset="0"/>
                <a:ea typeface="Arial" charset="0"/>
                <a:cs typeface="Arial" charset="0"/>
              </a:rPr>
              <a:t>n bits in sequence yield 2</a:t>
            </a:r>
            <a:r>
              <a:rPr lang="en-US" altLang="it-IT" sz="2800" i="1" baseline="30000">
                <a:latin typeface="Arial" charset="0"/>
                <a:ea typeface="Arial" charset="0"/>
                <a:cs typeface="Arial" charset="0"/>
              </a:rPr>
              <a:t>n</a:t>
            </a:r>
            <a:r>
              <a:rPr lang="en-US" altLang="it-IT" sz="2800" i="1">
                <a:latin typeface="Arial" charset="0"/>
                <a:ea typeface="Arial" charset="0"/>
                <a:cs typeface="Arial" charset="0"/>
              </a:rPr>
              <a:t> symbols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more characters you want encoded, the more symbols you need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24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hape 202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Digitizing Text</a:t>
            </a:r>
          </a:p>
        </p:txBody>
      </p:sp>
      <p:sp>
        <p:nvSpPr>
          <p:cNvPr id="52227" name="Shape 203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Roman letters, Arabic numerals, and about a dozen punctuation characters are the minimum needed to digitize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English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text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What about: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Basic arithmetic symbols like +, −, *, /, =?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Characters not required for English ö, é, ñ, ø?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Punctuation? « », ¿, π, ∀)? What about business symbols: ¢, £, ¥, ©, and ®?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25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hape 208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Assigning Symbols</a:t>
            </a:r>
          </a:p>
        </p:txBody>
      </p:sp>
      <p:sp>
        <p:nvSpPr>
          <p:cNvPr id="54275" name="Shape 209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need to represent: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26 uppercase,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26 lowercase letters,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10 numerals,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20 punctuation characters,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10 useful arithmetic characters,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 u="sng">
                <a:latin typeface="Arial" charset="0"/>
                <a:ea typeface="Arial" charset="0"/>
                <a:cs typeface="Arial" charset="0"/>
              </a:rPr>
              <a:t>  3 other characters </a:t>
            </a:r>
            <a:r>
              <a:rPr lang="en-US" altLang="it-IT" sz="2000" u="sng">
                <a:latin typeface="Arial" charset="0"/>
                <a:ea typeface="Arial" charset="0"/>
                <a:cs typeface="Arial" charset="0"/>
              </a:rPr>
              <a:t>(new line, tab, and backspace) 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95 symbols…enough for English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26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hape 214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Assigning Symbols</a:t>
            </a:r>
          </a:p>
        </p:txBody>
      </p:sp>
      <p:sp>
        <p:nvSpPr>
          <p:cNvPr id="56323" name="Shape 215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To represent 95 distinct symbols, we need 7 bits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6 bits gives only 2</a:t>
            </a:r>
            <a:r>
              <a:rPr lang="en-US" altLang="it-IT" sz="2800" baseline="30000">
                <a:latin typeface="Arial" charset="0"/>
                <a:ea typeface="Arial" charset="0"/>
                <a:cs typeface="Arial" charset="0"/>
              </a:rPr>
              <a:t>6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 = 64 symbols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7 bits give 2</a:t>
            </a:r>
            <a:r>
              <a:rPr lang="en-US" altLang="it-IT" sz="2800" baseline="30000">
                <a:latin typeface="Arial" charset="0"/>
                <a:ea typeface="Arial" charset="0"/>
                <a:cs typeface="Arial" charset="0"/>
              </a:rPr>
              <a:t>7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 = 128 symbols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128 symbols is ample for the 95 different characters needed for English characters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Some additional characters must also be represented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27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hape 220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Assigning Symbols</a:t>
            </a:r>
          </a:p>
        </p:txBody>
      </p:sp>
      <p:sp>
        <p:nvSpPr>
          <p:cNvPr id="58371" name="Shape 221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1E4649"/>
              </a:buClr>
              <a:buFontTx/>
              <a:buChar char="•"/>
            </a:pP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ASCII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stands for American Standard Code for Information Interchange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ASCII is a widely used 7-bit (2</a:t>
            </a:r>
            <a:r>
              <a:rPr lang="en-US" altLang="it-IT" sz="3200" baseline="30000">
                <a:latin typeface="Arial" charset="0"/>
                <a:ea typeface="Arial" charset="0"/>
                <a:cs typeface="Arial" charset="0"/>
              </a:rPr>
              <a:t>7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) code 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Advantages of a “standard”: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Computer parts built by different manufacturers can be connected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Programs can create data and store it so that other programs can process it later, and so forth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28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hape 226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Extended ASCII: An 8-Bit Code</a:t>
            </a:r>
          </a:p>
        </p:txBody>
      </p:sp>
      <p:sp>
        <p:nvSpPr>
          <p:cNvPr id="60419" name="Shape 227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7-bit ASCII is not enough, it cannot represent text from other languages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IBM decided to use the next larger set of symbols, the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-bit symbols (2</a:t>
            </a:r>
            <a:r>
              <a:rPr lang="en-US" altLang="it-IT" sz="3200" b="1" i="1" baseline="30000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)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Eight bits produce 2</a:t>
            </a:r>
            <a:r>
              <a:rPr lang="en-US" altLang="it-IT" sz="3200" baseline="30000"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= 256 symbols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 7-bit ASCII is the 8-bit ASCII representation with the leftmost bit set to 0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Handles many languages that derived from the Latin alphabet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29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hape 232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Extended ASCII: An 8-Bit Code</a:t>
            </a:r>
          </a:p>
        </p:txBody>
      </p:sp>
      <p:sp>
        <p:nvSpPr>
          <p:cNvPr id="62467" name="Shape 233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IBM gave 8-bit sequences a special name,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byte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It is a standard unit for computer memory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30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hape 23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Unicode</a:t>
            </a:r>
          </a:p>
        </p:txBody>
      </p:sp>
      <p:sp>
        <p:nvSpPr>
          <p:cNvPr id="64515" name="Shape 239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318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256 extended ASCII codes cover most Western languages</a:t>
            </a:r>
          </a:p>
          <a:p>
            <a:pPr marL="457200" indent="-4318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Unicode represents many more characters by using up to 32 bits to code characters</a:t>
            </a:r>
          </a:p>
          <a:p>
            <a:pPr marL="457200" indent="-4318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UTF-8 records Unicode by writing long characters as groups of bytes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31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Shape 24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04800"/>
            <a:ext cx="4681538" cy="5715000"/>
          </a:xfrm>
          <a:prstGeom prst="rect">
            <a:avLst/>
          </a:prstGeom>
          <a:noFill/>
          <a:ln w="9525">
            <a:solidFill>
              <a:srgbClr val="26267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hape 249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Advantages of Long Encodings</a:t>
            </a:r>
          </a:p>
        </p:txBody>
      </p:sp>
      <p:sp>
        <p:nvSpPr>
          <p:cNvPr id="68611" name="Shape 250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With computing, we usually try to be efficient by using the shortest symbol sequence to minimize the amount of memory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Examples of the opposite: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NATO Broadcast Alphabet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Bar Codes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33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hape 25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NATO Broadcast Alphabet</a:t>
            </a:r>
          </a:p>
        </p:txBody>
      </p:sp>
      <p:sp>
        <p:nvSpPr>
          <p:cNvPr id="70659" name="Shape 256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code for the letters used in radio communication is 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purposely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 inefficient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code is distinctive when spoken amid </a:t>
            </a:r>
            <a:r>
              <a:rPr lang="en-US" altLang="it-IT" b="1">
                <a:latin typeface="Arial" charset="0"/>
                <a:ea typeface="Arial" charset="0"/>
                <a:cs typeface="Arial" charset="0"/>
              </a:rPr>
              <a:t>noise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alphabet encodes letters as words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Words are the symbols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“Mike” and “November” replace “em” and “en”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 longer encoding improves the chance that letters will be recognized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Digits keep their usual names, except nine, that is known as </a:t>
            </a: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niner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34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hape 261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NATO Broadcast Alphabet</a:t>
            </a:r>
          </a:p>
        </p:txBody>
      </p:sp>
      <p:pic>
        <p:nvPicPr>
          <p:cNvPr id="7270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2205039"/>
            <a:ext cx="68199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35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hape 268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Bar Codes</a:t>
            </a:r>
          </a:p>
        </p:txBody>
      </p:sp>
      <p:sp>
        <p:nvSpPr>
          <p:cNvPr id="74755" name="Shape 269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4038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Universal Product Codes (UPC) also use more than the minimum number of bits to encode information</a:t>
            </a:r>
          </a:p>
          <a:p>
            <a:pPr marL="342900" indent="-3429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In the UPC-A encoding, 7 bits are used to encode the digits 0 – 9</a:t>
            </a:r>
          </a:p>
        </p:txBody>
      </p:sp>
      <p:pic>
        <p:nvPicPr>
          <p:cNvPr id="74756" name="Shape 270"/>
          <p:cNvPicPr preferRelativeResize="0">
            <a:picLocks noGrp="1"/>
          </p:cNvPicPr>
          <p:nvPr>
            <p:ph type="body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61125" y="2014538"/>
            <a:ext cx="3460750" cy="3695700"/>
          </a:xfrm>
          <a:ln cap="flat">
            <a:solidFill>
              <a:srgbClr val="262672"/>
            </a:solidFill>
            <a:round/>
            <a:headEnd type="none" w="med" len="med"/>
            <a:tailEnd type="none" w="med" len="med"/>
          </a:ln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36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hape 27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Bar Codes</a:t>
            </a:r>
          </a:p>
        </p:txBody>
      </p:sp>
      <p:sp>
        <p:nvSpPr>
          <p:cNvPr id="76803" name="Shape 276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UPC encodes the manufacturer (left side) and the product (right side)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Different bit combinations are used for each side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One side is the complement of the other side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bit patterns were chosen to appear as different as possible from each other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37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hape 281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Bar Codes</a:t>
            </a:r>
          </a:p>
        </p:txBody>
      </p:sp>
      <p:sp>
        <p:nvSpPr>
          <p:cNvPr id="78851" name="Shape 282"/>
          <p:cNvSpPr txBox="1">
            <a:spLocks noGrp="1"/>
          </p:cNvSpPr>
          <p:nvPr>
            <p:ph type="body" idx="1"/>
          </p:nvPr>
        </p:nvSpPr>
        <p:spPr>
          <a:xfrm>
            <a:off x="1981200" y="1600201"/>
            <a:ext cx="4038600" cy="4525963"/>
          </a:xfrm>
        </p:spPr>
        <p:txBody>
          <a:bodyPr vert="horz" lIns="91440" tIns="45700" rIns="91440" bIns="45700" rtlCol="0">
            <a:normAutofit/>
          </a:bodyPr>
          <a:lstStyle/>
          <a:p>
            <a:pPr marL="342900" indent="-3429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Different encodings for each side make it possible to recognize whether the code is right side up or upside down</a:t>
            </a:r>
          </a:p>
        </p:txBody>
      </p:sp>
      <p:pic>
        <p:nvPicPr>
          <p:cNvPr id="7885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1600201"/>
            <a:ext cx="3854450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38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hape 337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Parity</a:t>
            </a:r>
          </a:p>
        </p:txBody>
      </p:sp>
      <p:sp>
        <p:nvSpPr>
          <p:cNvPr id="97283" name="Shape 338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Computer memory is subject to errors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An extra bit is added to the memory to help detect errors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 ninth bit per byte can detect errors using parity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1E4649"/>
              </a:buClr>
              <a:buFontTx/>
              <a:buChar char="•"/>
            </a:pP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Parity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refers to whether a number is even or odd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If the number of 1’s is even, set the ninth bit to 0; otherwise set it to 1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39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hape 343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Parity</a:t>
            </a:r>
          </a:p>
        </p:txBody>
      </p:sp>
      <p:sp>
        <p:nvSpPr>
          <p:cNvPr id="99331" name="Shape 344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All 9-bit groups have even parity: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Any single bit error in a group causes its parity to become odd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This allows hardware to detect that an error has occurred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It cannot detect </a:t>
            </a:r>
            <a:r>
              <a:rPr lang="en-US" altLang="it-IT" sz="2800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what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 bit is wrong, however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40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hape 349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Why “Byte”?</a:t>
            </a:r>
          </a:p>
        </p:txBody>
      </p:sp>
      <p:sp>
        <p:nvSpPr>
          <p:cNvPr id="101379" name="Shape 350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IBM was building a supercomputer, called Stretch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They needed a word for a quantity of memory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between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 a bit and a word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 word of computer memory is typically the amount required to represent computer instructions (currently a word is 32 bits)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41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hape 35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Why “Byte”?</a:t>
            </a:r>
          </a:p>
        </p:txBody>
      </p:sp>
      <p:pic>
        <p:nvPicPr>
          <p:cNvPr id="103427" name="Shape 356"/>
          <p:cNvPicPr preferRelativeResize="0"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8" y="1825625"/>
            <a:ext cx="7908384" cy="4351338"/>
          </a:xfrm>
        </p:spPr>
      </p:pic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hape 289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Metadata and the 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r>
              <a:rPr lang="en-US" altLang="it-IT">
                <a:latin typeface="Arial" charset="0"/>
                <a:ea typeface="Arial" charset="0"/>
                <a:cs typeface="Arial" charset="0"/>
              </a:rPr>
              <a:t>Oxford English Dictionary (OED)</a:t>
            </a:r>
          </a:p>
        </p:txBody>
      </p:sp>
      <p:sp>
        <p:nvSpPr>
          <p:cNvPr id="80899" name="Shape 290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Converting the content into binary is half of the problem of representing information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The other half of the problem? Describing the information’s properties</a:t>
            </a:r>
          </a:p>
          <a:p>
            <a:pPr indent="-34290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Characteristics of the content also needs to be encoded: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How is the content structured?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What other content is it related to?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Where was it collected?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What units is it given in?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How should it be displayed?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When was it created or captured?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000">
                <a:latin typeface="Arial" charset="0"/>
                <a:ea typeface="Arial" charset="0"/>
                <a:cs typeface="Arial" charset="0"/>
              </a:rPr>
              <a:t>And so on…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4308603"/>
      </p:ext>
    </p:extLst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hape 29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Metadata and the OED</a:t>
            </a:r>
          </a:p>
        </p:txBody>
      </p:sp>
      <p:sp>
        <p:nvSpPr>
          <p:cNvPr id="82947" name="Shape 296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Metadata: information describing information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Metadata is the third basic form of data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It does not require its own binary encoding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most common way to give metadata is with tags (think back to Chapter 4 when we wrote HTML)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32928851"/>
      </p:ext>
    </p:extLst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hape 301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Properties of Data</a:t>
            </a:r>
          </a:p>
        </p:txBody>
      </p:sp>
      <p:sp>
        <p:nvSpPr>
          <p:cNvPr id="84995" name="Shape 302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Metadata is separate from the information that it describes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For example: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 ASCII representation of letters has been discussed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How do those letters look in </a:t>
            </a:r>
            <a:r>
              <a:rPr lang="en-US" altLang="it-IT" sz="2800" b="1">
                <a:latin typeface="Comic Sans MS" charset="0"/>
                <a:ea typeface="Comic Sans MS" charset="0"/>
                <a:cs typeface="Comic Sans MS" charset="0"/>
                <a:sym typeface="Comic Sans MS" charset="0"/>
              </a:rPr>
              <a:t>Comic Sans 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font?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How they are displayed is metadata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5440170"/>
      </p:ext>
    </p:extLst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hape 307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Properties of Data</a:t>
            </a:r>
          </a:p>
        </p:txBody>
      </p:sp>
      <p:sp>
        <p:nvSpPr>
          <p:cNvPr id="87043" name="Shape 308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marL="342900" indent="-3556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 sz="3000">
                <a:latin typeface="Arial" charset="0"/>
                <a:ea typeface="Arial" charset="0"/>
                <a:cs typeface="Arial" charset="0"/>
              </a:rPr>
              <a:t>Rather than fill a file with the </a:t>
            </a:r>
            <a:r>
              <a:rPr lang="en-US" altLang="it-IT" sz="3000" b="1">
                <a:latin typeface="Times New Roman" charset="0"/>
                <a:ea typeface="Times New Roman" charset="0"/>
                <a:cs typeface="Times New Roman" charset="0"/>
                <a:sym typeface="Times New Roman" charset="0"/>
              </a:rPr>
              <a:t>Times New Roman</a:t>
            </a:r>
            <a:r>
              <a:rPr lang="en-US" altLang="it-IT" sz="3000">
                <a:latin typeface="Arial" charset="0"/>
                <a:ea typeface="Arial" charset="0"/>
                <a:cs typeface="Arial" charset="0"/>
              </a:rPr>
              <a:t> font, the file is filled with the letters and tags that describe how it should be displayed</a:t>
            </a:r>
          </a:p>
          <a:p>
            <a:pPr marL="342900" indent="-355600">
              <a:spcBef>
                <a:spcPct val="0"/>
              </a:spcBef>
              <a:buClr>
                <a:srgbClr val="000000"/>
              </a:buClr>
              <a:buFontTx/>
              <a:buChar char="•"/>
            </a:pPr>
            <a:r>
              <a:rPr lang="en-US" altLang="it-IT" sz="3000">
                <a:latin typeface="Arial" charset="0"/>
                <a:ea typeface="Arial" charset="0"/>
                <a:cs typeface="Arial" charset="0"/>
              </a:rPr>
              <a:t>This avoids locking-in the form of display, that can be changed by changing the metadata</a:t>
            </a:r>
          </a:p>
          <a:p>
            <a:pPr marL="342900" indent="-355600">
              <a:spcBef>
                <a:spcPts val="500"/>
              </a:spcBef>
              <a:buClr>
                <a:srgbClr val="000000"/>
              </a:buClr>
              <a:buFontTx/>
              <a:buChar char="•"/>
            </a:pPr>
            <a:r>
              <a:rPr lang="en-US" altLang="it-IT" sz="3000">
                <a:latin typeface="Arial" charset="0"/>
                <a:ea typeface="Arial" charset="0"/>
                <a:cs typeface="Arial" charset="0"/>
              </a:rPr>
              <a:t>Metadata can be presented at several levels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9588817"/>
      </p:ext>
    </p:extLst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hape 313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Using Tags for Metadata</a:t>
            </a:r>
            <a:br>
              <a:rPr lang="en-US" altLang="it-IT">
                <a:latin typeface="Arial" charset="0"/>
                <a:ea typeface="Arial" charset="0"/>
                <a:cs typeface="Arial" charset="0"/>
              </a:rPr>
            </a:br>
            <a:endParaRPr lang="it-IT" altLang="it-IT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9091" name="Shape 314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Oxford English Dictionary (OED) is the definitive reference for every English word’s meaning, etymology, and usage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The printed version of the OED is truly monumental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20 volumes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150 pounds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4 feet of shelf space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7243407"/>
      </p:ext>
    </p:extLst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hape 319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Using Tags for Metadata</a:t>
            </a:r>
          </a:p>
        </p:txBody>
      </p:sp>
      <p:sp>
        <p:nvSpPr>
          <p:cNvPr id="91139" name="Shape 320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In 1984, the conversion of the OED to digital form began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Imagine, with what you know about searching on the computer, finding the definition for the verb </a:t>
            </a:r>
            <a:r>
              <a:rPr lang="en-US" altLang="it-IT" sz="3200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set</a:t>
            </a: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“set” is part of many words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You would find clo</a:t>
            </a:r>
            <a:r>
              <a:rPr lang="en-US" altLang="it-IT" sz="2800" u="sng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set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, hor</a:t>
            </a:r>
            <a:r>
              <a:rPr lang="en-US" altLang="it-IT" sz="2800" u="sng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set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ail, </a:t>
            </a:r>
            <a:r>
              <a:rPr lang="en-US" altLang="it-IT" sz="2800" u="sng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set</a:t>
            </a: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tle, and more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Software can help sort out the words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100013"/>
      </p:ext>
    </p:extLst>
  </p:cSld>
  <p:clrMapOvr>
    <a:masterClrMapping/>
  </p:clrMapOvr>
  <p:transition spd="slow"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hape 325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Structure Tags</a:t>
            </a:r>
          </a:p>
        </p:txBody>
      </p:sp>
      <p:sp>
        <p:nvSpPr>
          <p:cNvPr id="93187" name="Shape 326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Special tags can be developed to handle structure: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&lt;hw&gt;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is the OED’s tag for a headword (word being defined)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&lt;pr&gt;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 handles pronunciation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&lt;ph&gt;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does the phonetic notations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&lt;ps&gt;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parts of speech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&lt;hm&gt;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homonym numbers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&lt;e&gt;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surrounds the entire entry</a:t>
            </a:r>
          </a:p>
          <a:p>
            <a:pPr lvl="1" indent="-285750">
              <a:spcBef>
                <a:spcPts val="400"/>
              </a:spcBef>
              <a:spcAft>
                <a:spcPct val="0"/>
              </a:spcAft>
              <a:buClr>
                <a:srgbClr val="1E4649"/>
              </a:buClr>
              <a:buFontTx/>
              <a:buChar char="–"/>
            </a:pPr>
            <a:r>
              <a:rPr lang="en-US" altLang="it-IT" b="1" i="1">
                <a:solidFill>
                  <a:srgbClr val="1E4649"/>
                </a:solidFill>
                <a:latin typeface="Arial" charset="0"/>
                <a:ea typeface="Arial" charset="0"/>
                <a:cs typeface="Arial" charset="0"/>
              </a:rPr>
              <a:t>&lt;hg&gt; </a:t>
            </a:r>
            <a:r>
              <a:rPr lang="en-US" altLang="it-IT">
                <a:latin typeface="Arial" charset="0"/>
                <a:ea typeface="Arial" charset="0"/>
                <a:cs typeface="Arial" charset="0"/>
              </a:rPr>
              <a:t>surrounds the head group or all of the information at the start of a definition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49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3060722"/>
      </p:ext>
    </p:extLst>
  </p:cSld>
  <p:clrMapOvr>
    <a:masterClrMapping/>
  </p:clrMapOvr>
  <p:transition spd="slow"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hape 331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Structure Tags</a:t>
            </a:r>
          </a:p>
        </p:txBody>
      </p:sp>
      <p:sp>
        <p:nvSpPr>
          <p:cNvPr id="95235" name="Shape 332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With structure tags, software can use a simple algorithm to find what is needed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Tags do not print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They are included only to specify the structure, so the computer knows what part of the dictionary to use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Structure tags are also useful for formatting…for example, boldface used for headwords</a:t>
            </a:r>
          </a:p>
          <a:p>
            <a:pPr indent="-34290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Knowing the structure makes it possible to generate the formatting information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0769237"/>
      </p:ext>
    </p:extLst>
  </p:cSld>
  <p:clrMapOvr>
    <a:masterClrMapping/>
  </p:clrMapOvr>
  <p:transition spd="slow"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hape 361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Summary</a:t>
            </a:r>
          </a:p>
        </p:txBody>
      </p:sp>
      <p:sp>
        <p:nvSpPr>
          <p:cNvPr id="105475" name="Shape 362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began the chapter by learning that digitizing doesn’t require digits—any symbols will do</a:t>
            </a:r>
          </a:p>
          <a:p>
            <a:pPr indent="-342900"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explored the following: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binary encoding, that is based on the presence and absence of a physical phenomenon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Their patterns are discrete; they form the basic unit of a bit. Their names (most often 1 and 0) can be any pair of opposite terms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51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hape 367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Summary</a:t>
            </a:r>
          </a:p>
        </p:txBody>
      </p:sp>
      <p:sp>
        <p:nvSpPr>
          <p:cNvPr id="107523" name="Shape 368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explored the following: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A bit’s 0 and 1 states naturally encourage the representation of numbers in base 2, that is, binary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7-bit ASCII, an early assignment of bit sequences (symbols) to keyboard characters. Extended or 8-bit ASCII is the standard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 need to use more than the minimum number of bits to encode information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52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hape 373"/>
          <p:cNvSpPr txBox="1">
            <a:spLocks noGrp="1"/>
          </p:cNvSpPr>
          <p:nvPr>
            <p:ph type="title"/>
          </p:nvPr>
        </p:nvSpPr>
        <p:spPr/>
        <p:txBody>
          <a:bodyPr vert="horz" lIns="91440" tIns="45700" rIns="91440" bIns="45700" rtlCol="0" anchor="ctr">
            <a:normAutofit/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25000"/>
            </a:pPr>
            <a:r>
              <a:rPr lang="en-US" altLang="it-IT">
                <a:latin typeface="Arial" charset="0"/>
                <a:ea typeface="Arial" charset="0"/>
                <a:cs typeface="Arial" charset="0"/>
              </a:rPr>
              <a:t>Summary</a:t>
            </a:r>
          </a:p>
        </p:txBody>
      </p:sp>
      <p:sp>
        <p:nvSpPr>
          <p:cNvPr id="109571" name="Shape 374"/>
          <p:cNvSpPr txBox="1">
            <a:spLocks noGrp="1"/>
          </p:cNvSpPr>
          <p:nvPr>
            <p:ph idx="1"/>
          </p:nvPr>
        </p:nvSpPr>
        <p:spPr/>
        <p:txBody>
          <a:bodyPr vert="horz" lIns="91440" tIns="45700" rIns="91440" bIns="45700" rtlCol="0">
            <a:normAutofit/>
          </a:bodyPr>
          <a:lstStyle/>
          <a:p>
            <a:pPr indent="-34290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3200">
                <a:latin typeface="Arial" charset="0"/>
                <a:ea typeface="Arial" charset="0"/>
                <a:cs typeface="Arial" charset="0"/>
              </a:rPr>
              <a:t>We explored the following: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How documents like the </a:t>
            </a:r>
            <a:r>
              <a:rPr lang="en-US" altLang="it-IT" sz="2800" i="1">
                <a:latin typeface="Arial" charset="0"/>
                <a:ea typeface="Arial" charset="0"/>
                <a:cs typeface="Arial" charset="0"/>
              </a:rPr>
              <a:t>Oxford English Dictionary are digitized</a:t>
            </a:r>
          </a:p>
          <a:p>
            <a:pPr lvl="2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 i="1">
                <a:latin typeface="Arial" charset="0"/>
                <a:ea typeface="Arial" charset="0"/>
                <a:cs typeface="Arial" charset="0"/>
              </a:rPr>
              <a:t>We </a:t>
            </a: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learned that tags associate metadata with every part of the </a:t>
            </a:r>
            <a:r>
              <a:rPr lang="en-US" altLang="it-IT" sz="2400" i="1">
                <a:latin typeface="Arial" charset="0"/>
                <a:ea typeface="Arial" charset="0"/>
                <a:cs typeface="Arial" charset="0"/>
              </a:rPr>
              <a:t>OED</a:t>
            </a:r>
          </a:p>
          <a:p>
            <a:pPr lvl="2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FontTx/>
              <a:buChar char="•"/>
            </a:pPr>
            <a:r>
              <a:rPr lang="en-US" altLang="it-IT" sz="2400">
                <a:latin typeface="Arial" charset="0"/>
                <a:ea typeface="Arial" charset="0"/>
                <a:cs typeface="Arial" charset="0"/>
              </a:rPr>
              <a:t>Using that data, a computer can easily help us find words and other information.</a:t>
            </a:r>
          </a:p>
          <a:p>
            <a:pPr lvl="1" indent="-285750">
              <a:spcAft>
                <a:spcPct val="0"/>
              </a:spcAft>
              <a:buClr>
                <a:srgbClr val="000000"/>
              </a:buClr>
              <a:buFontTx/>
              <a:buChar char="–"/>
            </a:pPr>
            <a:r>
              <a:rPr lang="en-US" altLang="it-IT" sz="2800">
                <a:latin typeface="Arial" charset="0"/>
                <a:ea typeface="Arial" charset="0"/>
                <a:cs typeface="Arial" charset="0"/>
              </a:rPr>
              <a:t>The mystery of the </a:t>
            </a:r>
            <a:r>
              <a:rPr lang="en-US" altLang="it-IT" sz="2800" i="1">
                <a:latin typeface="Arial" charset="0"/>
                <a:ea typeface="Arial" charset="0"/>
                <a:cs typeface="Arial" charset="0"/>
              </a:rPr>
              <a:t>y in byte</a:t>
            </a:r>
          </a:p>
        </p:txBody>
      </p:sp>
      <p:sp>
        <p:nvSpPr>
          <p:cNvPr id="2" name="Segnaposto piè di pagina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53</a:t>
            </a:fld>
            <a:endParaRPr lang="nb-NO"/>
          </a:p>
        </p:txBody>
      </p:sp>
    </p:spTree>
  </p:cSld>
  <p:clrMapOvr>
    <a:masterClrMapping/>
  </p:clrMapOvr>
  <p:transition spd="slow"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Representing numbers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7315200" cy="365125"/>
          </a:xfrm>
        </p:spPr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EC6182FC-1C34-DE4A-9EAC-E24BE6D1E839}" type="slidenum">
              <a:rPr lang="nb-NO"/>
              <a:t>54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9368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decimal vs binary numbers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/>
              <a:t>decimal numbers are based on </a:t>
            </a:r>
            <a:r>
              <a:rPr lang="it-IT" i="1"/>
              <a:t> base 10 positional notation</a:t>
            </a:r>
            <a:r>
              <a:rPr lang="it-IT"/>
              <a:t> </a:t>
            </a:r>
            <a:br>
              <a:rPr lang="it-IT"/>
            </a:br>
            <a:r>
              <a:rPr lang="it-IT"/>
              <a:t>(or </a:t>
            </a:r>
            <a:r>
              <a:rPr lang="it-IT" i="1"/>
              <a:t>base 10 place-value notation</a:t>
            </a:r>
            <a:r>
              <a:rPr lang="it-IT"/>
              <a:t>)</a:t>
            </a:r>
          </a:p>
          <a:p>
            <a:pPr lvl="1"/>
            <a:r>
              <a:rPr lang="it-IT"/>
              <a:t>ten digits 0 to 9</a:t>
            </a:r>
          </a:p>
          <a:p>
            <a:pPr lvl="1"/>
            <a:r>
              <a:rPr lang="it-IT"/>
              <a:t>234.56 = 2x10</a:t>
            </a:r>
            <a:r>
              <a:rPr lang="it-IT" baseline="30000"/>
              <a:t>2</a:t>
            </a:r>
            <a:r>
              <a:rPr lang="it-IT"/>
              <a:t> + 3x10</a:t>
            </a:r>
            <a:r>
              <a:rPr lang="it-IT" baseline="30000"/>
              <a:t>1</a:t>
            </a:r>
            <a:r>
              <a:rPr lang="it-IT"/>
              <a:t> + 4x10</a:t>
            </a:r>
            <a:r>
              <a:rPr lang="it-IT" baseline="30000"/>
              <a:t>0</a:t>
            </a:r>
            <a:r>
              <a:rPr lang="it-IT"/>
              <a:t> + 5x10</a:t>
            </a:r>
            <a:r>
              <a:rPr lang="it-IT" baseline="30000"/>
              <a:t>-1</a:t>
            </a:r>
            <a:r>
              <a:rPr lang="it-IT"/>
              <a:t> + 6x10</a:t>
            </a:r>
            <a:r>
              <a:rPr lang="it-IT" baseline="30000"/>
              <a:t>-2</a:t>
            </a:r>
            <a:r>
              <a:rPr lang="it-IT"/>
              <a:t> </a:t>
            </a:r>
          </a:p>
          <a:p>
            <a:r>
              <a:rPr lang="it-IT"/>
              <a:t>positional notation can be used with any base; useful bases</a:t>
            </a:r>
          </a:p>
          <a:p>
            <a:pPr lvl="1"/>
            <a:r>
              <a:rPr lang="it-IT"/>
              <a:t>hexadecimal 16</a:t>
            </a:r>
          </a:p>
          <a:p>
            <a:pPr lvl="1"/>
            <a:r>
              <a:rPr lang="it-IT"/>
              <a:t>octal 8</a:t>
            </a:r>
          </a:p>
          <a:p>
            <a:pPr lvl="1"/>
            <a:r>
              <a:rPr lang="it-IT"/>
              <a:t>binary 2 – the only one used in computers</a:t>
            </a:r>
          </a:p>
          <a:p>
            <a:r>
              <a:rPr lang="it-IT"/>
              <a:t>for technological reasons number representation in computers uses always a fixed number of bits</a:t>
            </a:r>
          </a:p>
        </p:txBody>
      </p:sp>
    </p:spTree>
    <p:extLst>
      <p:ext uri="{BB962C8B-B14F-4D97-AF65-F5344CB8AC3E}">
        <p14:creationId xmlns:p14="http://schemas.microsoft.com/office/powerpoint/2010/main" val="8580943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Types of numbers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536700"/>
            <a:ext cx="10515600" cy="46402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/>
              <a:t>Two major types</a:t>
            </a:r>
          </a:p>
          <a:p>
            <a:r>
              <a:rPr lang="it-IT"/>
              <a:t>integers</a:t>
            </a:r>
          </a:p>
          <a:p>
            <a:r>
              <a:rPr lang="it-IT"/>
              <a:t>non-integers → floating point</a:t>
            </a:r>
          </a:p>
          <a:p>
            <a:pPr lvl="1"/>
            <a:r>
              <a:rPr lang="it-IT"/>
              <a:t>float (32 bits)</a:t>
            </a:r>
          </a:p>
          <a:p>
            <a:pPr lvl="1"/>
            <a:r>
              <a:rPr lang="it-IT"/>
              <a:t>double (64 bits) – the non-integers used in R</a:t>
            </a:r>
          </a:p>
          <a:p>
            <a:pPr lvl="1"/>
            <a:r>
              <a:rPr lang="is-IS"/>
              <a:t>… other representations</a:t>
            </a:r>
          </a:p>
          <a:p>
            <a:pPr lvl="1"/>
            <a:r>
              <a:rPr lang="is-IS"/>
              <a:t>float and double share the same principles, the differences are only quantitative, doubles allow a </a:t>
            </a:r>
            <a:r>
              <a:rPr lang="is-IS" i="1"/>
              <a:t>greater precision</a:t>
            </a:r>
            <a:endParaRPr lang="it-IT" i="1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30913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Types of numbers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536700"/>
            <a:ext cx="10515600" cy="46402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/>
              <a:t>The internal representations are significantly different</a:t>
            </a:r>
          </a:p>
          <a:p>
            <a:r>
              <a:rPr lang="it-IT"/>
              <a:t>integers use less space and are processed at a higher speed</a:t>
            </a:r>
          </a:p>
          <a:p>
            <a:r>
              <a:rPr lang="it-IT"/>
              <a:t>non-integers require a larger number of bytes and more complex processing</a:t>
            </a:r>
          </a:p>
          <a:p>
            <a:pPr lvl="1"/>
            <a:r>
              <a:rPr lang="it-IT"/>
              <a:t>e.g. the sum of two integers can be computed in a single cpu clock cycle, while the sum of two double precision requires 4 cpu clock cycles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495538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Numbers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Integers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796840" cy="3684588"/>
          </a:xfrm>
        </p:spPr>
        <p:txBody>
          <a:bodyPr/>
          <a:lstStyle/>
          <a:p>
            <a:r>
              <a:rPr lang="it-IT"/>
              <a:t>32 bits</a:t>
            </a:r>
          </a:p>
          <a:p>
            <a:pPr lvl="1"/>
            <a:r>
              <a:rPr lang="it-IT"/>
              <a:t>from –(2</a:t>
            </a:r>
            <a:r>
              <a:rPr lang="it-IT" baseline="30000"/>
              <a:t>31</a:t>
            </a:r>
            <a:r>
              <a:rPr lang="it-IT"/>
              <a:t>-1) to 2</a:t>
            </a:r>
            <a:r>
              <a:rPr lang="it-IT" baseline="30000"/>
              <a:t>31</a:t>
            </a:r>
            <a:r>
              <a:rPr lang="it-IT"/>
              <a:t>-1</a:t>
            </a:r>
          </a:p>
          <a:p>
            <a:r>
              <a:rPr lang="it-IT"/>
              <a:t>internal binary representation</a:t>
            </a:r>
          </a:p>
          <a:p>
            <a:r>
              <a:rPr lang="it-IT"/>
              <a:t>negatives represented in </a:t>
            </a:r>
            <a:r>
              <a:rPr lang="it-IT" i="1"/>
              <a:t>two's complement</a:t>
            </a:r>
            <a:endParaRPr lang="it-IT"/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/>
              <a:t>Double Floating point</a:t>
            </a:r>
          </a:p>
        </p:txBody>
      </p:sp>
      <p:sp>
        <p:nvSpPr>
          <p:cNvPr id="9" name="Segnaposto contenuto 8"/>
          <p:cNvSpPr>
            <a:spLocks noGrp="1"/>
          </p:cNvSpPr>
          <p:nvPr>
            <p:ph sz="quarter" idx="4"/>
          </p:nvPr>
        </p:nvSpPr>
        <p:spPr>
          <a:xfrm>
            <a:off x="5811253" y="2505075"/>
            <a:ext cx="5544135" cy="3684588"/>
          </a:xfrm>
        </p:spPr>
        <p:txBody>
          <a:bodyPr>
            <a:normAutofit/>
          </a:bodyPr>
          <a:lstStyle/>
          <a:p>
            <a:r>
              <a:rPr lang="it-IT"/>
              <a:t>64 bits</a:t>
            </a:r>
          </a:p>
          <a:p>
            <a:r>
              <a:rPr lang="it-IT"/>
              <a:t>limits can change in different language implementations</a:t>
            </a:r>
          </a:p>
          <a:p>
            <a:r>
              <a:rPr lang="it-IT"/>
              <a:t>represented as </a:t>
            </a:r>
            <a:br>
              <a:rPr lang="it-IT"/>
            </a:br>
            <a:r>
              <a:rPr lang="it-IT" b="1"/>
              <a:t>mantissa* base</a:t>
            </a:r>
            <a:r>
              <a:rPr lang="it-IT" b="1" baseline="30000"/>
              <a:t>exponent</a:t>
            </a:r>
          </a:p>
          <a:p>
            <a:r>
              <a:rPr lang="it-IT"/>
              <a:t>internal binary representation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58</a:t>
            </a:fld>
            <a:endParaRPr lang="nb-NO"/>
          </a:p>
        </p:txBody>
      </p:sp>
      <p:sp>
        <p:nvSpPr>
          <p:cNvPr id="6" name="Fumetto 2 5"/>
          <p:cNvSpPr/>
          <p:nvPr/>
        </p:nvSpPr>
        <p:spPr>
          <a:xfrm>
            <a:off x="9347200" y="5048917"/>
            <a:ext cx="2677152" cy="1401095"/>
          </a:xfrm>
          <a:prstGeom prst="wedgeRoundRectCallout">
            <a:avLst>
              <a:gd name="adj1" fmla="val -105797"/>
              <a:gd name="adj2" fmla="val -4549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mantissa is </a:t>
            </a:r>
            <a:br>
              <a:rPr lang="en-US" sz="2800"/>
            </a:br>
            <a:r>
              <a:rPr lang="en-US" sz="2800"/>
              <a:t>also known as </a:t>
            </a:r>
            <a:br>
              <a:rPr lang="en-US" sz="2800"/>
            </a:br>
            <a:r>
              <a:rPr lang="en-US" sz="2800" i="1"/>
              <a:t>significant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961982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Two's complement for negative integers</a:t>
            </a:r>
          </a:p>
        </p:txBody>
      </p:sp>
      <p:sp>
        <p:nvSpPr>
          <p:cNvPr id="10" name="Segnaposto contenuto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representation of -1</a:t>
            </a:r>
          </a:p>
          <a:p>
            <a:pPr lvl="1"/>
            <a:r>
              <a:rPr lang="en-US"/>
              <a:t>represent 1</a:t>
            </a:r>
          </a:p>
          <a:p>
            <a:pPr lvl="2"/>
            <a:r>
              <a:rPr lang="en-US"/>
              <a:t>31 zeros followed by 1</a:t>
            </a:r>
          </a:p>
          <a:p>
            <a:pPr lvl="1"/>
            <a:r>
              <a:rPr lang="en-US"/>
              <a:t>invert all bits</a:t>
            </a:r>
          </a:p>
          <a:p>
            <a:pPr lvl="2"/>
            <a:r>
              <a:rPr lang="en-US"/>
              <a:t>31 one followed by zero</a:t>
            </a:r>
          </a:p>
          <a:p>
            <a:pPr lvl="1"/>
            <a:r>
              <a:rPr lang="en-US"/>
              <a:t>add one</a:t>
            </a:r>
          </a:p>
        </p:txBody>
      </p:sp>
      <p:sp>
        <p:nvSpPr>
          <p:cNvPr id="12" name="Segnaposto contenuto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/>
            </a:br>
            <a:br>
              <a:rPr lang="en-US" sz="1800"/>
            </a:br>
            <a:r>
              <a:rPr lang="en-US" sz="1800"/>
              <a:t>00000000000000000000000000000001</a:t>
            </a:r>
          </a:p>
          <a:p>
            <a:pPr marL="0" indent="0">
              <a:buNone/>
            </a:pPr>
            <a:br>
              <a:rPr lang="en-US" sz="1800"/>
            </a:br>
            <a:br>
              <a:rPr lang="en-US" sz="1800"/>
            </a:br>
            <a:br>
              <a:rPr lang="en-US" sz="1800"/>
            </a:br>
            <a:r>
              <a:rPr lang="en-US" sz="1800"/>
              <a:t>11111111111111111111111111111110</a:t>
            </a:r>
          </a:p>
          <a:p>
            <a:pPr marL="0" indent="0">
              <a:buNone/>
            </a:pPr>
            <a:r>
              <a:rPr lang="en-US" sz="1800"/>
              <a:t>11111111111111111111111111111111</a:t>
            </a:r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59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22436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Two's complement for negative integers</a:t>
            </a:r>
          </a:p>
        </p:txBody>
      </p:sp>
      <p:sp>
        <p:nvSpPr>
          <p:cNvPr id="10" name="Segnaposto contenuto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representation of –(2</a:t>
            </a:r>
            <a:r>
              <a:rPr lang="en-US" baseline="30000"/>
              <a:t>31</a:t>
            </a:r>
            <a:r>
              <a:rPr lang="en-US"/>
              <a:t>-1)</a:t>
            </a:r>
          </a:p>
        </p:txBody>
      </p:sp>
      <p:sp>
        <p:nvSpPr>
          <p:cNvPr id="12" name="Segnaposto contenuto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/>
            </a:br>
            <a:br>
              <a:rPr lang="en-US" sz="1800"/>
            </a:br>
            <a:r>
              <a:rPr lang="en-US" sz="1800"/>
              <a:t>01111111111111111111111111111111</a:t>
            </a:r>
          </a:p>
          <a:p>
            <a:pPr marL="0" indent="0">
              <a:buNone/>
            </a:pPr>
            <a:br>
              <a:rPr lang="en-US" sz="1800"/>
            </a:br>
            <a:br>
              <a:rPr lang="en-US" sz="1800"/>
            </a:br>
            <a:br>
              <a:rPr lang="en-US" sz="1800"/>
            </a:br>
            <a:r>
              <a:rPr lang="en-US" sz="1800"/>
              <a:t>10000000000000000000000000000000</a:t>
            </a:r>
          </a:p>
          <a:p>
            <a:pPr marL="0" indent="0">
              <a:buNone/>
            </a:pPr>
            <a:r>
              <a:rPr lang="en-US" sz="1800"/>
              <a:t>10000000000000000000000000000001</a:t>
            </a:r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60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62223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Two's complement: 8 bit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935736"/>
              </p:ext>
            </p:extLst>
          </p:nvPr>
        </p:nvGraphicFramePr>
        <p:xfrm>
          <a:off x="1866900" y="1524000"/>
          <a:ext cx="8250238" cy="4046172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61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61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inversion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add 1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this is -3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what number is?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this is 127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what number is?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inversion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add 1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this is -128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91444" marR="91444" marT="45714" marB="45714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552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E83846A-C922-B44F-9CD9-CD7A33AE5A69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61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276601" y="3962400"/>
            <a:ext cx="4248095" cy="2413139"/>
            <a:chOff x="1752600" y="3962400"/>
            <a:chExt cx="4247542" cy="2413715"/>
          </a:xfrm>
        </p:grpSpPr>
        <p:sp>
          <p:nvSpPr>
            <p:cNvPr id="8" name="Oval Callout 7"/>
            <p:cNvSpPr>
              <a:spLocks noChangeArrowheads="1"/>
            </p:cNvSpPr>
            <p:nvPr/>
          </p:nvSpPr>
          <p:spPr bwMode="auto">
            <a:xfrm>
              <a:off x="1752600" y="3962400"/>
              <a:ext cx="457141" cy="381091"/>
            </a:xfrm>
            <a:prstGeom prst="wedgeEllipseCallout">
              <a:avLst>
                <a:gd name="adj1" fmla="val 562500"/>
                <a:gd name="adj2" fmla="val 459167"/>
              </a:avLst>
            </a:prstGeom>
            <a:noFill/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chemeClr val="lt1"/>
                </a:solidFill>
              </a:endParaRPr>
            </a:p>
          </p:txBody>
        </p:sp>
        <p:sp>
          <p:nvSpPr>
            <p:cNvPr id="19558" name="TextBox 8"/>
            <p:cNvSpPr txBox="1">
              <a:spLocks noChangeArrowheads="1"/>
            </p:cNvSpPr>
            <p:nvPr/>
          </p:nvSpPr>
          <p:spPr bwMode="auto">
            <a:xfrm>
              <a:off x="4267200" y="5791200"/>
              <a:ext cx="1732942" cy="584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it-IT" altLang="it-IT"/>
                <a:t>negative</a:t>
              </a:r>
            </a:p>
          </p:txBody>
        </p:sp>
      </p:grp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2438400" y="2971800"/>
            <a:ext cx="2529860" cy="3403698"/>
            <a:chOff x="914400" y="2971800"/>
            <a:chExt cx="2529492" cy="3404274"/>
          </a:xfrm>
        </p:grpSpPr>
        <p:sp>
          <p:nvSpPr>
            <p:cNvPr id="7" name="Oval Callout 6"/>
            <p:cNvSpPr>
              <a:spLocks noChangeArrowheads="1"/>
            </p:cNvSpPr>
            <p:nvPr/>
          </p:nvSpPr>
          <p:spPr bwMode="auto">
            <a:xfrm>
              <a:off x="1752478" y="2971800"/>
              <a:ext cx="457133" cy="381064"/>
            </a:xfrm>
            <a:prstGeom prst="wedgeEllipseCallout">
              <a:avLst>
                <a:gd name="adj1" fmla="val -165278"/>
                <a:gd name="adj2" fmla="val 752500"/>
              </a:avLst>
            </a:prstGeom>
            <a:noFill/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it-IT">
                <a:solidFill>
                  <a:schemeClr val="lt1"/>
                </a:solidFill>
              </a:endParaRPr>
            </a:p>
          </p:txBody>
        </p:sp>
        <p:sp>
          <p:nvSpPr>
            <p:cNvPr id="19556" name="TextBox 9"/>
            <p:cNvSpPr txBox="1">
              <a:spLocks noChangeArrowheads="1"/>
            </p:cNvSpPr>
            <p:nvPr/>
          </p:nvSpPr>
          <p:spPr bwMode="auto">
            <a:xfrm>
              <a:off x="914400" y="5791200"/>
              <a:ext cx="2529492" cy="584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2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it-IT" altLang="it-IT"/>
                <a:t>non negative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48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Overflow: 8 bit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744489"/>
              </p:ext>
            </p:extLst>
          </p:nvPr>
        </p:nvGraphicFramePr>
        <p:xfrm>
          <a:off x="1981200" y="1600201"/>
          <a:ext cx="8229600" cy="4016375"/>
        </p:xfrm>
        <a:graphic>
          <a:graphicData uri="http://schemas.openxmlformats.org/drawingml/2006/table">
            <a:tbl>
              <a:tblPr/>
              <a:tblGrid>
                <a:gridCol w="1446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127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127+1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0475">
                <a:tc gridSpan="9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when the sum exceeds the maximum integer that can be represented with the actual number of bits per integer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 real cases the bits are 32, but one is reserved to discriminate negative and non-negative</a:t>
                      </a:r>
                    </a:p>
                  </a:txBody>
                  <a:tcPr marL="88969" marR="88969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53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A6F075D-D224-1845-BA60-795BADD770B8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62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535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the point </a:t>
            </a:r>
            <a:r>
              <a:rPr lang="en-US" i="1" dirty="0">
                <a:solidFill>
                  <a:srgbClr val="FF0000"/>
                </a:solidFill>
              </a:rPr>
              <a:t>floating</a:t>
            </a:r>
            <a:r>
              <a:rPr lang="en-US" dirty="0"/>
              <a:t>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dirty="0"/>
              <a:t>because the exponent is adjusted in such a way that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mantissa is less than 1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first digit to the right of the decimal point is different from zero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63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00279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Normalized floating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8"/>
            <a:ext cx="10515600" cy="31242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3000" dirty="0">
                <a:ea typeface="ＭＳ Ｐゴシック" charset="-128"/>
              </a:rPr>
              <a:t>any rational number with a finite number of digits can be represented, in a given base B, with two numbers: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2600" dirty="0">
                <a:ea typeface="ＭＳ Ｐゴシック" charset="-128"/>
              </a:rPr>
              <a:t>mantissa (or significand)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2600" dirty="0">
                <a:ea typeface="ＭＳ Ｐゴシック" charset="-128"/>
              </a:rPr>
              <a:t>exponent</a:t>
            </a:r>
          </a:p>
          <a:p>
            <a:pPr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3000" dirty="0">
                <a:ea typeface="ＭＳ Ｐゴシック" charset="-128"/>
              </a:rPr>
              <a:t>mantissa is a rational number &lt; 1</a:t>
            </a:r>
          </a:p>
          <a:p>
            <a:pPr lvl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2600" dirty="0">
                <a:ea typeface="ＭＳ Ｐゴシック" charset="-128"/>
              </a:rPr>
              <a:t>it is normalized, requiring the first digit to the right of the decimal point to be non-zero (</a:t>
            </a:r>
            <a:r>
              <a:rPr lang="it-IT" sz="2600" i="1" dirty="0">
                <a:solidFill>
                  <a:srgbClr val="FEB80A"/>
                </a:solidFill>
                <a:ea typeface="ＭＳ Ｐゴシック" charset="-128"/>
              </a:rPr>
              <a:t>normalization</a:t>
            </a:r>
            <a:r>
              <a:rPr lang="it-IT" sz="2600" dirty="0">
                <a:ea typeface="ＭＳ Ｐゴシック" charset="-128"/>
              </a:rPr>
              <a:t>)</a:t>
            </a:r>
          </a:p>
          <a:p>
            <a:pPr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3000" dirty="0">
                <a:ea typeface="ＭＳ Ｐゴシック" charset="-128"/>
              </a:rPr>
              <a:t>X = m * B</a:t>
            </a:r>
            <a:r>
              <a:rPr lang="it-IT" sz="3000" baseline="30000" dirty="0">
                <a:ea typeface="ＭＳ Ｐゴシック" charset="-128"/>
              </a:rPr>
              <a:t>e</a:t>
            </a:r>
            <a:endParaRPr lang="it-IT" sz="3000" dirty="0">
              <a:ea typeface="ＭＳ Ｐゴシック" charset="-128"/>
            </a:endParaRPr>
          </a:p>
          <a:p>
            <a:pPr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it-IT" sz="3000" dirty="0">
                <a:ea typeface="ＭＳ Ｐゴシック" charset="-128"/>
              </a:rPr>
              <a:t>example: B=10</a:t>
            </a:r>
          </a:p>
          <a:p>
            <a:pPr eaLnBrk="1" hangingPunct="1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it-IT" sz="3000" dirty="0">
              <a:ea typeface="ＭＳ Ｐゴシック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0376FC6-4D01-8547-B06B-C68255F0E826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64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509656"/>
              </p:ext>
            </p:extLst>
          </p:nvPr>
        </p:nvGraphicFramePr>
        <p:xfrm>
          <a:off x="2286000" y="4918075"/>
          <a:ext cx="7620000" cy="1479552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&lt;mantissa,exponent&gt;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representation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42.576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&lt;0.42576,2&gt;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0.42576 * 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</a:t>
                      </a: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4257.6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&lt;0.42576,4&gt;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0.42576 * 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</a:t>
                      </a: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0.00042576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&lt;0.42576,-3&gt;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0.42576 * 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-3</a:t>
                      </a: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2646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 b="1">
                <a:ea typeface="+mj-ea"/>
                <a:cs typeface="+mj-cs"/>
              </a:rPr>
              <a:t>double </a:t>
            </a:r>
            <a:r>
              <a:rPr lang="it-IT" sz="2400" b="1">
                <a:ea typeface="+mj-ea"/>
                <a:cs typeface="+mj-cs"/>
              </a:rPr>
              <a:t>IEEE 754 standard </a:t>
            </a:r>
            <a:br>
              <a:rPr lang="it-IT" sz="2400" b="1">
                <a:ea typeface="+mj-ea"/>
                <a:cs typeface="+mj-cs"/>
              </a:rPr>
            </a:br>
            <a:r>
              <a:rPr lang="it-IT" sz="1600">
                <a:latin typeface="Courier New" charset="0"/>
                <a:ea typeface="Courier New" charset="0"/>
                <a:cs typeface="Courier New" charset="0"/>
                <a:hlinkClick r:id="rId2"/>
              </a:rPr>
              <a:t>https://en.wikipedia.org/wiki/Double-precision_floating-point_format</a:t>
            </a:r>
            <a:endParaRPr lang="it-IT" sz="8000">
              <a:latin typeface="Courier New" charset="0"/>
              <a:ea typeface="Courier New" charset="0"/>
              <a:cs typeface="Courier New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590885"/>
              </p:ext>
            </p:extLst>
          </p:nvPr>
        </p:nvGraphicFramePr>
        <p:xfrm>
          <a:off x="1981200" y="1752601"/>
          <a:ext cx="8229600" cy="3949107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5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bit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52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content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sign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exponent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mantissa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position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63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62                     52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2258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2258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2258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2258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225800" algn="l"/>
                        </a:tabLst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51	0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 rowSpan="2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numbers represented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expo-nent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0:1023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indent="127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1270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314700" algn="l"/>
                        </a:tabLst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man-tissa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any but 0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342900" indent="-3429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342900" marR="0" lvl="0" indent="-34290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314700" algn="l"/>
                        </a:tabLst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63">
                <a:tc rowSpan="2" gridSpan="2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special numbers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mantissa and exponent 0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marL="342900" indent="-3429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342900" marR="0" lvl="0" indent="-34290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314700" algn="l"/>
                        </a:tabLst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76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mantissa 0,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exponent 1023</a:t>
                      </a:r>
                    </a:p>
                  </a:txBody>
                  <a:tcPr marL="88969" marR="88969" marT="45727" marB="45727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342900" indent="-3429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tabLst>
                          <a:tab pos="3314700" algn="l"/>
                        </a:tabLs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342900" marR="0" lvl="0" indent="-34290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314700" algn="l"/>
                        </a:tabLst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Infinity</a:t>
                      </a:r>
                    </a:p>
                  </a:txBody>
                  <a:tcPr marL="88969" marR="88969" marT="45727" marB="45727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57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754651F0-8BD8-194E-9B24-40602714368A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65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553543" y="5763621"/>
            <a:ext cx="11084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Use the reference below to visualize bit contents in the </a:t>
            </a:r>
            <a:r>
              <a:rPr lang="en-US" i="1"/>
              <a:t>float</a:t>
            </a:r>
            <a:r>
              <a:rPr lang="en-US"/>
              <a:t> format, that has the same principles of the double but uses only 32 bits in memory </a:t>
            </a:r>
            <a:r>
              <a:rPr lang="en-US">
                <a:hlinkClick r:id="rId3"/>
              </a:rPr>
              <a:t>http://www.h-schmidt.net/FloatConverter/IEEE754.html</a:t>
            </a:r>
            <a:r>
              <a:rPr lang="en-US"/>
              <a:t>. Try 1.4E-45 and </a:t>
            </a:r>
            <a:r>
              <a:rPr lang="is-IS"/>
              <a:t>3.4028235E38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42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/>
              <a:t>Parameters for numbers representation in R </a:t>
            </a:r>
            <a:br>
              <a:rPr lang="en-US" sz="3600"/>
            </a:br>
            <a:r>
              <a:rPr lang="en-US" sz="1600"/>
              <a:t>to inspect in R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print(.Machine$</a:t>
            </a:r>
            <a:r>
              <a:rPr 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3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Segnaposto contenuto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558195"/>
              </p:ext>
            </p:extLst>
          </p:nvPr>
        </p:nvGraphicFramePr>
        <p:xfrm>
          <a:off x="433137" y="1705305"/>
          <a:ext cx="11325726" cy="477836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20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683">
                <a:tc>
                  <a:txBody>
                    <a:bodyPr/>
                    <a:lstStyle/>
                    <a:p>
                      <a:r>
                        <a:rPr lang="en-US" sz="1600">
                          <a:latin typeface="Verdana" charset="0"/>
                          <a:ea typeface="Verdana" charset="0"/>
                          <a:cs typeface="Verdana" charset="0"/>
                        </a:rPr>
                        <a:t>Parameter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Verdana" charset="0"/>
                          <a:ea typeface="Verdana" charset="0"/>
                          <a:cs typeface="Verdana" charset="0"/>
                        </a:rPr>
                        <a:t>Value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Verdana" charset="0"/>
                          <a:ea typeface="Verdana" charset="0"/>
                          <a:cs typeface="Verdana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double.eps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2.220446e-16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smallest positive floating-point number x such that 1 + x !=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double.neg.eps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1.110223e-16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 small positive floating-point number x such that 1 - x != 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double.xmin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2.225074e-308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smallest non-zero normalized floating-point number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double.xmax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1.797693e+308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largest normalized floating-point number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double.base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yes, </a:t>
                      </a:r>
                      <a:r>
                        <a:rPr lang="is-IS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… they</a:t>
                      </a:r>
                      <a:r>
                        <a:rPr lang="is-IS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are binary!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double.digits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53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 kern="120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number of base digits in the floating-point significand: normally 53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double.rounding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rounding action, one of</a:t>
                      </a:r>
                      <a:r>
                        <a:rPr lang="en-US" sz="1200" kern="1200" baseline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</a:t>
                      </a:r>
                      <a:r>
                        <a:rPr lang="is-IS" sz="1200" kern="1200" baseline="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…</a:t>
                      </a:r>
                      <a:endParaRPr lang="en-US" sz="1200" kern="1200">
                        <a:solidFill>
                          <a:schemeClr val="tx1"/>
                        </a:solidFill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5 floating-point addition rounds in the IEEE style, and there is partial underflow.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double.guard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truncation in floating point arithmetics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double.ulp.digits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-52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largest negative integer i such that 1 + double.base ^ i != 1, except that it is bounded below by -(double.digits + 3)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double.neg.ulp.digits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-53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largest negative integer i such that 1 - double.base ^ i != 1, except that it is bounded below by -(double.digits + 3)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double.exponent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11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number of bits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r</a:t>
                      </a: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eserved for the representation of the exponent (including the bias or sign) of a floating-point number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double.min.exp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-1022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largest in magnitude negative integer i such that double.base ^ i is positive and normalized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double.max.exp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1024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smallest positive power of double.base that overflows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integer.max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2147483647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largest integer that can be represented, always 2^31 - 1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sizeof.long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byte sizes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for </a:t>
                      </a: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language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sizeof.longlong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byte sizes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for </a:t>
                      </a: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language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sizeof.longdouble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byte sizes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for </a:t>
                      </a: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language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6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sizeof.pointer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byte sizes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for </a:t>
                      </a:r>
                      <a:r>
                        <a:rPr lang="it-IT" sz="12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</a:t>
                      </a:r>
                      <a:r>
                        <a:rPr lang="it-IT" sz="1200" baseline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 language</a:t>
                      </a:r>
                      <a:endParaRPr lang="it-IT" sz="12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Segnaposto piè di pa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Claudio Sartori - Informatics - Digital Representation</a:t>
            </a:r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82FC-1C34-DE4A-9EAC-E24BE6D1E839}" type="slidenum">
              <a:rPr lang="nb-NO"/>
              <a:t>66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433910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double in R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it-IT" altLang="it-IT" sz="3000">
                <a:ea typeface="ＭＳ Ｐゴシック" charset="-128"/>
              </a:rPr>
              <a:t>the biggest number is 2</a:t>
            </a:r>
            <a:r>
              <a:rPr lang="it-IT" altLang="it-IT" sz="3000" baseline="30000">
                <a:ea typeface="ＭＳ Ｐゴシック" charset="-128"/>
              </a:rPr>
              <a:t>1023</a:t>
            </a:r>
            <a:endParaRPr lang="it-IT" altLang="it-IT" sz="300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it-IT" sz="2600">
                <a:ea typeface="ＭＳ Ｐゴシック" charset="-128"/>
              </a:rPr>
              <a:t>about 9*10</a:t>
            </a:r>
            <a:r>
              <a:rPr lang="en-US" altLang="it-IT" sz="2600" baseline="30000">
                <a:ea typeface="ＭＳ Ｐゴシック" charset="-128"/>
              </a:rPr>
              <a:t>307</a:t>
            </a:r>
            <a:r>
              <a:rPr lang="en-US" altLang="it-IT" sz="2600">
                <a:ea typeface="ＭＳ Ｐゴシック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3000">
                <a:ea typeface="ＭＳ Ｐゴシック" charset="-128"/>
              </a:rPr>
              <a:t>the smallest non-zero is 2</a:t>
            </a:r>
            <a:r>
              <a:rPr lang="en-US" altLang="it-IT" sz="3000" baseline="30000">
                <a:ea typeface="ＭＳ Ｐゴシック" charset="-128"/>
              </a:rPr>
              <a:t>-1074</a:t>
            </a:r>
            <a:endParaRPr lang="en-US" altLang="it-IT" sz="300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it-IT" sz="2600">
                <a:ea typeface="ＭＳ Ｐゴシック" charset="-128"/>
              </a:rPr>
              <a:t>about 5 * 10</a:t>
            </a:r>
            <a:r>
              <a:rPr lang="en-US" altLang="it-IT" sz="2600" baseline="30000">
                <a:ea typeface="ＭＳ Ｐゴシック" charset="-128"/>
              </a:rPr>
              <a:t>-324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600">
                <a:ea typeface="ＭＳ Ｐゴシック" charset="-128"/>
              </a:rPr>
              <a:t>the minimum exponent in base 10 is -308, but the smaller number is reached by renouncing to the normalization of the mantissa and reducing the precision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3000">
                <a:ea typeface="ＭＳ Ｐゴシック" charset="-128"/>
              </a:rPr>
              <a:t>the same limits hold, in absolute value, for negatives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A70D3A0-F143-C340-A48F-18BE44C8D322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67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411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advantages of the mantissa/exponent representation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the number of significant digits does is not influenced by the order of magnitude</a:t>
            </a:r>
          </a:p>
          <a:p>
            <a:pPr eaLnBrk="1" hangingPunct="1"/>
            <a:r>
              <a:rPr lang="it-IT" altLang="it-IT">
                <a:ea typeface="ＭＳ Ｐゴシック" charset="-128"/>
              </a:rPr>
              <a:t>it is possible to represent very big and very small (non-zero) numbers</a:t>
            </a:r>
          </a:p>
          <a:p>
            <a:pPr lvl="1"/>
            <a:r>
              <a:rPr lang="it-IT" altLang="it-IT">
                <a:ea typeface="ＭＳ Ｐゴシック" charset="-128"/>
              </a:rPr>
              <a:t>think to the limitations of a representation with a fixed number of digits for the integer and the decimal parts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5E39A347-ADED-6941-A29A-808EA253AD47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68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6106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>
                <a:ea typeface="+mn-ea"/>
                <a:cs typeface="+mn-cs"/>
              </a:rPr>
              <a:t>between the two ends only a </a:t>
            </a:r>
            <a:r>
              <a:rPr lang="it-IT">
                <a:solidFill>
                  <a:srgbClr val="FF0000"/>
                </a:solidFill>
                <a:ea typeface="+mn-ea"/>
                <a:cs typeface="+mn-cs"/>
              </a:rPr>
              <a:t>finite</a:t>
            </a:r>
            <a:r>
              <a:rPr lang="it-IT">
                <a:ea typeface="+mn-ea"/>
                <a:cs typeface="+mn-cs"/>
              </a:rPr>
              <a:t> amount of </a:t>
            </a:r>
            <a:r>
              <a:rPr lang="it-IT" i="1">
                <a:ea typeface="+mn-ea"/>
                <a:cs typeface="+mn-cs"/>
              </a:rPr>
              <a:t>double</a:t>
            </a:r>
            <a:r>
              <a:rPr lang="it-IT">
                <a:ea typeface="+mn-ea"/>
                <a:cs typeface="+mn-cs"/>
              </a:rPr>
              <a:t> numbers is allowed</a:t>
            </a:r>
          </a:p>
          <a:p>
            <a:pPr>
              <a:defRPr/>
            </a:pPr>
            <a:r>
              <a:rPr lang="it-IT" i="1">
                <a:solidFill>
                  <a:srgbClr val="FF0000"/>
                </a:solidFill>
                <a:ea typeface="+mn-ea"/>
                <a:cs typeface="+mn-cs"/>
              </a:rPr>
              <a:t>doubles are a finite subset of the rationals that can be represented with a finite number of digits for mantissa and exponents</a:t>
            </a:r>
          </a:p>
          <a:p>
            <a:pPr>
              <a:defRPr/>
            </a:pPr>
            <a:r>
              <a:rPr lang="it-IT">
                <a:ea typeface="+mn-ea"/>
                <a:cs typeface="+mn-cs"/>
              </a:rPr>
              <a:t>the concepts of infinite and infinitesimal are substituted by two specific numbers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CB6AF1F-5F36-8A45-ABAC-C147F522EC26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69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7272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double: precision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3000">
                <a:ea typeface="ＭＳ Ｐゴシック" charset="-128"/>
              </a:rPr>
              <a:t>let us consider two consecutive double numbers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it-IT" altLang="it-IT" sz="3000">
                <a:ea typeface="ＭＳ Ｐゴシック" charset="-128"/>
              </a:rPr>
              <a:t>d</a:t>
            </a:r>
            <a:r>
              <a:rPr lang="it-IT" altLang="it-IT" sz="3000" baseline="-25000">
                <a:ea typeface="ＭＳ Ｐゴシック" charset="-128"/>
              </a:rPr>
              <a:t>1</a:t>
            </a:r>
            <a:r>
              <a:rPr lang="it-IT" altLang="it-IT" sz="3000">
                <a:ea typeface="ＭＳ Ｐゴシック" charset="-128"/>
              </a:rPr>
              <a:t>=m</a:t>
            </a:r>
            <a:r>
              <a:rPr lang="it-IT" altLang="it-IT" sz="3000" baseline="-25000">
                <a:ea typeface="ＭＳ Ｐゴシック" charset="-128"/>
              </a:rPr>
              <a:t>1</a:t>
            </a:r>
            <a:r>
              <a:rPr lang="it-IT" altLang="it-IT" sz="3000">
                <a:ea typeface="ＭＳ Ｐゴシック" charset="-128"/>
              </a:rPr>
              <a:t>*2</a:t>
            </a:r>
            <a:r>
              <a:rPr lang="it-IT" altLang="it-IT" sz="3000" baseline="30000">
                <a:ea typeface="ＭＳ Ｐゴシック" charset="-128"/>
              </a:rPr>
              <a:t>e</a:t>
            </a:r>
            <a:r>
              <a:rPr lang="it-IT" altLang="it-IT" sz="3000">
                <a:ea typeface="ＭＳ Ｐゴシック" charset="-128"/>
              </a:rPr>
              <a:t> e d</a:t>
            </a:r>
            <a:r>
              <a:rPr lang="it-IT" altLang="it-IT" sz="3000" baseline="-25000">
                <a:ea typeface="ＭＳ Ｐゴシック" charset="-128"/>
              </a:rPr>
              <a:t>2</a:t>
            </a:r>
            <a:r>
              <a:rPr lang="it-IT" altLang="it-IT" sz="3000">
                <a:ea typeface="ＭＳ Ｐゴシック" charset="-128"/>
              </a:rPr>
              <a:t>=m</a:t>
            </a:r>
            <a:r>
              <a:rPr lang="it-IT" altLang="it-IT" sz="3000" baseline="-25000">
                <a:ea typeface="ＭＳ Ｐゴシック" charset="-128"/>
              </a:rPr>
              <a:t>2</a:t>
            </a:r>
            <a:r>
              <a:rPr lang="it-IT" altLang="it-IT" sz="3000">
                <a:ea typeface="ＭＳ Ｐゴシック" charset="-128"/>
              </a:rPr>
              <a:t>*2</a:t>
            </a:r>
            <a:r>
              <a:rPr lang="en-US" altLang="it-IT" sz="3000" baseline="30000">
                <a:ea typeface="ＭＳ Ｐゴシック" charset="-128"/>
              </a:rPr>
              <a:t>e</a:t>
            </a:r>
            <a:endParaRPr lang="it-IT" altLang="it-IT" sz="3000">
              <a:ea typeface="ＭＳ Ｐゴシック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3000">
                <a:ea typeface="ＭＳ Ｐゴシック" charset="-128"/>
              </a:rPr>
              <a:t>m</a:t>
            </a:r>
            <a:r>
              <a:rPr lang="it-IT" altLang="it-IT" sz="3000" baseline="-25000">
                <a:ea typeface="ＭＳ Ｐゴシック" charset="-128"/>
              </a:rPr>
              <a:t>1</a:t>
            </a:r>
            <a:r>
              <a:rPr lang="it-IT" altLang="it-IT" sz="3000">
                <a:ea typeface="ＭＳ Ｐゴシック" charset="-128"/>
              </a:rPr>
              <a:t> and m</a:t>
            </a:r>
            <a:r>
              <a:rPr lang="it-IT" altLang="it-IT" sz="3000" baseline="-25000">
                <a:ea typeface="ＭＳ Ｐゴシック" charset="-128"/>
              </a:rPr>
              <a:t>2</a:t>
            </a:r>
            <a:r>
              <a:rPr lang="it-IT" altLang="it-IT" sz="3000">
                <a:ea typeface="ＭＳ Ｐゴシック" charset="-128"/>
              </a:rPr>
              <a:t> differ only in the last bit</a:t>
            </a:r>
          </a:p>
          <a:p>
            <a:pPr>
              <a:lnSpc>
                <a:spcPct val="80000"/>
              </a:lnSpc>
            </a:pPr>
            <a:r>
              <a:rPr lang="it-IT" altLang="it-IT" sz="3000">
                <a:ea typeface="ＭＳ Ｐゴシック" charset="-128"/>
              </a:rPr>
              <a:t>all the infinite reals between d</a:t>
            </a:r>
            <a:r>
              <a:rPr lang="it-IT" altLang="it-IT" sz="3000" baseline="-25000">
                <a:ea typeface="ＭＳ Ｐゴシック" charset="-128"/>
              </a:rPr>
              <a:t>1</a:t>
            </a:r>
            <a:r>
              <a:rPr lang="it-IT" altLang="it-IT" sz="3000">
                <a:ea typeface="ＭＳ Ｐゴシック" charset="-128"/>
              </a:rPr>
              <a:t> and d</a:t>
            </a:r>
            <a:r>
              <a:rPr lang="it-IT" altLang="it-IT" sz="3000" baseline="-25000">
                <a:ea typeface="ＭＳ Ｐゴシック" charset="-128"/>
              </a:rPr>
              <a:t>2</a:t>
            </a:r>
            <a:r>
              <a:rPr lang="it-IT" altLang="it-IT" sz="3000">
                <a:ea typeface="ＭＳ Ｐゴシック" charset="-128"/>
              </a:rPr>
              <a:t> are represented with either d</a:t>
            </a:r>
            <a:r>
              <a:rPr lang="it-IT" altLang="it-IT" sz="3000" baseline="-25000">
                <a:ea typeface="ＭＳ Ｐゴシック" charset="-128"/>
              </a:rPr>
              <a:t>1</a:t>
            </a:r>
            <a:r>
              <a:rPr lang="it-IT" altLang="it-IT" sz="3000">
                <a:ea typeface="ＭＳ Ｐゴシック" charset="-128"/>
              </a:rPr>
              <a:t> or d</a:t>
            </a:r>
            <a:r>
              <a:rPr lang="it-IT" altLang="it-IT" sz="3000" baseline="-25000">
                <a:ea typeface="ＭＳ Ｐゴシック" charset="-128"/>
              </a:rPr>
              <a:t>2</a:t>
            </a:r>
            <a:endParaRPr lang="it-IT" altLang="it-IT" sz="3000">
              <a:ea typeface="ＭＳ Ｐゴシック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600">
                <a:ea typeface="ＭＳ Ｐゴシック" charset="-128"/>
              </a:rPr>
              <a:t>rounding </a:t>
            </a:r>
            <a:r>
              <a:rPr lang="en-US" altLang="it-IT" sz="2600">
                <a:ea typeface="ＭＳ Ｐゴシック" charset="-128"/>
                <a:sym typeface="Wingdings" charset="2"/>
              </a:rPr>
              <a:t> the nearest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600">
                <a:ea typeface="ＭＳ Ｐゴシック" charset="-128"/>
                <a:sym typeface="Wingdings" charset="2"/>
              </a:rPr>
              <a:t>truncation  cut the exceeding, less significant, digits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it-IT" sz="3000">
                <a:ea typeface="ＭＳ Ｐゴシック" charset="-128"/>
                <a:sym typeface="Wingdings" charset="2"/>
              </a:rPr>
              <a:t>the maximum error, in case of truncation, is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it-IT" altLang="it-IT" sz="2600">
                <a:ea typeface="ＭＳ Ｐゴシック" charset="-128"/>
              </a:rPr>
              <a:t>(m</a:t>
            </a:r>
            <a:r>
              <a:rPr lang="it-IT" altLang="it-IT" sz="2600" baseline="-25000">
                <a:ea typeface="ＭＳ Ｐゴシック" charset="-128"/>
              </a:rPr>
              <a:t>1</a:t>
            </a:r>
            <a:r>
              <a:rPr lang="it-IT" altLang="it-IT" sz="2600">
                <a:ea typeface="ＭＳ Ｐゴシック" charset="-128"/>
              </a:rPr>
              <a:t> </a:t>
            </a:r>
            <a:r>
              <a:rPr lang="en-US" altLang="it-IT" sz="2600">
                <a:ea typeface="ＭＳ Ｐゴシック" charset="-128"/>
              </a:rPr>
              <a:t>–</a:t>
            </a:r>
            <a:r>
              <a:rPr lang="it-IT" altLang="it-IT" sz="2600">
                <a:ea typeface="ＭＳ Ｐゴシック" charset="-128"/>
              </a:rPr>
              <a:t> m</a:t>
            </a:r>
            <a:r>
              <a:rPr lang="it-IT" altLang="it-IT" sz="2600" baseline="-25000">
                <a:ea typeface="ＭＳ Ｐゴシック" charset="-128"/>
              </a:rPr>
              <a:t>2</a:t>
            </a:r>
            <a:r>
              <a:rPr lang="it-IT" altLang="it-IT" sz="2600">
                <a:ea typeface="ＭＳ Ｐゴシック" charset="-128"/>
              </a:rPr>
              <a:t>) * 2</a:t>
            </a:r>
            <a:r>
              <a:rPr lang="it-IT" altLang="it-IT" sz="2600" baseline="30000">
                <a:ea typeface="ＭＳ Ｐゴシック" charset="-128"/>
              </a:rPr>
              <a:t>e</a:t>
            </a:r>
            <a:endParaRPr lang="it-IT" altLang="it-IT" sz="2600">
              <a:ea typeface="ＭＳ Ｐゴシック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F3528300-0779-D748-B949-A1F0F51AD94C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70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525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double: precision (ii)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the precision changes, depending on the exponent</a:t>
            </a:r>
          </a:p>
          <a:p>
            <a:pPr lvl="1" eaLnBrk="1" hangingPunct="1"/>
            <a:r>
              <a:rPr lang="it-IT" altLang="it-IT">
                <a:ea typeface="ＭＳ Ｐゴシック" charset="-128"/>
              </a:rPr>
              <a:t>the error generated by the representation of a real number with the truncated double increases with the magnitude of the number</a:t>
            </a:r>
          </a:p>
          <a:p>
            <a:pPr eaLnBrk="1" hangingPunct="1"/>
            <a:r>
              <a:rPr lang="it-IT" altLang="it-IT">
                <a:ea typeface="ＭＳ Ｐゴシック" charset="-128"/>
              </a:rPr>
              <a:t>nevertheless, the </a:t>
            </a:r>
            <a:r>
              <a:rPr lang="it-IT" altLang="it-IT">
                <a:solidFill>
                  <a:srgbClr val="FEB80A"/>
                </a:solidFill>
                <a:ea typeface="ＭＳ Ｐゴシック" charset="-128"/>
              </a:rPr>
              <a:t>relative error </a:t>
            </a:r>
            <a:r>
              <a:rPr lang="it-IT" altLang="it-IT">
                <a:ea typeface="ＭＳ Ｐゴシック" charset="-128"/>
              </a:rPr>
              <a:t>is independent from the exponent</a:t>
            </a:r>
          </a:p>
          <a:p>
            <a:pPr lvl="1" eaLnBrk="1" hangingPunct="1"/>
            <a:r>
              <a:rPr lang="it-IT" altLang="it-IT">
                <a:ea typeface="ＭＳ Ｐゴシック" charset="-128"/>
              </a:rPr>
              <a:t>(d</a:t>
            </a:r>
            <a:r>
              <a:rPr lang="it-IT" altLang="it-IT" baseline="-25000">
                <a:ea typeface="ＭＳ Ｐゴシック" charset="-128"/>
              </a:rPr>
              <a:t>1</a:t>
            </a:r>
            <a:r>
              <a:rPr lang="it-IT" altLang="it-IT">
                <a:ea typeface="ＭＳ Ｐゴシック" charset="-128"/>
              </a:rPr>
              <a:t>-d</a:t>
            </a:r>
            <a:r>
              <a:rPr lang="it-IT" altLang="it-IT" baseline="-25000">
                <a:ea typeface="ＭＳ Ｐゴシック" charset="-128"/>
              </a:rPr>
              <a:t>2</a:t>
            </a:r>
            <a:r>
              <a:rPr lang="it-IT" altLang="it-IT">
                <a:ea typeface="ＭＳ Ｐゴシック" charset="-128"/>
              </a:rPr>
              <a:t>)/d</a:t>
            </a:r>
            <a:r>
              <a:rPr lang="it-IT" altLang="it-IT" baseline="-25000">
                <a:ea typeface="ＭＳ Ｐゴシック" charset="-128"/>
              </a:rPr>
              <a:t>1</a:t>
            </a:r>
            <a:r>
              <a:rPr lang="it-IT" altLang="it-IT">
                <a:ea typeface="ＭＳ Ｐゴシック" charset="-128"/>
              </a:rPr>
              <a:t> = (m</a:t>
            </a:r>
            <a:r>
              <a:rPr lang="it-IT" altLang="it-IT" baseline="-25000">
                <a:ea typeface="ＭＳ Ｐゴシック" charset="-128"/>
              </a:rPr>
              <a:t>1</a:t>
            </a:r>
            <a:r>
              <a:rPr lang="it-IT" altLang="it-IT">
                <a:ea typeface="ＭＳ Ｐゴシック" charset="-128"/>
              </a:rPr>
              <a:t>-m</a:t>
            </a:r>
            <a:r>
              <a:rPr lang="it-IT" altLang="it-IT" baseline="-25000">
                <a:ea typeface="ＭＳ Ｐゴシック" charset="-128"/>
              </a:rPr>
              <a:t>2</a:t>
            </a:r>
            <a:r>
              <a:rPr lang="it-IT" altLang="it-IT">
                <a:ea typeface="ＭＳ Ｐゴシック" charset="-128"/>
              </a:rPr>
              <a:t>)/m</a:t>
            </a:r>
            <a:r>
              <a:rPr lang="it-IT" altLang="it-IT" baseline="-25000">
                <a:ea typeface="ＭＳ Ｐゴシック" charset="-128"/>
              </a:rPr>
              <a:t>1</a:t>
            </a:r>
          </a:p>
          <a:p>
            <a:pPr eaLnBrk="1" hangingPunct="1"/>
            <a:endParaRPr lang="it-IT" altLang="it-IT">
              <a:ea typeface="ＭＳ Ｐゴシック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3211A758-6C57-FA40-8B44-863A18892443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71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3132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alignment and truncation (i)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77197"/>
              </p:ext>
            </p:extLst>
          </p:nvPr>
        </p:nvGraphicFramePr>
        <p:xfrm>
          <a:off x="1866900" y="3514725"/>
          <a:ext cx="8458200" cy="2497501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normalized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aligned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(without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0.72*10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0.042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7.305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gridSpan="4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error = </a:t>
                      </a: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0.1113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71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3609265-45E4-DA4A-8E3E-55275A8CD6FB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72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sp>
        <p:nvSpPr>
          <p:cNvPr id="28711" name="TextBox 6"/>
          <p:cNvSpPr txBox="1">
            <a:spLocks noChangeArrowheads="1"/>
          </p:cNvSpPr>
          <p:nvPr/>
        </p:nvSpPr>
        <p:spPr bwMode="auto">
          <a:xfrm>
            <a:off x="1028700" y="2017931"/>
            <a:ext cx="977222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it-IT"/>
              <a:t>example of sum on base 10 and </a:t>
            </a:r>
            <a:r>
              <a:rPr lang="it-IT" altLang="it-IT">
                <a:solidFill>
                  <a:srgbClr val="FF0000"/>
                </a:solidFill>
              </a:rPr>
              <a:t>two</a:t>
            </a:r>
            <a:r>
              <a:rPr lang="it-IT" altLang="it-IT"/>
              <a:t> significant digits</a:t>
            </a:r>
          </a:p>
          <a:p>
            <a:pPr eaLnBrk="1" hangingPunct="1"/>
            <a:r>
              <a:rPr lang="it-IT" altLang="it-IT"/>
              <a:t>the sum is executed with a </a:t>
            </a:r>
            <a:r>
              <a:rPr lang="it-IT" altLang="it-IT" i="1"/>
              <a:t>left to right association</a:t>
            </a:r>
          </a:p>
        </p:txBody>
      </p:sp>
      <p:sp>
        <p:nvSpPr>
          <p:cNvPr id="3" name="Freccia circolare a destra 2"/>
          <p:cNvSpPr/>
          <p:nvPr/>
        </p:nvSpPr>
        <p:spPr>
          <a:xfrm>
            <a:off x="1587500" y="4318000"/>
            <a:ext cx="139700" cy="393700"/>
          </a:xfrm>
          <a:prstGeom prst="curved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Freccia circolare a destra 4"/>
          <p:cNvSpPr/>
          <p:nvPr/>
        </p:nvSpPr>
        <p:spPr>
          <a:xfrm>
            <a:off x="1346200" y="4521200"/>
            <a:ext cx="241300" cy="6223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Freccia circolare a destra 6"/>
          <p:cNvSpPr/>
          <p:nvPr/>
        </p:nvSpPr>
        <p:spPr>
          <a:xfrm>
            <a:off x="614680" y="4738624"/>
            <a:ext cx="731520" cy="88747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78216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/>
              <a:t>alignment and truncation </a:t>
            </a:r>
            <a:r>
              <a:rPr lang="it-IT">
                <a:ea typeface="+mj-ea"/>
                <a:cs typeface="+mj-cs"/>
              </a:rPr>
              <a:t>(ii)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06631"/>
              </p:ext>
            </p:extLst>
          </p:nvPr>
        </p:nvGraphicFramePr>
        <p:xfrm>
          <a:off x="1866900" y="3514725"/>
          <a:ext cx="8671156" cy="2497501"/>
        </p:xfrm>
        <a:graphic>
          <a:graphicData uri="http://schemas.openxmlformats.org/drawingml/2006/table">
            <a:tbl>
              <a:tblPr/>
              <a:tblGrid>
                <a:gridCol w="216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7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normalized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aligned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(without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0.72*10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0.042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7.305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7.305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7.311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gridSpan="4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error = </a:t>
                      </a: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0.0003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73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6004D7AB-D565-F54E-BEA2-AB7466E4F8EB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73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sp>
        <p:nvSpPr>
          <p:cNvPr id="29735" name="TextBox 6"/>
          <p:cNvSpPr txBox="1">
            <a:spLocks noChangeArrowheads="1"/>
          </p:cNvSpPr>
          <p:nvPr/>
        </p:nvSpPr>
        <p:spPr bwMode="auto">
          <a:xfrm>
            <a:off x="698501" y="2034812"/>
            <a:ext cx="98395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it-IT"/>
              <a:t>example of sum on base 10 and </a:t>
            </a:r>
            <a:r>
              <a:rPr lang="it-IT" altLang="it-IT">
                <a:solidFill>
                  <a:srgbClr val="FF0000"/>
                </a:solidFill>
              </a:rPr>
              <a:t>four</a:t>
            </a:r>
            <a:r>
              <a:rPr lang="it-IT" altLang="it-IT"/>
              <a:t> significant digits</a:t>
            </a:r>
          </a:p>
        </p:txBody>
      </p:sp>
      <p:sp>
        <p:nvSpPr>
          <p:cNvPr id="7" name="Freccia circolare a destra 6"/>
          <p:cNvSpPr/>
          <p:nvPr/>
        </p:nvSpPr>
        <p:spPr>
          <a:xfrm>
            <a:off x="1587500" y="4318000"/>
            <a:ext cx="139700" cy="393700"/>
          </a:xfrm>
          <a:prstGeom prst="curv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Freccia circolare a destra 7"/>
          <p:cNvSpPr/>
          <p:nvPr/>
        </p:nvSpPr>
        <p:spPr>
          <a:xfrm>
            <a:off x="1346200" y="4521200"/>
            <a:ext cx="241300" cy="6223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Freccia circolare a destra 8"/>
          <p:cNvSpPr/>
          <p:nvPr/>
        </p:nvSpPr>
        <p:spPr>
          <a:xfrm>
            <a:off x="614680" y="4738624"/>
            <a:ext cx="731520" cy="88747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01476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it-IT">
                <a:ea typeface="+mj-ea"/>
                <a:cs typeface="+mj-cs"/>
              </a:rPr>
              <a:t>alignment and truncation (iii)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788376"/>
              </p:ext>
            </p:extLst>
          </p:nvPr>
        </p:nvGraphicFramePr>
        <p:xfrm>
          <a:off x="1651000" y="3514725"/>
          <a:ext cx="8674100" cy="2497501"/>
        </p:xfrm>
        <a:graphic>
          <a:graphicData uri="http://schemas.openxmlformats.org/drawingml/2006/table">
            <a:tbl>
              <a:tblPr/>
              <a:tblGrid>
                <a:gridCol w="216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normalized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aligned addends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(without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intermediate results</a:t>
                      </a:r>
                      <a:b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</a:b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(with truncation)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alt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0.42*10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0.042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0.0483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0.048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0.63*10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-1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0.063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0.1113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0.11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0.72*10</a:t>
                      </a:r>
                      <a:r>
                        <a:rPr kumimoji="0" lang="it-IT" altLang="it-IT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7.3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gridSpan="4"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alt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error = </a:t>
                      </a: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0.0113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075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226D2629-1903-3C48-8AB5-C0F7934A56AB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74</a:t>
            </a:fld>
            <a:endParaRPr lang="en-US" altLang="it-IT" sz="1200">
              <a:solidFill>
                <a:srgbClr val="898989"/>
              </a:solidFill>
            </a:endParaRPr>
          </a:p>
        </p:txBody>
      </p:sp>
      <p:sp>
        <p:nvSpPr>
          <p:cNvPr id="30759" name="TextBox 6"/>
          <p:cNvSpPr txBox="1">
            <a:spLocks noChangeArrowheads="1"/>
          </p:cNvSpPr>
          <p:nvPr/>
        </p:nvSpPr>
        <p:spPr bwMode="auto">
          <a:xfrm>
            <a:off x="1209886" y="2146301"/>
            <a:ext cx="977222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it-IT" altLang="it-IT"/>
              <a:t>example of sum on base 10 and </a:t>
            </a:r>
            <a:r>
              <a:rPr lang="it-IT" altLang="it-IT">
                <a:solidFill>
                  <a:srgbClr val="FF0000"/>
                </a:solidFill>
              </a:rPr>
              <a:t>two</a:t>
            </a:r>
            <a:r>
              <a:rPr lang="it-IT" altLang="it-IT"/>
              <a:t> significant digits</a:t>
            </a:r>
            <a:br>
              <a:rPr lang="it-IT" altLang="it-IT"/>
            </a:br>
            <a:r>
              <a:rPr lang="it-IT" altLang="it-IT"/>
              <a:t>with addends of increasing size</a:t>
            </a:r>
          </a:p>
        </p:txBody>
      </p:sp>
      <p:sp>
        <p:nvSpPr>
          <p:cNvPr id="7" name="Freccia circolare a destra 6"/>
          <p:cNvSpPr/>
          <p:nvPr/>
        </p:nvSpPr>
        <p:spPr>
          <a:xfrm>
            <a:off x="1498600" y="4318000"/>
            <a:ext cx="139700" cy="393700"/>
          </a:xfrm>
          <a:prstGeom prst="curv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Freccia circolare a destra 7"/>
          <p:cNvSpPr/>
          <p:nvPr/>
        </p:nvSpPr>
        <p:spPr>
          <a:xfrm>
            <a:off x="1257300" y="4521200"/>
            <a:ext cx="241300" cy="6223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Freccia circolare a destra 8"/>
          <p:cNvSpPr/>
          <p:nvPr/>
        </p:nvSpPr>
        <p:spPr>
          <a:xfrm>
            <a:off x="525780" y="4738624"/>
            <a:ext cx="731520" cy="88747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23680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charset="-128"/>
              </a:rPr>
              <a:t>The arithmetics of doubles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the associative property can be violated</a:t>
            </a:r>
          </a:p>
          <a:p>
            <a:pPr lvl="1" eaLnBrk="1" hangingPunct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(x + y) + z   </a:t>
            </a:r>
            <a:r>
              <a:rPr lang="it-IT" altLang="it-IT" i="1">
                <a:ea typeface="ＭＳ Ｐゴシック" charset="-128"/>
              </a:rPr>
              <a:t>can be different from   </a:t>
            </a:r>
            <a:r>
              <a:rPr lang="it-IT" altLang="it-IT">
                <a:ea typeface="ＭＳ Ｐゴシック" charset="-128"/>
              </a:rPr>
              <a:t>x + (y + z)</a:t>
            </a:r>
          </a:p>
          <a:p>
            <a:pPr lvl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(x * y) * z   </a:t>
            </a:r>
            <a:r>
              <a:rPr lang="it-IT" altLang="it-IT" i="1">
                <a:ea typeface="ＭＳ Ｐゴシック" charset="-128"/>
              </a:rPr>
              <a:t>can be different from   </a:t>
            </a:r>
            <a:r>
              <a:rPr lang="it-IT" altLang="it-IT">
                <a:ea typeface="ＭＳ Ｐゴシック" charset="-128"/>
              </a:rPr>
              <a:t>x * (y * z)</a:t>
            </a:r>
          </a:p>
          <a:p>
            <a:pPr eaLnBrk="1" hangingPunct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the distributive property can be violated</a:t>
            </a:r>
          </a:p>
          <a:p>
            <a:pPr lvl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x * (y + z)   </a:t>
            </a:r>
            <a:r>
              <a:rPr lang="it-IT" altLang="it-IT" i="1">
                <a:ea typeface="ＭＳ Ｐゴシック" charset="-128"/>
              </a:rPr>
              <a:t>can be different from   </a:t>
            </a:r>
            <a:r>
              <a:rPr lang="it-IT" altLang="it-IT">
                <a:ea typeface="ＭＳ Ｐゴシック" charset="-128"/>
              </a:rPr>
              <a:t>x * y + x * z</a:t>
            </a:r>
          </a:p>
          <a:p>
            <a:pPr eaLnBrk="1" hangingPunct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changing the order of execution of some operations </a:t>
            </a:r>
            <a:r>
              <a:rPr lang="it-IT" altLang="it-IT" i="1">
                <a:ea typeface="ＭＳ Ｐゴシック" charset="-128"/>
              </a:rPr>
              <a:t>can change </a:t>
            </a:r>
            <a:r>
              <a:rPr lang="it-IT" altLang="it-IT">
                <a:ea typeface="ＭＳ Ｐゴシック" charset="-128"/>
              </a:rPr>
              <a:t>the result when using the arithmetics of doubles, while with the arithmetics or </a:t>
            </a:r>
            <a:r>
              <a:rPr lang="it-IT" altLang="it-IT" i="1">
                <a:ea typeface="ＭＳ Ｐゴシック" charset="-128"/>
              </a:rPr>
              <a:t>real numbers</a:t>
            </a:r>
            <a:r>
              <a:rPr lang="it-IT" altLang="it-IT">
                <a:ea typeface="ＭＳ Ｐゴシック" charset="-128"/>
              </a:rPr>
              <a:t> it would not change</a:t>
            </a:r>
          </a:p>
          <a:p>
            <a:pPr eaLnBrk="1" hangingPunct="1">
              <a:lnSpc>
                <a:spcPct val="110000"/>
              </a:lnSpc>
            </a:pPr>
            <a:r>
              <a:rPr lang="it-IT" altLang="it-IT">
                <a:ea typeface="ＭＳ Ｐゴシック" charset="-128"/>
              </a:rPr>
              <a:t>the commutative property has the same validity for </a:t>
            </a:r>
            <a:r>
              <a:rPr lang="it-IT" altLang="it-IT" i="1">
                <a:ea typeface="ＭＳ Ｐゴシック" charset="-128"/>
              </a:rPr>
              <a:t>double/float </a:t>
            </a:r>
            <a:r>
              <a:rPr lang="it-IT" altLang="it-IT">
                <a:ea typeface="ＭＳ Ｐゴシック" charset="-128"/>
              </a:rPr>
              <a:t>and </a:t>
            </a:r>
            <a:r>
              <a:rPr lang="it-IT" altLang="it-IT" i="1">
                <a:ea typeface="ＭＳ Ｐゴシック" charset="-128"/>
              </a:rPr>
              <a:t>real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Sartori - Rappresentazione dell'Informazione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7B4DD39-76F1-4C44-81F8-87ABB3805210}" type="slidenum">
              <a:rPr lang="en-US" altLang="it-IT" sz="1200">
                <a:solidFill>
                  <a:srgbClr val="898989"/>
                </a:solidFill>
              </a:rPr>
              <a:pPr eaLnBrk="1" hangingPunct="1"/>
              <a:t>75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679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rmatics_wide" id="{E2B99E26-2289-5D46-AC4C-DE009D56DCBC}" vid="{EBADDAE8-0682-3046-BBFD-495CD84518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</TotalTime>
  <Words>4654</Words>
  <Application>Microsoft Macintosh PowerPoint</Application>
  <PresentationFormat>Widescreen</PresentationFormat>
  <Paragraphs>775</Paragraphs>
  <Slides>75</Slides>
  <Notes>53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75</vt:i4>
      </vt:variant>
    </vt:vector>
  </HeadingPairs>
  <TitlesOfParts>
    <vt:vector size="82" baseType="lpstr">
      <vt:lpstr>Arial</vt:lpstr>
      <vt:lpstr>Calibri</vt:lpstr>
      <vt:lpstr>Comic Sans MS</vt:lpstr>
      <vt:lpstr>Courier New</vt:lpstr>
      <vt:lpstr>Times New Roman</vt:lpstr>
      <vt:lpstr>Verdana</vt:lpstr>
      <vt:lpstr>Tema di Office</vt:lpstr>
      <vt:lpstr>Claudio Sartori  Department of Computer Science and Engineering claudio.sartori@unibo.it https://www.unibo.it/sitoweb/claudio.sartori/ </vt:lpstr>
      <vt:lpstr>Learning Objectives</vt:lpstr>
      <vt:lpstr>Digitizing Discrete Information</vt:lpstr>
      <vt:lpstr>Limitation of Digits</vt:lpstr>
      <vt:lpstr>Alternative Representations</vt:lpstr>
      <vt:lpstr>Symbols, Briefly</vt:lpstr>
      <vt:lpstr>Ordering Symbols</vt:lpstr>
      <vt:lpstr>Fundamental Information Representation </vt:lpstr>
      <vt:lpstr>The Binary Representation</vt:lpstr>
      <vt:lpstr>A Binary System</vt:lpstr>
      <vt:lpstr>Bits Form Symbols</vt:lpstr>
      <vt:lpstr>Bits in Computer Memory</vt:lpstr>
      <vt:lpstr>Alternative binary Encodings</vt:lpstr>
      <vt:lpstr>Combining Bit Patterns</vt:lpstr>
      <vt:lpstr>Binary Explained</vt:lpstr>
      <vt:lpstr>Hex Explained</vt:lpstr>
      <vt:lpstr>Changing Hex to Binary</vt:lpstr>
      <vt:lpstr>Hexadecimal Digits</vt:lpstr>
      <vt:lpstr>Digitizing Numbers in Binary</vt:lpstr>
      <vt:lpstr>Place Value in a Decimal Number</vt:lpstr>
      <vt:lpstr>Place Value in a Binary Number</vt:lpstr>
      <vt:lpstr>Place Value in a Binary Number</vt:lpstr>
      <vt:lpstr>Presentazione standard di PowerPoint</vt:lpstr>
      <vt:lpstr>Digitizing Text</vt:lpstr>
      <vt:lpstr>Digitizing Text</vt:lpstr>
      <vt:lpstr>Assigning Symbols</vt:lpstr>
      <vt:lpstr>Assigning Symbols</vt:lpstr>
      <vt:lpstr>Assigning Symbols</vt:lpstr>
      <vt:lpstr>Extended ASCII: An 8-Bit Code</vt:lpstr>
      <vt:lpstr>Extended ASCII: An 8-Bit Code</vt:lpstr>
      <vt:lpstr>Unicode</vt:lpstr>
      <vt:lpstr>Presentazione standard di PowerPoint</vt:lpstr>
      <vt:lpstr>Advantages of Long Encodings</vt:lpstr>
      <vt:lpstr>NATO Broadcast Alphabet</vt:lpstr>
      <vt:lpstr>NATO Broadcast Alphabet</vt:lpstr>
      <vt:lpstr>Bar Codes</vt:lpstr>
      <vt:lpstr>Bar Codes</vt:lpstr>
      <vt:lpstr>Bar Codes</vt:lpstr>
      <vt:lpstr>Parity</vt:lpstr>
      <vt:lpstr>Parity</vt:lpstr>
      <vt:lpstr>Why “Byte”?</vt:lpstr>
      <vt:lpstr>Why “Byte”?</vt:lpstr>
      <vt:lpstr>Metadata and the  Oxford English Dictionary (OED)</vt:lpstr>
      <vt:lpstr>Metadata and the OED</vt:lpstr>
      <vt:lpstr>Properties of Data</vt:lpstr>
      <vt:lpstr>Properties of Data</vt:lpstr>
      <vt:lpstr>Using Tags for Metadata </vt:lpstr>
      <vt:lpstr>Using Tags for Metadata</vt:lpstr>
      <vt:lpstr>Structure Tags</vt:lpstr>
      <vt:lpstr>Structure Tags</vt:lpstr>
      <vt:lpstr>Summary</vt:lpstr>
      <vt:lpstr>Summary</vt:lpstr>
      <vt:lpstr>Summary</vt:lpstr>
      <vt:lpstr>Representing numbers</vt:lpstr>
      <vt:lpstr>decimal vs binary numbers</vt:lpstr>
      <vt:lpstr>Types of numbers</vt:lpstr>
      <vt:lpstr>Types of numbers</vt:lpstr>
      <vt:lpstr>Numbers</vt:lpstr>
      <vt:lpstr>Two's complement for negative integers</vt:lpstr>
      <vt:lpstr>Two's complement for negative integers</vt:lpstr>
      <vt:lpstr>Two's complement: 8 bit example</vt:lpstr>
      <vt:lpstr>Overflow: 8 bit example</vt:lpstr>
      <vt:lpstr>Why is the point floating?</vt:lpstr>
      <vt:lpstr>Normalized floating point</vt:lpstr>
      <vt:lpstr>double IEEE 754 standard  https://en.wikipedia.org/wiki/Double-precision_floating-point_format</vt:lpstr>
      <vt:lpstr>Parameters for numbers representation in R  to inspect in R print(.Machine$parameter)</vt:lpstr>
      <vt:lpstr>double in R</vt:lpstr>
      <vt:lpstr>advantages of the mantissa/exponent representation</vt:lpstr>
      <vt:lpstr>Observations</vt:lpstr>
      <vt:lpstr>double: precision</vt:lpstr>
      <vt:lpstr>double: precision (ii)</vt:lpstr>
      <vt:lpstr>alignment and truncation (i)</vt:lpstr>
      <vt:lpstr>alignment and truncation (ii)</vt:lpstr>
      <vt:lpstr>alignment and truncation (iii)</vt:lpstr>
      <vt:lpstr>The arithmetics of doubles</vt:lpstr>
    </vt:vector>
  </TitlesOfParts>
  <Manager/>
  <Company>University of Bologna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representation</dc:title>
  <dc:subject/>
  <dc:creator>Claudio Sartori</dc:creator>
  <cp:keywords/>
  <dc:description/>
  <cp:lastModifiedBy>Claudio Sartori</cp:lastModifiedBy>
  <cp:revision>73</cp:revision>
  <cp:lastPrinted>2022-03-31T09:24:40Z</cp:lastPrinted>
  <dcterms:created xsi:type="dcterms:W3CDTF">2016-02-11T16:16:37Z</dcterms:created>
  <dcterms:modified xsi:type="dcterms:W3CDTF">2025-02-11T09:03:05Z</dcterms:modified>
  <cp:category/>
</cp:coreProperties>
</file>